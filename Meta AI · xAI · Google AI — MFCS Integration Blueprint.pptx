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3.png"/><Relationship Id="rId24" Type="http://schemas.openxmlformats.org/officeDocument/2006/relationships/image" Target="../media/image-7-24.svg"/><Relationship Id="rId25" Type="http://schemas.openxmlformats.org/officeDocument/2006/relationships/image" Target="../media/image-7-25.png"/><Relationship Id="rId26" Type="http://schemas.openxmlformats.org/officeDocument/2006/relationships/image" Target="../media/image-7-26.svg"/><Relationship Id="rId27" Type="http://schemas.openxmlformats.org/officeDocument/2006/relationships/image" Target="../media/image-7-27.png"/><Relationship Id="rId28" Type="http://schemas.openxmlformats.org/officeDocument/2006/relationships/image" Target="../media/image-7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sv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sv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sv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sv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sv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svg"/><Relationship Id="rId27" Type="http://schemas.openxmlformats.org/officeDocument/2006/relationships/image" Target="../media/image-14-27.png"/><Relationship Id="rId28" Type="http://schemas.openxmlformats.org/officeDocument/2006/relationships/image" Target="../media/image-14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svg"/><Relationship Id="rId6" Type="http://schemas.openxmlformats.org/officeDocument/2006/relationships/image" Target="../media/image-16-6.png"/><Relationship Id="rId7" Type="http://schemas.openxmlformats.org/officeDocument/2006/relationships/image" Target="../media/image-16-7.svg"/><Relationship Id="rId8" Type="http://schemas.openxmlformats.org/officeDocument/2006/relationships/image" Target="../media/image-16-8.png"/><Relationship Id="rId9" Type="http://schemas.openxmlformats.org/officeDocument/2006/relationships/image" Target="../media/image-16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58470" y="1286470"/>
            <a:ext cx="21580" cy="21580"/>
          </a:xfrm>
          <a:prstGeom prst="ellipse">
            <a:avLst/>
          </a:prstGeom>
          <a:solidFill>
            <a:srgbClr val="38BDF8">
              <a:alpha val="3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29970" y="3000970"/>
            <a:ext cx="21580" cy="21580"/>
          </a:xfrm>
          <a:prstGeom prst="ellipse">
            <a:avLst/>
          </a:prstGeom>
          <a:solidFill>
            <a:srgbClr val="38BDF8">
              <a:alpha val="3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58110" y="3572470"/>
            <a:ext cx="21580" cy="21580"/>
          </a:xfrm>
          <a:prstGeom prst="ellipse">
            <a:avLst/>
          </a:prstGeom>
          <a:solidFill>
            <a:srgbClr val="38BDF8">
              <a:alpha val="3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0" y="2143720"/>
            <a:ext cx="21580" cy="21580"/>
          </a:xfrm>
          <a:prstGeom prst="ellipse">
            <a:avLst/>
          </a:prstGeom>
          <a:solidFill>
            <a:srgbClr val="38BDF8">
              <a:alpha val="3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01220" y="1785491"/>
            <a:ext cx="21580" cy="21580"/>
          </a:xfrm>
          <a:prstGeom prst="ellipse">
            <a:avLst/>
          </a:prstGeom>
          <a:solidFill>
            <a:srgbClr val="38BDF8">
              <a:alpha val="3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74655" y="1928515"/>
            <a:ext cx="1286470" cy="1286470"/>
          </a:xfrm>
          <a:prstGeom prst="ellipse">
            <a:avLst/>
          </a:prstGeom>
          <a:gradFill rotWithShape="1">
            <a:gsLst>
              <a:gs pos="0">
                <a:srgbClr val="38BDF8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9140" y="1143000"/>
            <a:ext cx="2857500" cy="285750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450" y="171450"/>
            <a:ext cx="171450" cy="17145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01100" y="171450"/>
            <a:ext cx="171450" cy="17145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1450" y="4572000"/>
            <a:ext cx="171450" cy="171450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01100" y="4572000"/>
            <a:ext cx="171450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71500" y="1354931"/>
            <a:ext cx="228600" cy="7590"/>
          </a:xfrm>
          <a:prstGeom prst="rect">
            <a:avLst/>
          </a:prstGeom>
          <a:solidFill>
            <a:srgbClr val="38BDF8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571500" y="1591121"/>
            <a:ext cx="3352455" cy="97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65"/>
              </a:lnSpc>
              <a:buNone/>
            </a:pPr>
            <a:r>
              <a:rPr lang="en-US" sz="3490" spc="340" kern="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MFCS </a:t>
            </a:r>
            <a:pPr algn="l" indent="0" marL="0">
              <a:lnSpc>
                <a:spcPts val="3665"/>
              </a:lnSpc>
              <a:buNone/>
            </a:pPr>
            <a:r>
              <a:rPr lang="en-US" sz="3490" spc="340" kern="0" dirty="0">
                <a:solidFill>
                  <a:srgbClr val="8694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pPr algn="l" indent="0" marL="0">
              <a:lnSpc>
                <a:spcPts val="3665"/>
              </a:lnSpc>
              <a:buNone/>
            </a:pPr>
            <a:r>
              <a:rPr lang="en-US" sz="3490" spc="340" kern="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pPr algn="l" indent="0" marL="0">
              <a:lnSpc>
                <a:spcPts val="3665"/>
              </a:lnSpc>
              <a:buNone/>
            </a:pPr>
            <a:r>
              <a:rPr lang="en-US" sz="3490" spc="340" kern="0" dirty="0">
                <a:gradFill rotWithShape="1">
                  <a:gsLst>
                    <a:gs pos="0">
                      <a:srgbClr val="38BDF8"/>
                    </a:gs>
                    <a:gs pos="100000">
                      <a:srgbClr val="A78BFA"/>
                    </a:gs>
                  </a:gsLst>
                  <a:lin ang="2700000" scaled="1"/>
                </a:gra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Frontier AI</a:t>
            </a:r>
            <a:endParaRPr lang="en-US" sz="3490" dirty="0"/>
          </a:p>
        </p:txBody>
      </p:sp>
      <p:sp>
        <p:nvSpPr>
          <p:cNvPr id="17" name="Text 10"/>
          <p:cNvSpPr/>
          <p:nvPr/>
        </p:nvSpPr>
        <p:spPr>
          <a:xfrm>
            <a:off x="571500" y="2665065"/>
            <a:ext cx="3352455" cy="461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5"/>
              </a:lnSpc>
              <a:spcBef>
                <a:spcPts val="1130"/>
              </a:spcBef>
              <a:buNone/>
            </a:pPr>
            <a:r>
              <a:rPr lang="en-US" sz="1240" b="1" spc="11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pPr algn="l" indent="0" marL="0">
              <a:lnSpc>
                <a:spcPts val="1605"/>
              </a:lnSpc>
              <a:spcBef>
                <a:spcPts val="1130"/>
              </a:spcBef>
              <a:buNone/>
            </a:pPr>
            <a:r>
              <a:rPr lang="en-US" sz="1070" spc="23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Paths · 3 Platforms · One Breathing Architecture</a:t>
            </a:r>
            <a:endParaRPr lang="en-US" sz="1070" dirty="0"/>
          </a:p>
        </p:txBody>
      </p:sp>
      <p:sp>
        <p:nvSpPr>
          <p:cNvPr id="18" name="Text 11"/>
          <p:cNvSpPr/>
          <p:nvPr/>
        </p:nvSpPr>
        <p:spPr>
          <a:xfrm>
            <a:off x="571500" y="3305621"/>
            <a:ext cx="342900" cy="13841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571500" y="3447604"/>
            <a:ext cx="2914650" cy="357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3"/>
              </a:lnSpc>
              <a:spcBef>
                <a:spcPts val="450"/>
              </a:spcBef>
              <a:buNone/>
            </a:pPr>
            <a:r>
              <a:rPr lang="en-US" sz="790" spc="60" kern="0" dirty="0">
                <a:solidFill>
                  <a:srgbClr val="8694B2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Integration Blueprint &amp; Collaboration Proposal</a:t>
            </a:r>
            <a:endParaRPr lang="en-US" sz="790" dirty="0"/>
          </a:p>
        </p:txBody>
      </p:sp>
      <p:sp>
        <p:nvSpPr>
          <p:cNvPr id="20" name="Text 13"/>
          <p:cNvSpPr/>
          <p:nvPr/>
        </p:nvSpPr>
        <p:spPr>
          <a:xfrm>
            <a:off x="0" y="4652070"/>
            <a:ext cx="9144000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571500" y="4833045"/>
            <a:ext cx="330958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Saad Younus — Independent Systems Architect</a:t>
            </a:r>
            <a:endParaRPr lang="en-US" sz="730" dirty="0"/>
          </a:p>
        </p:txBody>
      </p:sp>
      <p:sp>
        <p:nvSpPr>
          <p:cNvPr id="22" name="Text 15"/>
          <p:cNvSpPr/>
          <p:nvPr/>
        </p:nvSpPr>
        <p:spPr>
          <a:xfrm>
            <a:off x="8053983" y="4833045"/>
            <a:ext cx="57036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7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572470" cy="27152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0"/>
            <a:ext cx="4715470" cy="271522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530" y="0"/>
            <a:ext cx="3572470" cy="27152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8013" y="342900"/>
            <a:ext cx="8927973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10"/>
              </a:lnSpc>
              <a:buNone/>
            </a:pPr>
            <a:r>
              <a:rPr lang="en-US" sz="2140" spc="-30" kern="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Platforms, Three Disciplines</a:t>
            </a:r>
            <a:endParaRPr lang="en-US" sz="2140" dirty="0"/>
          </a:p>
        </p:txBody>
      </p:sp>
      <p:sp>
        <p:nvSpPr>
          <p:cNvPr id="6" name="Text 1"/>
          <p:cNvSpPr/>
          <p:nvPr/>
        </p:nvSpPr>
        <p:spPr>
          <a:xfrm>
            <a:off x="-17145" y="793700"/>
            <a:ext cx="917829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spcBef>
                <a:spcPts val="340"/>
              </a:spcBef>
              <a:buNone/>
            </a:pPr>
            <a:r>
              <a:rPr lang="en-US" sz="90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AI capabilities unified across a 96-path verification architecture</a:t>
            </a:r>
            <a:endParaRPr lang="en-US" sz="900" dirty="0"/>
          </a:p>
        </p:txBody>
      </p:sp>
      <p:sp>
        <p:nvSpPr>
          <p:cNvPr id="7" name="Text 2"/>
          <p:cNvSpPr/>
          <p:nvPr/>
        </p:nvSpPr>
        <p:spPr>
          <a:xfrm>
            <a:off x="400050" y="1165771"/>
            <a:ext cx="2685604" cy="3092648"/>
          </a:xfrm>
          <a:prstGeom prst="roundRect">
            <a:avLst>
              <a:gd name="adj" fmla="val 4256"/>
            </a:avLst>
          </a:prstGeom>
          <a:solidFill>
            <a:srgbClr val="141D2F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610195" y="1406277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A78BFA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913" y="1530995"/>
            <a:ext cx="150465" cy="15046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10555" y="1403896"/>
            <a:ext cx="770096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Meta AI</a:t>
            </a:r>
            <a:endParaRPr lang="en-US" sz="1130" dirty="0"/>
          </a:p>
        </p:txBody>
      </p:sp>
      <p:sp>
        <p:nvSpPr>
          <p:cNvPr id="11" name="Text 5"/>
          <p:cNvSpPr/>
          <p:nvPr/>
        </p:nvSpPr>
        <p:spPr>
          <a:xfrm>
            <a:off x="1110555" y="1632496"/>
            <a:ext cx="700088" cy="193997"/>
          </a:xfrm>
          <a:prstGeom prst="roundRect">
            <a:avLst>
              <a:gd name="adj" fmla="val 22258"/>
            </a:avLst>
          </a:prstGeom>
          <a:solidFill>
            <a:srgbClr val="A78BFA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620" dirty="0"/>
          </a:p>
        </p:txBody>
      </p:sp>
      <p:sp>
        <p:nvSpPr>
          <p:cNvPr id="12" name="Text 6"/>
          <p:cNvSpPr/>
          <p:nvPr/>
        </p:nvSpPr>
        <p:spPr>
          <a:xfrm>
            <a:off x="724495" y="1923157"/>
            <a:ext cx="2366114" cy="149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artifact inspection</a:t>
            </a:r>
            <a:endParaRPr lang="en-US" sz="760" dirty="0"/>
          </a:p>
        </p:txBody>
      </p:sp>
      <p:sp>
        <p:nvSpPr>
          <p:cNvPr id="13" name="Text 7"/>
          <p:cNvSpPr/>
          <p:nvPr/>
        </p:nvSpPr>
        <p:spPr>
          <a:xfrm>
            <a:off x="724495" y="2101900"/>
            <a:ext cx="2366114" cy="149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validation</a:t>
            </a:r>
            <a:endParaRPr lang="en-US" sz="760" dirty="0"/>
          </a:p>
        </p:txBody>
      </p:sp>
      <p:sp>
        <p:nvSpPr>
          <p:cNvPr id="14" name="Text 8"/>
          <p:cNvSpPr/>
          <p:nvPr/>
        </p:nvSpPr>
        <p:spPr>
          <a:xfrm>
            <a:off x="724495" y="2280642"/>
            <a:ext cx="2366114" cy="149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scanning</a:t>
            </a:r>
            <a:endParaRPr lang="en-US" sz="760" dirty="0"/>
          </a:p>
        </p:txBody>
      </p:sp>
      <p:sp>
        <p:nvSpPr>
          <p:cNvPr id="15" name="Text 9"/>
          <p:cNvSpPr/>
          <p:nvPr/>
        </p:nvSpPr>
        <p:spPr>
          <a:xfrm>
            <a:off x="610195" y="2530525"/>
            <a:ext cx="2265313" cy="365450"/>
          </a:xfrm>
          <a:prstGeom prst="rect">
            <a:avLst/>
          </a:prstGeom>
          <a:noFill/>
          <a:ln/>
        </p:spPr>
        <p:txBody>
          <a:bodyPr wrap="square" lIns="0" tIns="8636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MoE</a:t>
            </a:r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Early fusion, 10M context, 128-expert Maverick, open-weight</a:t>
            </a:r>
            <a:endParaRPr lang="en-US" sz="680" dirty="0"/>
          </a:p>
        </p:txBody>
      </p:sp>
      <p:sp>
        <p:nvSpPr>
          <p:cNvPr id="16" name="Text 10"/>
          <p:cNvSpPr/>
          <p:nvPr/>
        </p:nvSpPr>
        <p:spPr>
          <a:xfrm>
            <a:off x="610195" y="2530525"/>
            <a:ext cx="2265313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610195" y="2999631"/>
            <a:ext cx="30670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28</a:t>
            </a:r>
            <a:endParaRPr lang="en-US" sz="2030" dirty="0"/>
          </a:p>
        </p:txBody>
      </p:sp>
      <p:sp>
        <p:nvSpPr>
          <p:cNvPr id="18" name="Text 12"/>
          <p:cNvSpPr/>
          <p:nvPr/>
        </p:nvSpPr>
        <p:spPr>
          <a:xfrm>
            <a:off x="939998" y="3113931"/>
            <a:ext cx="24916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</a:t>
            </a:r>
            <a:endParaRPr lang="en-US" sz="730" dirty="0"/>
          </a:p>
        </p:txBody>
      </p:sp>
      <p:sp>
        <p:nvSpPr>
          <p:cNvPr id="19" name="Text 13"/>
          <p:cNvSpPr/>
          <p:nvPr/>
        </p:nvSpPr>
        <p:spPr>
          <a:xfrm>
            <a:off x="3229124" y="1165771"/>
            <a:ext cx="2685604" cy="3092648"/>
          </a:xfrm>
          <a:prstGeom prst="roundRect">
            <a:avLst>
              <a:gd name="adj" fmla="val 4256"/>
            </a:avLst>
          </a:prstGeom>
          <a:solidFill>
            <a:srgbClr val="141D2F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3439269" y="1406277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F472B6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3987" y="1530995"/>
            <a:ext cx="150465" cy="15046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39629" y="1403896"/>
            <a:ext cx="971297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xAI</a:t>
            </a:r>
            <a:endParaRPr lang="en-US" sz="1130" dirty="0"/>
          </a:p>
        </p:txBody>
      </p:sp>
      <p:sp>
        <p:nvSpPr>
          <p:cNvPr id="23" name="Text 16"/>
          <p:cNvSpPr/>
          <p:nvPr/>
        </p:nvSpPr>
        <p:spPr>
          <a:xfrm>
            <a:off x="3939629" y="1632496"/>
            <a:ext cx="882997" cy="193997"/>
          </a:xfrm>
          <a:prstGeom prst="roundRect">
            <a:avLst>
              <a:gd name="adj" fmla="val 22258"/>
            </a:avLst>
          </a:prstGeom>
          <a:solidFill>
            <a:srgbClr val="F472B6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620" dirty="0"/>
          </a:p>
        </p:txBody>
      </p:sp>
      <p:sp>
        <p:nvSpPr>
          <p:cNvPr id="24" name="Text 17"/>
          <p:cNvSpPr/>
          <p:nvPr/>
        </p:nvSpPr>
        <p:spPr>
          <a:xfrm>
            <a:off x="3553569" y="1923157"/>
            <a:ext cx="2366114" cy="149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CI orchestration</a:t>
            </a:r>
            <a:endParaRPr lang="en-US" sz="760" dirty="0"/>
          </a:p>
        </p:txBody>
      </p:sp>
      <p:sp>
        <p:nvSpPr>
          <p:cNvPr id="25" name="Text 18"/>
          <p:cNvSpPr/>
          <p:nvPr/>
        </p:nvSpPr>
        <p:spPr>
          <a:xfrm>
            <a:off x="3553569" y="2101900"/>
            <a:ext cx="2366114" cy="149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Debate-driven consensus</a:t>
            </a:r>
            <a:endParaRPr lang="en-US" sz="760" dirty="0"/>
          </a:p>
        </p:txBody>
      </p:sp>
      <p:sp>
        <p:nvSpPr>
          <p:cNvPr id="26" name="Text 19"/>
          <p:cNvSpPr/>
          <p:nvPr/>
        </p:nvSpPr>
        <p:spPr>
          <a:xfrm>
            <a:off x="3439269" y="2351782"/>
            <a:ext cx="2265313" cy="365450"/>
          </a:xfrm>
          <a:prstGeom prst="rect">
            <a:avLst/>
          </a:prstGeom>
          <a:noFill/>
          <a:ln/>
        </p:spPr>
        <p:txBody>
          <a:bodyPr wrap="square" lIns="0" tIns="8636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4.20</a:t>
            </a:r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4-agent debate, ~3T MoE, persona adapters, 65% hallucination reduction</a:t>
            </a:r>
            <a:endParaRPr lang="en-US" sz="680" dirty="0"/>
          </a:p>
        </p:txBody>
      </p:sp>
      <p:sp>
        <p:nvSpPr>
          <p:cNvPr id="27" name="Text 20"/>
          <p:cNvSpPr/>
          <p:nvPr/>
        </p:nvSpPr>
        <p:spPr>
          <a:xfrm>
            <a:off x="3439269" y="2351782"/>
            <a:ext cx="2265313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3439269" y="2820888"/>
            <a:ext cx="30670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b="1" dirty="0">
                <a:solidFill>
                  <a:srgbClr val="F472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36</a:t>
            </a:r>
            <a:endParaRPr lang="en-US" sz="2030" dirty="0"/>
          </a:p>
        </p:txBody>
      </p:sp>
      <p:sp>
        <p:nvSpPr>
          <p:cNvPr id="29" name="Text 22"/>
          <p:cNvSpPr/>
          <p:nvPr/>
        </p:nvSpPr>
        <p:spPr>
          <a:xfrm>
            <a:off x="3769072" y="2935188"/>
            <a:ext cx="24916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</a:t>
            </a:r>
            <a:endParaRPr lang="en-US" sz="730" dirty="0"/>
          </a:p>
        </p:txBody>
      </p:sp>
      <p:sp>
        <p:nvSpPr>
          <p:cNvPr id="30" name="Text 23"/>
          <p:cNvSpPr/>
          <p:nvPr/>
        </p:nvSpPr>
        <p:spPr>
          <a:xfrm>
            <a:off x="6058198" y="1165771"/>
            <a:ext cx="2685752" cy="3092648"/>
          </a:xfrm>
          <a:prstGeom prst="roundRect">
            <a:avLst>
              <a:gd name="adj" fmla="val 4256"/>
            </a:avLst>
          </a:prstGeom>
          <a:solidFill>
            <a:srgbClr val="141D2F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6268343" y="1406277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93061" y="1530995"/>
            <a:ext cx="150465" cy="15046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68703" y="1403896"/>
            <a:ext cx="822156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Google AI</a:t>
            </a:r>
            <a:endParaRPr lang="en-US" sz="1130" dirty="0"/>
          </a:p>
        </p:txBody>
      </p:sp>
      <p:sp>
        <p:nvSpPr>
          <p:cNvPr id="34" name="Text 26"/>
          <p:cNvSpPr/>
          <p:nvPr/>
        </p:nvSpPr>
        <p:spPr>
          <a:xfrm>
            <a:off x="6768703" y="1632496"/>
            <a:ext cx="747415" cy="193997"/>
          </a:xfrm>
          <a:prstGeom prst="roundRect">
            <a:avLst>
              <a:gd name="adj" fmla="val 2225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620" dirty="0"/>
          </a:p>
        </p:txBody>
      </p:sp>
      <p:sp>
        <p:nvSpPr>
          <p:cNvPr id="35" name="Text 27"/>
          <p:cNvSpPr/>
          <p:nvPr/>
        </p:nvSpPr>
        <p:spPr>
          <a:xfrm>
            <a:off x="6382643" y="1923157"/>
            <a:ext cx="2366278" cy="149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TLA+ proof assistance</a:t>
            </a:r>
            <a:endParaRPr lang="en-US" sz="760" dirty="0"/>
          </a:p>
        </p:txBody>
      </p:sp>
      <p:sp>
        <p:nvSpPr>
          <p:cNvPr id="36" name="Text 28"/>
          <p:cNvSpPr/>
          <p:nvPr/>
        </p:nvSpPr>
        <p:spPr>
          <a:xfrm>
            <a:off x="6382643" y="2101900"/>
            <a:ext cx="2366278" cy="149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validation</a:t>
            </a:r>
            <a:endParaRPr lang="en-US" sz="760" dirty="0"/>
          </a:p>
        </p:txBody>
      </p:sp>
      <p:sp>
        <p:nvSpPr>
          <p:cNvPr id="37" name="Text 29"/>
          <p:cNvSpPr/>
          <p:nvPr/>
        </p:nvSpPr>
        <p:spPr>
          <a:xfrm>
            <a:off x="6268343" y="2351782"/>
            <a:ext cx="2265462" cy="365450"/>
          </a:xfrm>
          <a:prstGeom prst="rect">
            <a:avLst/>
          </a:prstGeom>
          <a:noFill/>
          <a:ln/>
        </p:spPr>
        <p:txBody>
          <a:bodyPr wrap="square" lIns="0" tIns="8636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Pro</a:t>
            </a:r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77.1% ARC-AGI-2, thinking levels, custom tools endpoint</a:t>
            </a:r>
            <a:endParaRPr lang="en-US" sz="680" dirty="0"/>
          </a:p>
        </p:txBody>
      </p:sp>
      <p:sp>
        <p:nvSpPr>
          <p:cNvPr id="38" name="Text 30"/>
          <p:cNvSpPr/>
          <p:nvPr/>
        </p:nvSpPr>
        <p:spPr>
          <a:xfrm>
            <a:off x="6268343" y="2351782"/>
            <a:ext cx="2265462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6268343" y="2820888"/>
            <a:ext cx="30670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b="1" dirty="0">
                <a:solidFill>
                  <a:srgbClr val="34D3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32</a:t>
            </a:r>
            <a:endParaRPr lang="en-US" sz="2030" dirty="0"/>
          </a:p>
        </p:txBody>
      </p:sp>
      <p:sp>
        <p:nvSpPr>
          <p:cNvPr id="40" name="Text 32"/>
          <p:cNvSpPr/>
          <p:nvPr/>
        </p:nvSpPr>
        <p:spPr>
          <a:xfrm>
            <a:off x="6598146" y="2935188"/>
            <a:ext cx="24916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</a:t>
            </a:r>
            <a:endParaRPr lang="en-US" sz="730" dirty="0"/>
          </a:p>
        </p:txBody>
      </p:sp>
      <p:sp>
        <p:nvSpPr>
          <p:cNvPr id="41" name="Text 33"/>
          <p:cNvSpPr/>
          <p:nvPr/>
        </p:nvSpPr>
        <p:spPr>
          <a:xfrm>
            <a:off x="400050" y="4401889"/>
            <a:ext cx="8343900" cy="483840"/>
          </a:xfrm>
          <a:prstGeom prst="roundRect">
            <a:avLst>
              <a:gd name="adj" fmla="val 17849"/>
            </a:avLst>
          </a:prstGeom>
          <a:gradFill rotWithShape="1">
            <a:gsLst>
              <a:gs pos="0">
                <a:srgbClr val="38BDF8">
                  <a:alpha val="8000"/>
                </a:srgbClr>
              </a:gs>
              <a:gs pos="100000">
                <a:srgbClr val="38BDF8">
                  <a:alpha val="3000"/>
                </a:srgbClr>
              </a:gs>
            </a:gsLst>
            <a:lin ang="2700000" scaled="1"/>
          </a:gra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00298" y="4577516"/>
            <a:ext cx="132588" cy="13258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3734693" y="4525714"/>
            <a:ext cx="926604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96 Total Paths</a:t>
            </a:r>
            <a:endParaRPr lang="en-US" sz="1010" dirty="0"/>
          </a:p>
        </p:txBody>
      </p:sp>
      <p:sp>
        <p:nvSpPr>
          <p:cNvPr id="44" name="Text 35"/>
          <p:cNvSpPr/>
          <p:nvPr/>
        </p:nvSpPr>
        <p:spPr>
          <a:xfrm>
            <a:off x="4691360" y="4563814"/>
            <a:ext cx="7268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840" dirty="0"/>
          </a:p>
        </p:txBody>
      </p:sp>
      <p:sp>
        <p:nvSpPr>
          <p:cNvPr id="45" name="Text 36"/>
          <p:cNvSpPr/>
          <p:nvPr/>
        </p:nvSpPr>
        <p:spPr>
          <a:xfrm>
            <a:off x="4871740" y="4558010"/>
            <a:ext cx="7746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+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36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+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32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409575" y="1175296"/>
            <a:ext cx="2666552" cy="21580"/>
          </a:xfrm>
          <a:custGeom>
            <a:avLst/>
            <a:gdLst/>
            <a:ahLst/>
            <a:cxnLst/>
            <a:rect l="l" t="t" r="r" b="b"/>
            <a:pathLst>
              <a:path w="2666552" h="21580">
                <a:moveTo>
                  <a:pt x="114300" y="0"/>
                </a:moveTo>
                <a:lnTo>
                  <a:pt x="2552252" y="0"/>
                </a:lnTo>
                <a:lnTo>
                  <a:pt x="2576938" y="2698"/>
                </a:lnTo>
                <a:lnTo>
                  <a:pt x="2586954" y="5395"/>
                </a:lnTo>
                <a:lnTo>
                  <a:pt x="2594495" y="8093"/>
                </a:lnTo>
                <a:lnTo>
                  <a:pt x="2600731" y="10790"/>
                </a:lnTo>
                <a:lnTo>
                  <a:pt x="2606116" y="13488"/>
                </a:lnTo>
                <a:lnTo>
                  <a:pt x="2610886" y="16185"/>
                </a:lnTo>
                <a:lnTo>
                  <a:pt x="2615181" y="18883"/>
                </a:lnTo>
                <a:lnTo>
                  <a:pt x="2619092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A78BF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8"/>
          <p:cNvSpPr/>
          <p:nvPr/>
        </p:nvSpPr>
        <p:spPr>
          <a:xfrm>
            <a:off x="610195" y="1972687"/>
            <a:ext cx="35421" cy="35421"/>
          </a:xfrm>
          <a:prstGeom prst="ellipse">
            <a:avLst/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39"/>
          <p:cNvSpPr/>
          <p:nvPr/>
        </p:nvSpPr>
        <p:spPr>
          <a:xfrm>
            <a:off x="610195" y="2151430"/>
            <a:ext cx="35421" cy="35421"/>
          </a:xfrm>
          <a:prstGeom prst="ellipse">
            <a:avLst/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0"/>
          <p:cNvSpPr/>
          <p:nvPr/>
        </p:nvSpPr>
        <p:spPr>
          <a:xfrm>
            <a:off x="610195" y="2330172"/>
            <a:ext cx="35421" cy="35421"/>
          </a:xfrm>
          <a:prstGeom prst="ellipse">
            <a:avLst/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1"/>
          <p:cNvSpPr/>
          <p:nvPr/>
        </p:nvSpPr>
        <p:spPr>
          <a:xfrm>
            <a:off x="3238649" y="1175296"/>
            <a:ext cx="2666552" cy="21580"/>
          </a:xfrm>
          <a:custGeom>
            <a:avLst/>
            <a:gdLst/>
            <a:ahLst/>
            <a:cxnLst/>
            <a:rect l="l" t="t" r="r" b="b"/>
            <a:pathLst>
              <a:path w="2666552" h="21580">
                <a:moveTo>
                  <a:pt x="114300" y="0"/>
                </a:moveTo>
                <a:lnTo>
                  <a:pt x="2552252" y="0"/>
                </a:lnTo>
                <a:lnTo>
                  <a:pt x="2576938" y="2698"/>
                </a:lnTo>
                <a:lnTo>
                  <a:pt x="2586954" y="5395"/>
                </a:lnTo>
                <a:lnTo>
                  <a:pt x="2594495" y="8093"/>
                </a:lnTo>
                <a:lnTo>
                  <a:pt x="2600731" y="10790"/>
                </a:lnTo>
                <a:lnTo>
                  <a:pt x="2606116" y="13488"/>
                </a:lnTo>
                <a:lnTo>
                  <a:pt x="2610886" y="16185"/>
                </a:lnTo>
                <a:lnTo>
                  <a:pt x="2615181" y="18883"/>
                </a:lnTo>
                <a:lnTo>
                  <a:pt x="2619092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F472B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2"/>
          <p:cNvSpPr/>
          <p:nvPr/>
        </p:nvSpPr>
        <p:spPr>
          <a:xfrm>
            <a:off x="3439269" y="1972687"/>
            <a:ext cx="35421" cy="35421"/>
          </a:xfrm>
          <a:prstGeom prst="ellipse">
            <a:avLst/>
          </a:prstGeom>
          <a:solidFill>
            <a:srgbClr val="F472B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3"/>
          <p:cNvSpPr/>
          <p:nvPr/>
        </p:nvSpPr>
        <p:spPr>
          <a:xfrm>
            <a:off x="3439269" y="2151430"/>
            <a:ext cx="35421" cy="35421"/>
          </a:xfrm>
          <a:prstGeom prst="ellipse">
            <a:avLst/>
          </a:prstGeom>
          <a:solidFill>
            <a:srgbClr val="F472B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4"/>
          <p:cNvSpPr/>
          <p:nvPr/>
        </p:nvSpPr>
        <p:spPr>
          <a:xfrm>
            <a:off x="6067723" y="1175296"/>
            <a:ext cx="2666705" cy="21580"/>
          </a:xfrm>
          <a:custGeom>
            <a:avLst/>
            <a:gdLst/>
            <a:ahLst/>
            <a:cxnLst/>
            <a:rect l="l" t="t" r="r" b="b"/>
            <a:pathLst>
              <a:path w="2666705" h="21580">
                <a:moveTo>
                  <a:pt x="114300" y="0"/>
                </a:moveTo>
                <a:lnTo>
                  <a:pt x="2552405" y="0"/>
                </a:lnTo>
                <a:lnTo>
                  <a:pt x="2577090" y="2698"/>
                </a:lnTo>
                <a:lnTo>
                  <a:pt x="2587106" y="5395"/>
                </a:lnTo>
                <a:lnTo>
                  <a:pt x="2594648" y="8093"/>
                </a:lnTo>
                <a:lnTo>
                  <a:pt x="2600883" y="10790"/>
                </a:lnTo>
                <a:lnTo>
                  <a:pt x="2606269" y="13488"/>
                </a:lnTo>
                <a:lnTo>
                  <a:pt x="2611039" y="16185"/>
                </a:lnTo>
                <a:lnTo>
                  <a:pt x="2615333" y="18883"/>
                </a:lnTo>
                <a:lnTo>
                  <a:pt x="261924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5"/>
          <p:cNvSpPr/>
          <p:nvPr/>
        </p:nvSpPr>
        <p:spPr>
          <a:xfrm>
            <a:off x="6268343" y="1972687"/>
            <a:ext cx="35421" cy="35421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6"/>
          <p:cNvSpPr/>
          <p:nvPr/>
        </p:nvSpPr>
        <p:spPr>
          <a:xfrm>
            <a:off x="6268343" y="2151430"/>
            <a:ext cx="35421" cy="35421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4805" y="1329303"/>
            <a:ext cx="2719835" cy="1108624"/>
          </a:xfrm>
          <a:prstGeom prst="roundRect">
            <a:avLst>
              <a:gd name="adj" fmla="val 6415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4805" y="2528114"/>
            <a:ext cx="2719835" cy="1108624"/>
          </a:xfrm>
          <a:prstGeom prst="roundRect">
            <a:avLst>
              <a:gd name="adj" fmla="val 6415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4805" y="3726924"/>
            <a:ext cx="2719835" cy="787300"/>
          </a:xfrm>
          <a:prstGeom prst="roundRect">
            <a:avLst>
              <a:gd name="adj" fmla="val 9033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79153" y="1329303"/>
            <a:ext cx="2719978" cy="756494"/>
          </a:xfrm>
          <a:prstGeom prst="roundRect">
            <a:avLst>
              <a:gd name="adj" fmla="val 9401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79153" y="2376458"/>
            <a:ext cx="2719978" cy="1050722"/>
          </a:xfrm>
          <a:prstGeom prst="roundRect">
            <a:avLst>
              <a:gd name="adj" fmla="val 6769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79153" y="3502045"/>
            <a:ext cx="2719978" cy="1050874"/>
          </a:xfrm>
          <a:prstGeom prst="roundRect">
            <a:avLst>
              <a:gd name="adj" fmla="val 6768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725" y="1437233"/>
            <a:ext cx="391597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E8EDF5"/>
                </a:solidFill>
                <a:effectLst>
                  <a:glow rad="358776">
                    <a:srgbClr val="38BDF8">
                      <a:alpha val="120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Scout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2257425" y="1445270"/>
            <a:ext cx="685354" cy="193834"/>
          </a:xfrm>
          <a:prstGeom prst="roundRect">
            <a:avLst>
              <a:gd name="adj" fmla="val 22277"/>
            </a:avLst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H100</a:t>
            </a:r>
            <a:endParaRPr lang="en-US" sz="68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4446" y="1467082"/>
            <a:ext cx="132588" cy="1325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66725" y="1686818"/>
            <a:ext cx="133800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</a:t>
            </a:r>
            <a:endParaRPr lang="en-US" sz="560" dirty="0"/>
          </a:p>
        </p:txBody>
      </p:sp>
      <p:sp>
        <p:nvSpPr>
          <p:cNvPr id="14" name="Text 11"/>
          <p:cNvSpPr/>
          <p:nvPr/>
        </p:nvSpPr>
        <p:spPr>
          <a:xfrm>
            <a:off x="466725" y="1793528"/>
            <a:ext cx="1338009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109B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1726257" y="1686818"/>
            <a:ext cx="133817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560" dirty="0"/>
          </a:p>
        </p:txBody>
      </p:sp>
      <p:sp>
        <p:nvSpPr>
          <p:cNvPr id="16" name="Text 13"/>
          <p:cNvSpPr/>
          <p:nvPr/>
        </p:nvSpPr>
        <p:spPr>
          <a:xfrm>
            <a:off x="1726257" y="1793528"/>
            <a:ext cx="1338173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17B</a:t>
            </a:r>
            <a:endParaRPr lang="en-US" sz="1130" dirty="0"/>
          </a:p>
        </p:txBody>
      </p:sp>
      <p:sp>
        <p:nvSpPr>
          <p:cNvPr id="17" name="Text 14"/>
          <p:cNvSpPr/>
          <p:nvPr/>
        </p:nvSpPr>
        <p:spPr>
          <a:xfrm>
            <a:off x="466725" y="2051893"/>
            <a:ext cx="133800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</a:t>
            </a:r>
            <a:endParaRPr lang="en-US" sz="560" dirty="0"/>
          </a:p>
        </p:txBody>
      </p:sp>
      <p:sp>
        <p:nvSpPr>
          <p:cNvPr id="18" name="Text 15"/>
          <p:cNvSpPr/>
          <p:nvPr/>
        </p:nvSpPr>
        <p:spPr>
          <a:xfrm>
            <a:off x="466725" y="2158603"/>
            <a:ext cx="13380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726257" y="2051893"/>
            <a:ext cx="133817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560" dirty="0"/>
          </a:p>
        </p:txBody>
      </p:sp>
      <p:sp>
        <p:nvSpPr>
          <p:cNvPr id="20" name="Text 17"/>
          <p:cNvSpPr/>
          <p:nvPr/>
        </p:nvSpPr>
        <p:spPr>
          <a:xfrm>
            <a:off x="1726257" y="2158603"/>
            <a:ext cx="13381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66725" y="2636044"/>
            <a:ext cx="60343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E8EDF5"/>
                </a:solidFill>
                <a:effectLst>
                  <a:glow rad="358776">
                    <a:srgbClr val="38BDF8">
                      <a:alpha val="120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Maverick</a:t>
            </a:r>
            <a:endParaRPr lang="en-US" sz="1010" dirty="0"/>
          </a:p>
        </p:txBody>
      </p:sp>
      <p:sp>
        <p:nvSpPr>
          <p:cNvPr id="22" name="Text 19"/>
          <p:cNvSpPr/>
          <p:nvPr/>
        </p:nvSpPr>
        <p:spPr>
          <a:xfrm>
            <a:off x="2349550" y="2644080"/>
            <a:ext cx="593229" cy="193834"/>
          </a:xfrm>
          <a:prstGeom prst="roundRect">
            <a:avLst>
              <a:gd name="adj" fmla="val 22277"/>
            </a:avLst>
          </a:prstGeom>
          <a:solidFill>
            <a:srgbClr val="A78BFA">
              <a:alpha val="10000"/>
            </a:srgbClr>
          </a:solidFill>
          <a:ln w="9525">
            <a:solidFill>
              <a:srgbClr val="A78BFA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Experts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466725" y="2885629"/>
            <a:ext cx="133800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</a:t>
            </a:r>
            <a:endParaRPr lang="en-US" sz="560" dirty="0"/>
          </a:p>
        </p:txBody>
      </p:sp>
      <p:sp>
        <p:nvSpPr>
          <p:cNvPr id="24" name="Text 21"/>
          <p:cNvSpPr/>
          <p:nvPr/>
        </p:nvSpPr>
        <p:spPr>
          <a:xfrm>
            <a:off x="466725" y="2992338"/>
            <a:ext cx="1338009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400B</a:t>
            </a:r>
            <a:endParaRPr lang="en-US" sz="1130" dirty="0"/>
          </a:p>
        </p:txBody>
      </p:sp>
      <p:sp>
        <p:nvSpPr>
          <p:cNvPr id="25" name="Text 22"/>
          <p:cNvSpPr/>
          <p:nvPr/>
        </p:nvSpPr>
        <p:spPr>
          <a:xfrm>
            <a:off x="1726257" y="2885629"/>
            <a:ext cx="133817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560" dirty="0"/>
          </a:p>
        </p:txBody>
      </p:sp>
      <p:sp>
        <p:nvSpPr>
          <p:cNvPr id="26" name="Text 23"/>
          <p:cNvSpPr/>
          <p:nvPr/>
        </p:nvSpPr>
        <p:spPr>
          <a:xfrm>
            <a:off x="1726257" y="2992338"/>
            <a:ext cx="1338173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17B</a:t>
            </a:r>
            <a:endParaRPr lang="en-US" sz="1130" dirty="0"/>
          </a:p>
        </p:txBody>
      </p:sp>
      <p:sp>
        <p:nvSpPr>
          <p:cNvPr id="27" name="Text 24"/>
          <p:cNvSpPr/>
          <p:nvPr/>
        </p:nvSpPr>
        <p:spPr>
          <a:xfrm>
            <a:off x="466725" y="3250704"/>
            <a:ext cx="133800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560" dirty="0"/>
          </a:p>
        </p:txBody>
      </p:sp>
      <p:sp>
        <p:nvSpPr>
          <p:cNvPr id="28" name="Text 25"/>
          <p:cNvSpPr/>
          <p:nvPr/>
        </p:nvSpPr>
        <p:spPr>
          <a:xfrm>
            <a:off x="466725" y="3357414"/>
            <a:ext cx="13380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726257" y="3250704"/>
            <a:ext cx="133817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560" dirty="0"/>
          </a:p>
        </p:txBody>
      </p:sp>
      <p:sp>
        <p:nvSpPr>
          <p:cNvPr id="30" name="Text 27"/>
          <p:cNvSpPr/>
          <p:nvPr/>
        </p:nvSpPr>
        <p:spPr>
          <a:xfrm>
            <a:off x="1726257" y="3357414"/>
            <a:ext cx="13381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66725" y="3834854"/>
            <a:ext cx="689223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Behemoth</a:t>
            </a:r>
            <a:endParaRPr lang="en-US" sz="1010" dirty="0"/>
          </a:p>
        </p:txBody>
      </p:sp>
      <p:sp>
        <p:nvSpPr>
          <p:cNvPr id="32" name="Text 29"/>
          <p:cNvSpPr/>
          <p:nvPr/>
        </p:nvSpPr>
        <p:spPr>
          <a:xfrm>
            <a:off x="2483644" y="3842891"/>
            <a:ext cx="459135" cy="193834"/>
          </a:xfrm>
          <a:prstGeom prst="roundRect">
            <a:avLst>
              <a:gd name="adj" fmla="val 22277"/>
            </a:avLst>
          </a:prstGeom>
          <a:solidFill>
            <a:srgbClr val="FBBF24">
              <a:alpha val="8000"/>
            </a:srgbClr>
          </a:solidFill>
          <a:ln w="9525">
            <a:solidFill>
              <a:srgbClr val="FBBF24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</a:t>
            </a:r>
            <a:endParaRPr lang="en-US" sz="680" dirty="0"/>
          </a:p>
        </p:txBody>
      </p:sp>
      <p:sp>
        <p:nvSpPr>
          <p:cNvPr id="33" name="Text 30"/>
          <p:cNvSpPr/>
          <p:nvPr/>
        </p:nvSpPr>
        <p:spPr>
          <a:xfrm>
            <a:off x="466725" y="4084439"/>
            <a:ext cx="133800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</a:t>
            </a:r>
            <a:endParaRPr lang="en-US" sz="560" dirty="0"/>
          </a:p>
        </p:txBody>
      </p:sp>
      <p:sp>
        <p:nvSpPr>
          <p:cNvPr id="34" name="Text 31"/>
          <p:cNvSpPr/>
          <p:nvPr/>
        </p:nvSpPr>
        <p:spPr>
          <a:xfrm>
            <a:off x="466725" y="4191149"/>
            <a:ext cx="1338009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~2T</a:t>
            </a:r>
            <a:endParaRPr lang="en-US" sz="1130" dirty="0"/>
          </a:p>
        </p:txBody>
      </p:sp>
      <p:sp>
        <p:nvSpPr>
          <p:cNvPr id="35" name="Text 32"/>
          <p:cNvSpPr/>
          <p:nvPr/>
        </p:nvSpPr>
        <p:spPr>
          <a:xfrm>
            <a:off x="1726257" y="4084439"/>
            <a:ext cx="133817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560" dirty="0"/>
          </a:p>
        </p:txBody>
      </p:sp>
      <p:sp>
        <p:nvSpPr>
          <p:cNvPr id="36" name="Text 33"/>
          <p:cNvSpPr/>
          <p:nvPr/>
        </p:nvSpPr>
        <p:spPr>
          <a:xfrm>
            <a:off x="1726257" y="4191149"/>
            <a:ext cx="1338173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288B</a:t>
            </a:r>
            <a:endParaRPr lang="en-US" sz="1130" dirty="0"/>
          </a:p>
        </p:txBody>
      </p:sp>
      <p:sp>
        <p:nvSpPr>
          <p:cNvPr id="37" name="Text 34"/>
          <p:cNvSpPr/>
          <p:nvPr/>
        </p:nvSpPr>
        <p:spPr>
          <a:xfrm>
            <a:off x="6201073" y="1467594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34D399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9079" y="1515600"/>
            <a:ext cx="132588" cy="132588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6500664" y="1437233"/>
            <a:ext cx="13070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Open-Weight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500664" y="1608683"/>
            <a:ext cx="130706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on H100 · Hugging Face</a:t>
            </a:r>
            <a:endParaRPr lang="en-US" sz="620" dirty="0"/>
          </a:p>
        </p:txBody>
      </p:sp>
      <p:sp>
        <p:nvSpPr>
          <p:cNvPr id="41" name="Text 37"/>
          <p:cNvSpPr/>
          <p:nvPr/>
        </p:nvSpPr>
        <p:spPr>
          <a:xfrm>
            <a:off x="6201073" y="1797695"/>
            <a:ext cx="622697" cy="198254"/>
          </a:xfrm>
          <a:prstGeom prst="roundRect">
            <a:avLst>
              <a:gd name="adj" fmla="val 14734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620" dirty="0"/>
          </a:p>
        </p:txBody>
      </p:sp>
      <p:sp>
        <p:nvSpPr>
          <p:cNvPr id="42" name="Text 38"/>
          <p:cNvSpPr/>
          <p:nvPr/>
        </p:nvSpPr>
        <p:spPr>
          <a:xfrm>
            <a:off x="6866930" y="1797695"/>
            <a:ext cx="531019" cy="198254"/>
          </a:xfrm>
          <a:prstGeom prst="roundRect">
            <a:avLst>
              <a:gd name="adj" fmla="val 14734"/>
            </a:avLst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AI</a:t>
            </a:r>
            <a:endParaRPr lang="en-US" sz="620" dirty="0"/>
          </a:p>
        </p:txBody>
      </p:sp>
      <p:sp>
        <p:nvSpPr>
          <p:cNvPr id="43" name="Text 39"/>
          <p:cNvSpPr/>
          <p:nvPr/>
        </p:nvSpPr>
        <p:spPr>
          <a:xfrm>
            <a:off x="7441109" y="1797695"/>
            <a:ext cx="543967" cy="198254"/>
          </a:xfrm>
          <a:prstGeom prst="roundRect">
            <a:avLst>
              <a:gd name="adj" fmla="val 14734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620" dirty="0"/>
          </a:p>
        </p:txBody>
      </p:sp>
      <p:sp>
        <p:nvSpPr>
          <p:cNvPr id="44" name="Text 40"/>
          <p:cNvSpPr/>
          <p:nvPr/>
        </p:nvSpPr>
        <p:spPr>
          <a:xfrm>
            <a:off x="6201073" y="2486769"/>
            <a:ext cx="32562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Scout</a:t>
            </a:r>
            <a:endParaRPr lang="en-US" sz="840" dirty="0"/>
          </a:p>
        </p:txBody>
      </p:sp>
      <p:sp>
        <p:nvSpPr>
          <p:cNvPr id="45" name="Text 41"/>
          <p:cNvSpPr/>
          <p:nvPr/>
        </p:nvSpPr>
        <p:spPr>
          <a:xfrm>
            <a:off x="8360271" y="2484388"/>
            <a:ext cx="317004" cy="181228"/>
          </a:xfrm>
          <a:prstGeom prst="roundRect">
            <a:avLst>
              <a:gd name="adj" fmla="val 23826"/>
            </a:avLst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109B</a:t>
            </a:r>
            <a:endParaRPr lang="en-US" sz="620" dirty="0"/>
          </a:p>
        </p:txBody>
      </p:sp>
      <p:sp>
        <p:nvSpPr>
          <p:cNvPr id="46" name="Text 42"/>
          <p:cNvSpPr/>
          <p:nvPr/>
        </p:nvSpPr>
        <p:spPr>
          <a:xfrm>
            <a:off x="6201073" y="2720132"/>
            <a:ext cx="52092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560" dirty="0"/>
          </a:p>
        </p:txBody>
      </p:sp>
      <p:sp>
        <p:nvSpPr>
          <p:cNvPr id="47" name="Text 43"/>
          <p:cNvSpPr/>
          <p:nvPr/>
        </p:nvSpPr>
        <p:spPr>
          <a:xfrm>
            <a:off x="6201073" y="2826841"/>
            <a:ext cx="520928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$0.08</a:t>
            </a:r>
            <a:endParaRPr lang="en-US" sz="1240" dirty="0"/>
          </a:p>
        </p:txBody>
      </p:sp>
      <p:sp>
        <p:nvSpPr>
          <p:cNvPr id="48" name="Text 44"/>
          <p:cNvSpPr/>
          <p:nvPr/>
        </p:nvSpPr>
        <p:spPr>
          <a:xfrm>
            <a:off x="6818114" y="2720132"/>
            <a:ext cx="52092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560" dirty="0"/>
          </a:p>
        </p:txBody>
      </p:sp>
      <p:sp>
        <p:nvSpPr>
          <p:cNvPr id="49" name="Text 45"/>
          <p:cNvSpPr/>
          <p:nvPr/>
        </p:nvSpPr>
        <p:spPr>
          <a:xfrm>
            <a:off x="6818114" y="2826841"/>
            <a:ext cx="520928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$0.30</a:t>
            </a:r>
            <a:endParaRPr lang="en-US" sz="1240" dirty="0"/>
          </a:p>
        </p:txBody>
      </p:sp>
      <p:sp>
        <p:nvSpPr>
          <p:cNvPr id="50" name="Text 46"/>
          <p:cNvSpPr/>
          <p:nvPr/>
        </p:nvSpPr>
        <p:spPr>
          <a:xfrm>
            <a:off x="6201073" y="3154114"/>
            <a:ext cx="396180" cy="29170"/>
          </a:xfrm>
          <a:prstGeom prst="roundRect">
            <a:avLst>
              <a:gd name="adj" fmla="val 47892"/>
            </a:avLst>
          </a:prstGeom>
          <a:solidFill>
            <a:srgbClr val="34D399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6626423" y="3154114"/>
            <a:ext cx="1485602" cy="29170"/>
          </a:xfrm>
          <a:prstGeom prst="roundRect">
            <a:avLst>
              <a:gd name="adj" fmla="val 47892"/>
            </a:avLst>
          </a:prstGeom>
          <a:solidFill>
            <a:srgbClr val="34D399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8170366" y="3120182"/>
            <a:ext cx="213806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65"/>
              </a:lnSpc>
              <a:buNone/>
            </a:pPr>
            <a:r>
              <a:rPr lang="en-US" sz="51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/ out</a:t>
            </a:r>
            <a:endParaRPr lang="en-US" sz="510" dirty="0"/>
          </a:p>
        </p:txBody>
      </p:sp>
      <p:sp>
        <p:nvSpPr>
          <p:cNvPr id="53" name="Text 49"/>
          <p:cNvSpPr/>
          <p:nvPr/>
        </p:nvSpPr>
        <p:spPr>
          <a:xfrm>
            <a:off x="6201073" y="3612356"/>
            <a:ext cx="50193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Maverick</a:t>
            </a:r>
            <a:endParaRPr lang="en-US" sz="840" dirty="0"/>
          </a:p>
        </p:txBody>
      </p:sp>
      <p:sp>
        <p:nvSpPr>
          <p:cNvPr id="54" name="Text 50"/>
          <p:cNvSpPr/>
          <p:nvPr/>
        </p:nvSpPr>
        <p:spPr>
          <a:xfrm>
            <a:off x="8360271" y="3609975"/>
            <a:ext cx="317004" cy="181228"/>
          </a:xfrm>
          <a:prstGeom prst="roundRect">
            <a:avLst>
              <a:gd name="adj" fmla="val 23826"/>
            </a:avLst>
          </a:prstGeom>
          <a:solidFill>
            <a:srgbClr val="A78BFA">
              <a:alpha val="10000"/>
            </a:srgbClr>
          </a:solidFill>
          <a:ln w="9525">
            <a:solidFill>
              <a:srgbClr val="A78BFA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400B</a:t>
            </a:r>
            <a:endParaRPr lang="en-US" sz="620" dirty="0"/>
          </a:p>
        </p:txBody>
      </p:sp>
      <p:sp>
        <p:nvSpPr>
          <p:cNvPr id="55" name="Text 51"/>
          <p:cNvSpPr/>
          <p:nvPr/>
        </p:nvSpPr>
        <p:spPr>
          <a:xfrm>
            <a:off x="6201073" y="3845719"/>
            <a:ext cx="52092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560" dirty="0"/>
          </a:p>
        </p:txBody>
      </p:sp>
      <p:sp>
        <p:nvSpPr>
          <p:cNvPr id="56" name="Text 52"/>
          <p:cNvSpPr/>
          <p:nvPr/>
        </p:nvSpPr>
        <p:spPr>
          <a:xfrm>
            <a:off x="6201073" y="3952429"/>
            <a:ext cx="520928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$0.17</a:t>
            </a:r>
            <a:endParaRPr lang="en-US" sz="1240" dirty="0"/>
          </a:p>
        </p:txBody>
      </p:sp>
      <p:sp>
        <p:nvSpPr>
          <p:cNvPr id="57" name="Text 53"/>
          <p:cNvSpPr/>
          <p:nvPr/>
        </p:nvSpPr>
        <p:spPr>
          <a:xfrm>
            <a:off x="6818114" y="3845719"/>
            <a:ext cx="52092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560" dirty="0"/>
          </a:p>
        </p:txBody>
      </p:sp>
      <p:sp>
        <p:nvSpPr>
          <p:cNvPr id="58" name="Text 54"/>
          <p:cNvSpPr/>
          <p:nvPr/>
        </p:nvSpPr>
        <p:spPr>
          <a:xfrm>
            <a:off x="6818114" y="3952429"/>
            <a:ext cx="520928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$0.50</a:t>
            </a:r>
            <a:endParaRPr lang="en-US" sz="1240" dirty="0"/>
          </a:p>
        </p:txBody>
      </p:sp>
      <p:sp>
        <p:nvSpPr>
          <p:cNvPr id="59" name="Text 55"/>
          <p:cNvSpPr/>
          <p:nvPr/>
        </p:nvSpPr>
        <p:spPr>
          <a:xfrm>
            <a:off x="6201073" y="4328220"/>
            <a:ext cx="572542" cy="29170"/>
          </a:xfrm>
          <a:prstGeom prst="roundRect">
            <a:avLst>
              <a:gd name="adj" fmla="val 47892"/>
            </a:avLst>
          </a:prstGeom>
          <a:solidFill>
            <a:srgbClr val="34D399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6802785" y="4328220"/>
            <a:ext cx="1683990" cy="29170"/>
          </a:xfrm>
          <a:prstGeom prst="roundRect">
            <a:avLst>
              <a:gd name="adj" fmla="val 47892"/>
            </a:avLst>
          </a:prstGeom>
          <a:solidFill>
            <a:srgbClr val="34D399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8545116" y="4245769"/>
            <a:ext cx="134803" cy="203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65"/>
              </a:lnSpc>
              <a:buNone/>
            </a:pPr>
            <a:r>
              <a:rPr lang="en-US" sz="51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/ out</a:t>
            </a:r>
            <a:endParaRPr lang="en-US" sz="510" dirty="0"/>
          </a:p>
        </p:txBody>
      </p:sp>
      <p:sp>
        <p:nvSpPr>
          <p:cNvPr id="62" name="Text 58"/>
          <p:cNvSpPr/>
          <p:nvPr/>
        </p:nvSpPr>
        <p:spPr>
          <a:xfrm>
            <a:off x="342900" y="328315"/>
            <a:ext cx="257770" cy="257770"/>
          </a:xfrm>
          <a:prstGeom prst="roundRect">
            <a:avLst>
              <a:gd name="adj" fmla="val 22171"/>
            </a:avLst>
          </a:prstGeom>
          <a:gradFill rotWithShape="1">
            <a:gsLst>
              <a:gs pos="0">
                <a:srgbClr val="38BDF8"/>
              </a:gs>
              <a:gs pos="100000">
                <a:srgbClr val="818CF8"/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5417" y="390832"/>
            <a:ext cx="132588" cy="132588"/>
          </a:xfrm>
          <a:prstGeom prst="rect">
            <a:avLst/>
          </a:prstGeom>
        </p:spPr>
      </p:pic>
      <p:sp>
        <p:nvSpPr>
          <p:cNvPr id="64" name="Text 59"/>
          <p:cNvSpPr/>
          <p:nvPr/>
        </p:nvSpPr>
        <p:spPr>
          <a:xfrm>
            <a:off x="686991" y="285750"/>
            <a:ext cx="270288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30" kern="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Llama 4 MoE Architecture</a:t>
            </a:r>
            <a:endParaRPr lang="en-US" sz="1800" dirty="0"/>
          </a:p>
        </p:txBody>
      </p:sp>
      <p:sp>
        <p:nvSpPr>
          <p:cNvPr id="65" name="Text 60"/>
          <p:cNvSpPr/>
          <p:nvPr/>
        </p:nvSpPr>
        <p:spPr>
          <a:xfrm>
            <a:off x="685800" y="671810"/>
            <a:ext cx="338439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Mixture-of-Experts with Early Fusion · Open-Weight on Hugging Face</a:t>
            </a:r>
            <a:endParaRPr lang="en-US" sz="790" dirty="0"/>
          </a:p>
        </p:txBody>
      </p:sp>
      <p:sp>
        <p:nvSpPr>
          <p:cNvPr id="66" name="Text 61"/>
          <p:cNvSpPr/>
          <p:nvPr/>
        </p:nvSpPr>
        <p:spPr>
          <a:xfrm>
            <a:off x="7350472" y="495002"/>
            <a:ext cx="38865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</a:t>
            </a:r>
            <a:endParaRPr lang="en-US" sz="620" dirty="0"/>
          </a:p>
        </p:txBody>
      </p:sp>
      <p:sp>
        <p:nvSpPr>
          <p:cNvPr id="67" name="Text 62"/>
          <p:cNvSpPr/>
          <p:nvPr/>
        </p:nvSpPr>
        <p:spPr>
          <a:xfrm>
            <a:off x="7746950" y="495002"/>
            <a:ext cx="5222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620" dirty="0"/>
          </a:p>
        </p:txBody>
      </p:sp>
      <p:sp>
        <p:nvSpPr>
          <p:cNvPr id="68" name="Text 63"/>
          <p:cNvSpPr/>
          <p:nvPr/>
        </p:nvSpPr>
        <p:spPr>
          <a:xfrm>
            <a:off x="7837587" y="495002"/>
            <a:ext cx="105986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ENGINE</a:t>
            </a:r>
            <a:endParaRPr lang="en-US" sz="620" dirty="0"/>
          </a:p>
        </p:txBody>
      </p:sp>
      <p:sp>
        <p:nvSpPr>
          <p:cNvPr id="69" name="Text 64"/>
          <p:cNvSpPr/>
          <p:nvPr/>
        </p:nvSpPr>
        <p:spPr>
          <a:xfrm>
            <a:off x="342900" y="993725"/>
            <a:ext cx="2778178" cy="176361"/>
          </a:xfrm>
          <a:prstGeom prst="roundRect">
            <a:avLst>
              <a:gd name="adj" fmla="val 16563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204698" tIns="29210" rIns="86360" bIns="29210" rtlCol="0" anchor="ctr"/>
          <a:lstStyle/>
          <a:p>
            <a:pPr algn="l" indent="0" marL="0">
              <a:buNone/>
            </a:pPr>
            <a:r>
              <a:rPr lang="en-US" sz="620" b="1" spc="8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620" dirty="0"/>
          </a:p>
        </p:txBody>
      </p:sp>
      <p:pic>
        <p:nvPicPr>
          <p:cNvPr id="7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0505" y="1015612"/>
            <a:ext cx="132588" cy="132588"/>
          </a:xfrm>
          <a:prstGeom prst="rect">
            <a:avLst/>
          </a:prstGeom>
        </p:spPr>
      </p:pic>
      <p:sp>
        <p:nvSpPr>
          <p:cNvPr id="71" name="Text 65"/>
          <p:cNvSpPr/>
          <p:nvPr/>
        </p:nvSpPr>
        <p:spPr>
          <a:xfrm>
            <a:off x="342900" y="1327398"/>
            <a:ext cx="2723704" cy="1112490"/>
          </a:xfrm>
          <a:prstGeom prst="roundRect">
            <a:avLst>
              <a:gd name="adj" fmla="val 6393"/>
            </a:avLst>
          </a:prstGeom>
          <a:solidFill>
            <a:srgbClr val="141D2F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6"/>
          <p:cNvSpPr/>
          <p:nvPr/>
        </p:nvSpPr>
        <p:spPr>
          <a:xfrm>
            <a:off x="342900" y="2526209"/>
            <a:ext cx="2723704" cy="1112490"/>
          </a:xfrm>
          <a:prstGeom prst="roundRect">
            <a:avLst>
              <a:gd name="adj" fmla="val 6393"/>
            </a:avLst>
          </a:prstGeom>
          <a:solidFill>
            <a:srgbClr val="141D2F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7"/>
          <p:cNvSpPr/>
          <p:nvPr/>
        </p:nvSpPr>
        <p:spPr>
          <a:xfrm>
            <a:off x="342900" y="3725019"/>
            <a:ext cx="2723704" cy="791170"/>
          </a:xfrm>
          <a:prstGeom prst="roundRect">
            <a:avLst>
              <a:gd name="adj" fmla="val 8989"/>
            </a:avLst>
          </a:prstGeom>
          <a:solidFill>
            <a:srgbClr val="141D2F"/>
          </a:solidFill>
          <a:ln w="9525">
            <a:solidFill>
              <a:srgbClr val="FBBF24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68"/>
          <p:cNvSpPr/>
          <p:nvPr/>
        </p:nvSpPr>
        <p:spPr>
          <a:xfrm>
            <a:off x="342900" y="4602510"/>
            <a:ext cx="2723704" cy="392311"/>
          </a:xfrm>
          <a:prstGeom prst="roundRect">
            <a:avLst>
              <a:gd name="adj" fmla="val 14568"/>
            </a:avLst>
          </a:prstGeom>
          <a:gradFill rotWithShape="1">
            <a:gsLst>
              <a:gs pos="0">
                <a:srgbClr val="38BDF8">
                  <a:alpha val="6000"/>
                </a:srgbClr>
              </a:gs>
              <a:gs pos="100000">
                <a:srgbClr val="A78BFA">
                  <a:alpha val="6000"/>
                </a:srgbClr>
              </a:gs>
            </a:gsLst>
            <a:lin ang="0" scaled="1"/>
          </a:gra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9733" y="4722447"/>
            <a:ext cx="132588" cy="152437"/>
          </a:xfrm>
          <a:prstGeom prst="rect">
            <a:avLst/>
          </a:prstGeom>
        </p:spPr>
      </p:pic>
      <p:sp>
        <p:nvSpPr>
          <p:cNvPr id="76" name="Text 69"/>
          <p:cNvSpPr/>
          <p:nvPr/>
        </p:nvSpPr>
        <p:spPr>
          <a:xfrm>
            <a:off x="570458" y="4669185"/>
            <a:ext cx="2448306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Fusion — text + image + video joint pre-training across all models</a:t>
            </a:r>
            <a:endParaRPr lang="en-US" sz="680" dirty="0"/>
          </a:p>
        </p:txBody>
      </p:sp>
      <p:sp>
        <p:nvSpPr>
          <p:cNvPr id="77" name="Text 70"/>
          <p:cNvSpPr/>
          <p:nvPr/>
        </p:nvSpPr>
        <p:spPr>
          <a:xfrm>
            <a:off x="3210074" y="993725"/>
            <a:ext cx="2778178" cy="176361"/>
          </a:xfrm>
          <a:prstGeom prst="roundRect">
            <a:avLst>
              <a:gd name="adj" fmla="val 16563"/>
            </a:avLst>
          </a:prstGeom>
          <a:solidFill>
            <a:srgbClr val="34D399">
              <a:alpha val="10000"/>
            </a:srgbClr>
          </a:solidFill>
          <a:ln/>
        </p:spPr>
        <p:txBody>
          <a:bodyPr wrap="none" lIns="204698" tIns="29210" rIns="86360" bIns="29210" rtlCol="0" anchor="ctr"/>
          <a:lstStyle/>
          <a:p>
            <a:pPr algn="l" indent="0" marL="0">
              <a:buNone/>
            </a:pPr>
            <a:r>
              <a:rPr lang="en-US" sz="620" b="1" spc="8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MFCS PERCEPTION · 28 PATHS</a:t>
            </a:r>
            <a:endParaRPr lang="en-US" sz="620" dirty="0"/>
          </a:p>
        </p:txBody>
      </p:sp>
      <p:pic>
        <p:nvPicPr>
          <p:cNvPr id="7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67679" y="1015612"/>
            <a:ext cx="132588" cy="132588"/>
          </a:xfrm>
          <a:prstGeom prst="rect">
            <a:avLst/>
          </a:prstGeom>
        </p:spPr>
      </p:pic>
      <p:sp>
        <p:nvSpPr>
          <p:cNvPr id="79" name="Text 71"/>
          <p:cNvSpPr/>
          <p:nvPr/>
        </p:nvSpPr>
        <p:spPr>
          <a:xfrm>
            <a:off x="3210074" y="1241078"/>
            <a:ext cx="2723704" cy="460177"/>
          </a:xfrm>
          <a:prstGeom prst="roundRect">
            <a:avLst>
              <a:gd name="adj" fmla="val 15455"/>
            </a:avLst>
          </a:prstGeom>
          <a:solidFill>
            <a:srgbClr val="141D2F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2"/>
          <p:cNvSpPr/>
          <p:nvPr/>
        </p:nvSpPr>
        <p:spPr>
          <a:xfrm>
            <a:off x="3333899" y="1342281"/>
            <a:ext cx="30670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28</a:t>
            </a:r>
            <a:endParaRPr lang="en-US" sz="2030" dirty="0"/>
          </a:p>
        </p:txBody>
      </p:sp>
      <p:sp>
        <p:nvSpPr>
          <p:cNvPr id="81" name="Text 73"/>
          <p:cNvSpPr/>
          <p:nvPr/>
        </p:nvSpPr>
        <p:spPr>
          <a:xfrm>
            <a:off x="3734842" y="1336923"/>
            <a:ext cx="186663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Paths</a:t>
            </a:r>
            <a:endParaRPr lang="en-US" sz="790" dirty="0"/>
          </a:p>
        </p:txBody>
      </p:sp>
      <p:sp>
        <p:nvSpPr>
          <p:cNvPr id="82" name="Text 74"/>
          <p:cNvSpPr/>
          <p:nvPr/>
        </p:nvSpPr>
        <p:spPr>
          <a:xfrm>
            <a:off x="3734842" y="1487388"/>
            <a:ext cx="186663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actions × 2 modalities + integrity + accessibility</a:t>
            </a:r>
            <a:endParaRPr lang="en-US" sz="620" dirty="0"/>
          </a:p>
        </p:txBody>
      </p:sp>
      <p:sp>
        <p:nvSpPr>
          <p:cNvPr id="83" name="Text 75"/>
          <p:cNvSpPr/>
          <p:nvPr/>
        </p:nvSpPr>
        <p:spPr>
          <a:xfrm>
            <a:off x="3210074" y="1801564"/>
            <a:ext cx="2723704" cy="382786"/>
          </a:xfrm>
          <a:prstGeom prst="roundRect">
            <a:avLst>
              <a:gd name="adj" fmla="val 14930"/>
            </a:avLst>
          </a:prstGeom>
          <a:solidFill>
            <a:srgbClr val="FFFFFF">
              <a:alpha val="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76"/>
          <p:cNvSpPr/>
          <p:nvPr/>
        </p:nvSpPr>
        <p:spPr>
          <a:xfrm>
            <a:off x="3210074" y="1801564"/>
            <a:ext cx="19050" cy="382786"/>
          </a:xfrm>
          <a:custGeom>
            <a:avLst/>
            <a:gdLst/>
            <a:ahLst/>
            <a:cxnLst/>
            <a:rect l="l" t="t" r="r" b="b"/>
            <a:pathLst>
              <a:path w="19050" h="382786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68233"/>
                </a:lnTo>
                <a:lnTo>
                  <a:pt x="16669" y="365977"/>
                </a:lnTo>
                <a:lnTo>
                  <a:pt x="14288" y="363437"/>
                </a:lnTo>
                <a:lnTo>
                  <a:pt x="11906" y="360552"/>
                </a:lnTo>
                <a:lnTo>
                  <a:pt x="9525" y="357227"/>
                </a:lnTo>
                <a:lnTo>
                  <a:pt x="7144" y="353304"/>
                </a:lnTo>
                <a:lnTo>
                  <a:pt x="4763" y="348476"/>
                </a:lnTo>
                <a:lnTo>
                  <a:pt x="2381" y="341961"/>
                </a:lnTo>
                <a:lnTo>
                  <a:pt x="0" y="325636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77"/>
          <p:cNvSpPr/>
          <p:nvPr/>
        </p:nvSpPr>
        <p:spPr>
          <a:xfrm>
            <a:off x="3305413" y="1874788"/>
            <a:ext cx="220682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</a:t>
            </a:r>
            <a:endParaRPr lang="en-US" sz="1240" dirty="0"/>
          </a:p>
        </p:txBody>
      </p:sp>
      <p:sp>
        <p:nvSpPr>
          <p:cNvPr id="86" name="Text 78"/>
          <p:cNvSpPr/>
          <p:nvPr/>
        </p:nvSpPr>
        <p:spPr>
          <a:xfrm>
            <a:off x="3587055" y="1858714"/>
            <a:ext cx="144622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Scans</a:t>
            </a:r>
            <a:endParaRPr lang="en-US" sz="790" dirty="0"/>
          </a:p>
        </p:txBody>
      </p:sp>
      <p:sp>
        <p:nvSpPr>
          <p:cNvPr id="87" name="Text 79"/>
          <p:cNvSpPr/>
          <p:nvPr/>
        </p:nvSpPr>
        <p:spPr>
          <a:xfrm>
            <a:off x="3587055" y="2009180"/>
            <a:ext cx="144622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actions × 2 modalities (vision + text)</a:t>
            </a:r>
            <a:endParaRPr lang="en-US" sz="620" dirty="0"/>
          </a:p>
        </p:txBody>
      </p:sp>
      <p:sp>
        <p:nvSpPr>
          <p:cNvPr id="88" name="Text 80"/>
          <p:cNvSpPr/>
          <p:nvPr/>
        </p:nvSpPr>
        <p:spPr>
          <a:xfrm>
            <a:off x="3296394" y="2256681"/>
            <a:ext cx="345877" cy="128141"/>
          </a:xfrm>
          <a:prstGeom prst="roundRect">
            <a:avLst>
              <a:gd name="adj" fmla="val 16849"/>
            </a:avLst>
          </a:prstGeom>
          <a:gradFill rotWithShape="1">
            <a:gsLst>
              <a:gs pos="0">
                <a:srgbClr val="38BDF8">
                  <a:alpha val="30000"/>
                </a:srgbClr>
              </a:gs>
              <a:gs pos="100000">
                <a:srgbClr val="38BDF8">
                  <a:alpha val="1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1"/>
          <p:cNvSpPr/>
          <p:nvPr/>
        </p:nvSpPr>
        <p:spPr>
          <a:xfrm>
            <a:off x="3663851" y="2256681"/>
            <a:ext cx="345877" cy="128141"/>
          </a:xfrm>
          <a:prstGeom prst="roundRect">
            <a:avLst>
              <a:gd name="adj" fmla="val 16849"/>
            </a:avLst>
          </a:prstGeom>
          <a:gradFill rotWithShape="1">
            <a:gsLst>
              <a:gs pos="0">
                <a:srgbClr val="38BDF8">
                  <a:alpha val="30000"/>
                </a:srgbClr>
              </a:gs>
              <a:gs pos="100000">
                <a:srgbClr val="38BDF8">
                  <a:alpha val="1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2"/>
          <p:cNvSpPr/>
          <p:nvPr/>
        </p:nvSpPr>
        <p:spPr>
          <a:xfrm>
            <a:off x="4031307" y="2256681"/>
            <a:ext cx="346025" cy="128141"/>
          </a:xfrm>
          <a:prstGeom prst="roundRect">
            <a:avLst>
              <a:gd name="adj" fmla="val 16849"/>
            </a:avLst>
          </a:prstGeom>
          <a:gradFill rotWithShape="1">
            <a:gsLst>
              <a:gs pos="0">
                <a:srgbClr val="38BDF8">
                  <a:alpha val="30000"/>
                </a:srgbClr>
              </a:gs>
              <a:gs pos="100000">
                <a:srgbClr val="38BDF8">
                  <a:alpha val="1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3"/>
          <p:cNvSpPr/>
          <p:nvPr/>
        </p:nvSpPr>
        <p:spPr>
          <a:xfrm>
            <a:off x="4398913" y="2256681"/>
            <a:ext cx="345877" cy="128141"/>
          </a:xfrm>
          <a:prstGeom prst="roundRect">
            <a:avLst>
              <a:gd name="adj" fmla="val 16849"/>
            </a:avLst>
          </a:prstGeom>
          <a:gradFill rotWithShape="1">
            <a:gsLst>
              <a:gs pos="0">
                <a:srgbClr val="38BDF8">
                  <a:alpha val="30000"/>
                </a:srgbClr>
              </a:gs>
              <a:gs pos="100000">
                <a:srgbClr val="38BDF8">
                  <a:alpha val="1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84"/>
          <p:cNvSpPr/>
          <p:nvPr/>
        </p:nvSpPr>
        <p:spPr>
          <a:xfrm>
            <a:off x="4766370" y="2256681"/>
            <a:ext cx="346025" cy="128141"/>
          </a:xfrm>
          <a:prstGeom prst="roundRect">
            <a:avLst>
              <a:gd name="adj" fmla="val 16849"/>
            </a:avLst>
          </a:prstGeom>
          <a:gradFill rotWithShape="1">
            <a:gsLst>
              <a:gs pos="0">
                <a:srgbClr val="38BDF8">
                  <a:alpha val="30000"/>
                </a:srgbClr>
              </a:gs>
              <a:gs pos="100000">
                <a:srgbClr val="38BDF8">
                  <a:alpha val="1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85"/>
          <p:cNvSpPr/>
          <p:nvPr/>
        </p:nvSpPr>
        <p:spPr>
          <a:xfrm>
            <a:off x="5133975" y="2256681"/>
            <a:ext cx="345877" cy="128141"/>
          </a:xfrm>
          <a:prstGeom prst="roundRect">
            <a:avLst>
              <a:gd name="adj" fmla="val 16849"/>
            </a:avLst>
          </a:prstGeom>
          <a:gradFill rotWithShape="1">
            <a:gsLst>
              <a:gs pos="0">
                <a:srgbClr val="38BDF8">
                  <a:alpha val="30000"/>
                </a:srgbClr>
              </a:gs>
              <a:gs pos="100000">
                <a:srgbClr val="38BDF8">
                  <a:alpha val="1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86"/>
          <p:cNvSpPr/>
          <p:nvPr/>
        </p:nvSpPr>
        <p:spPr>
          <a:xfrm>
            <a:off x="5501432" y="2256681"/>
            <a:ext cx="345877" cy="128141"/>
          </a:xfrm>
          <a:prstGeom prst="roundRect">
            <a:avLst>
              <a:gd name="adj" fmla="val 16849"/>
            </a:avLst>
          </a:prstGeom>
          <a:gradFill rotWithShape="1">
            <a:gsLst>
              <a:gs pos="0">
                <a:srgbClr val="38BDF8">
                  <a:alpha val="30000"/>
                </a:srgbClr>
              </a:gs>
              <a:gs pos="100000">
                <a:srgbClr val="38BDF8">
                  <a:alpha val="1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87"/>
          <p:cNvSpPr/>
          <p:nvPr/>
        </p:nvSpPr>
        <p:spPr>
          <a:xfrm>
            <a:off x="3296394" y="2406402"/>
            <a:ext cx="345877" cy="128141"/>
          </a:xfrm>
          <a:prstGeom prst="roundRect">
            <a:avLst>
              <a:gd name="adj" fmla="val 16849"/>
            </a:avLst>
          </a:prstGeom>
          <a:gradFill rotWithShape="1">
            <a:gsLst>
              <a:gs pos="0">
                <a:srgbClr val="38BDF8">
                  <a:alpha val="25000"/>
                </a:srgbClr>
              </a:gs>
              <a:gs pos="100000">
                <a:srgbClr val="38BDF8">
                  <a:alpha val="8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88"/>
          <p:cNvSpPr/>
          <p:nvPr/>
        </p:nvSpPr>
        <p:spPr>
          <a:xfrm>
            <a:off x="3663851" y="2406402"/>
            <a:ext cx="345877" cy="128141"/>
          </a:xfrm>
          <a:prstGeom prst="roundRect">
            <a:avLst>
              <a:gd name="adj" fmla="val 16849"/>
            </a:avLst>
          </a:prstGeom>
          <a:gradFill rotWithShape="1">
            <a:gsLst>
              <a:gs pos="0">
                <a:srgbClr val="38BDF8">
                  <a:alpha val="25000"/>
                </a:srgbClr>
              </a:gs>
              <a:gs pos="100000">
                <a:srgbClr val="38BDF8">
                  <a:alpha val="8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89"/>
          <p:cNvSpPr/>
          <p:nvPr/>
        </p:nvSpPr>
        <p:spPr>
          <a:xfrm>
            <a:off x="4031307" y="2406402"/>
            <a:ext cx="346025" cy="128141"/>
          </a:xfrm>
          <a:prstGeom prst="roundRect">
            <a:avLst>
              <a:gd name="adj" fmla="val 16849"/>
            </a:avLst>
          </a:prstGeom>
          <a:gradFill rotWithShape="1">
            <a:gsLst>
              <a:gs pos="0">
                <a:srgbClr val="38BDF8">
                  <a:alpha val="25000"/>
                </a:srgbClr>
              </a:gs>
              <a:gs pos="100000">
                <a:srgbClr val="38BDF8">
                  <a:alpha val="8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0"/>
          <p:cNvSpPr/>
          <p:nvPr/>
        </p:nvSpPr>
        <p:spPr>
          <a:xfrm>
            <a:off x="4398913" y="2406402"/>
            <a:ext cx="345877" cy="128141"/>
          </a:xfrm>
          <a:prstGeom prst="roundRect">
            <a:avLst>
              <a:gd name="adj" fmla="val 16849"/>
            </a:avLst>
          </a:prstGeom>
          <a:gradFill rotWithShape="1">
            <a:gsLst>
              <a:gs pos="0">
                <a:srgbClr val="38BDF8">
                  <a:alpha val="25000"/>
                </a:srgbClr>
              </a:gs>
              <a:gs pos="100000">
                <a:srgbClr val="38BDF8">
                  <a:alpha val="8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1"/>
          <p:cNvSpPr/>
          <p:nvPr/>
        </p:nvSpPr>
        <p:spPr>
          <a:xfrm>
            <a:off x="4766370" y="2406402"/>
            <a:ext cx="346025" cy="128141"/>
          </a:xfrm>
          <a:prstGeom prst="roundRect">
            <a:avLst>
              <a:gd name="adj" fmla="val 16849"/>
            </a:avLst>
          </a:prstGeom>
          <a:gradFill rotWithShape="1">
            <a:gsLst>
              <a:gs pos="0">
                <a:srgbClr val="38BDF8">
                  <a:alpha val="25000"/>
                </a:srgbClr>
              </a:gs>
              <a:gs pos="100000">
                <a:srgbClr val="38BDF8">
                  <a:alpha val="8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Text 92"/>
          <p:cNvSpPr/>
          <p:nvPr/>
        </p:nvSpPr>
        <p:spPr>
          <a:xfrm>
            <a:off x="5133975" y="2406402"/>
            <a:ext cx="345877" cy="128141"/>
          </a:xfrm>
          <a:prstGeom prst="roundRect">
            <a:avLst>
              <a:gd name="adj" fmla="val 16849"/>
            </a:avLst>
          </a:prstGeom>
          <a:gradFill rotWithShape="1">
            <a:gsLst>
              <a:gs pos="0">
                <a:srgbClr val="38BDF8">
                  <a:alpha val="25000"/>
                </a:srgbClr>
              </a:gs>
              <a:gs pos="100000">
                <a:srgbClr val="38BDF8">
                  <a:alpha val="8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3"/>
          <p:cNvSpPr/>
          <p:nvPr/>
        </p:nvSpPr>
        <p:spPr>
          <a:xfrm>
            <a:off x="5501432" y="2406402"/>
            <a:ext cx="345877" cy="128141"/>
          </a:xfrm>
          <a:prstGeom prst="roundRect">
            <a:avLst>
              <a:gd name="adj" fmla="val 16849"/>
            </a:avLst>
          </a:prstGeom>
          <a:gradFill rotWithShape="1">
            <a:gsLst>
              <a:gs pos="0">
                <a:srgbClr val="38BDF8">
                  <a:alpha val="25000"/>
                </a:srgbClr>
              </a:gs>
              <a:gs pos="100000">
                <a:srgbClr val="38BDF8">
                  <a:alpha val="8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94"/>
          <p:cNvSpPr/>
          <p:nvPr/>
        </p:nvSpPr>
        <p:spPr>
          <a:xfrm>
            <a:off x="3296394" y="2591693"/>
            <a:ext cx="53599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Vision scans</a:t>
            </a:r>
            <a:endParaRPr lang="en-US" sz="560" dirty="0"/>
          </a:p>
        </p:txBody>
      </p:sp>
      <p:sp>
        <p:nvSpPr>
          <p:cNvPr id="103" name="Text 95"/>
          <p:cNvSpPr/>
          <p:nvPr/>
        </p:nvSpPr>
        <p:spPr>
          <a:xfrm>
            <a:off x="5423297" y="2591693"/>
            <a:ext cx="46657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Text scans</a:t>
            </a:r>
            <a:endParaRPr lang="en-US" sz="560" dirty="0"/>
          </a:p>
        </p:txBody>
      </p:sp>
      <p:sp>
        <p:nvSpPr>
          <p:cNvPr id="104" name="Text 96"/>
          <p:cNvSpPr/>
          <p:nvPr/>
        </p:nvSpPr>
        <p:spPr>
          <a:xfrm>
            <a:off x="3210074" y="2769394"/>
            <a:ext cx="2723704" cy="382786"/>
          </a:xfrm>
          <a:prstGeom prst="roundRect">
            <a:avLst>
              <a:gd name="adj" fmla="val 14930"/>
            </a:avLst>
          </a:prstGeom>
          <a:solidFill>
            <a:srgbClr val="FFFFFF">
              <a:alpha val="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97"/>
          <p:cNvSpPr/>
          <p:nvPr/>
        </p:nvSpPr>
        <p:spPr>
          <a:xfrm>
            <a:off x="3210074" y="2769394"/>
            <a:ext cx="19050" cy="382786"/>
          </a:xfrm>
          <a:custGeom>
            <a:avLst/>
            <a:gdLst/>
            <a:ahLst/>
            <a:cxnLst/>
            <a:rect l="l" t="t" r="r" b="b"/>
            <a:pathLst>
              <a:path w="19050" h="382786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68233"/>
                </a:lnTo>
                <a:lnTo>
                  <a:pt x="16669" y="365977"/>
                </a:lnTo>
                <a:lnTo>
                  <a:pt x="14288" y="363437"/>
                </a:lnTo>
                <a:lnTo>
                  <a:pt x="11906" y="360552"/>
                </a:lnTo>
                <a:lnTo>
                  <a:pt x="9525" y="357227"/>
                </a:lnTo>
                <a:lnTo>
                  <a:pt x="7144" y="353304"/>
                </a:lnTo>
                <a:lnTo>
                  <a:pt x="4763" y="348476"/>
                </a:lnTo>
                <a:lnTo>
                  <a:pt x="2381" y="341961"/>
                </a:lnTo>
                <a:lnTo>
                  <a:pt x="0" y="325636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Text 98"/>
          <p:cNvSpPr/>
          <p:nvPr/>
        </p:nvSpPr>
        <p:spPr>
          <a:xfrm>
            <a:off x="3305413" y="2842617"/>
            <a:ext cx="220682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34D3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</a:t>
            </a:r>
            <a:endParaRPr lang="en-US" sz="1240" dirty="0"/>
          </a:p>
        </p:txBody>
      </p:sp>
      <p:sp>
        <p:nvSpPr>
          <p:cNvPr id="107" name="Text 99"/>
          <p:cNvSpPr/>
          <p:nvPr/>
        </p:nvSpPr>
        <p:spPr>
          <a:xfrm>
            <a:off x="3587055" y="2826544"/>
            <a:ext cx="148944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Scans</a:t>
            </a:r>
            <a:endParaRPr lang="en-US" sz="790" dirty="0"/>
          </a:p>
        </p:txBody>
      </p:sp>
      <p:sp>
        <p:nvSpPr>
          <p:cNvPr id="108" name="Text 100"/>
          <p:cNvSpPr/>
          <p:nvPr/>
        </p:nvSpPr>
        <p:spPr>
          <a:xfrm>
            <a:off x="3587055" y="2977009"/>
            <a:ext cx="148944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verification via vision pipeline</a:t>
            </a:r>
            <a:endParaRPr lang="en-US" sz="620" dirty="0"/>
          </a:p>
        </p:txBody>
      </p:sp>
      <p:sp>
        <p:nvSpPr>
          <p:cNvPr id="109" name="Text 101"/>
          <p:cNvSpPr/>
          <p:nvPr/>
        </p:nvSpPr>
        <p:spPr>
          <a:xfrm>
            <a:off x="3210074" y="3195340"/>
            <a:ext cx="2723704" cy="382786"/>
          </a:xfrm>
          <a:prstGeom prst="roundRect">
            <a:avLst>
              <a:gd name="adj" fmla="val 14930"/>
            </a:avLst>
          </a:prstGeom>
          <a:solidFill>
            <a:srgbClr val="FFFFFF">
              <a:alpha val="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Text 102"/>
          <p:cNvSpPr/>
          <p:nvPr/>
        </p:nvSpPr>
        <p:spPr>
          <a:xfrm>
            <a:off x="3210074" y="3195340"/>
            <a:ext cx="19050" cy="382786"/>
          </a:xfrm>
          <a:custGeom>
            <a:avLst/>
            <a:gdLst/>
            <a:ahLst/>
            <a:cxnLst/>
            <a:rect l="l" t="t" r="r" b="b"/>
            <a:pathLst>
              <a:path w="19050" h="382786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68233"/>
                </a:lnTo>
                <a:lnTo>
                  <a:pt x="16669" y="365977"/>
                </a:lnTo>
                <a:lnTo>
                  <a:pt x="14288" y="363437"/>
                </a:lnTo>
                <a:lnTo>
                  <a:pt x="11906" y="360552"/>
                </a:lnTo>
                <a:lnTo>
                  <a:pt x="9525" y="357227"/>
                </a:lnTo>
                <a:lnTo>
                  <a:pt x="7144" y="353304"/>
                </a:lnTo>
                <a:lnTo>
                  <a:pt x="4763" y="348476"/>
                </a:lnTo>
                <a:lnTo>
                  <a:pt x="2381" y="341961"/>
                </a:lnTo>
                <a:lnTo>
                  <a:pt x="0" y="325636"/>
                </a:lnTo>
                <a:close/>
              </a:path>
            </a:pathLst>
          </a:custGeom>
          <a:solidFill>
            <a:srgbClr val="A78B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Text 103"/>
          <p:cNvSpPr/>
          <p:nvPr/>
        </p:nvSpPr>
        <p:spPr>
          <a:xfrm>
            <a:off x="3305413" y="3268563"/>
            <a:ext cx="220682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</a:t>
            </a:r>
            <a:endParaRPr lang="en-US" sz="1240" dirty="0"/>
          </a:p>
        </p:txBody>
      </p:sp>
      <p:sp>
        <p:nvSpPr>
          <p:cNvPr id="112" name="Text 104"/>
          <p:cNvSpPr/>
          <p:nvPr/>
        </p:nvSpPr>
        <p:spPr>
          <a:xfrm>
            <a:off x="3587055" y="3252490"/>
            <a:ext cx="128594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Validations</a:t>
            </a:r>
            <a:endParaRPr lang="en-US" sz="790" dirty="0"/>
          </a:p>
        </p:txBody>
      </p:sp>
      <p:sp>
        <p:nvSpPr>
          <p:cNvPr id="113" name="Text 105"/>
          <p:cNvSpPr/>
          <p:nvPr/>
        </p:nvSpPr>
        <p:spPr>
          <a:xfrm>
            <a:off x="3587055" y="3402955"/>
            <a:ext cx="128594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Alt-text, font contrast, captions</a:t>
            </a:r>
            <a:endParaRPr lang="en-US" sz="620" dirty="0"/>
          </a:p>
        </p:txBody>
      </p:sp>
      <p:sp>
        <p:nvSpPr>
          <p:cNvPr id="114" name="Text 106"/>
          <p:cNvSpPr/>
          <p:nvPr/>
        </p:nvSpPr>
        <p:spPr>
          <a:xfrm>
            <a:off x="3210074" y="4501158"/>
            <a:ext cx="2723704" cy="493663"/>
          </a:xfrm>
          <a:prstGeom prst="roundRect">
            <a:avLst>
              <a:gd name="adj" fmla="val 115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 107"/>
          <p:cNvSpPr/>
          <p:nvPr/>
        </p:nvSpPr>
        <p:spPr>
          <a:xfrm>
            <a:off x="3319909" y="4581674"/>
            <a:ext cx="275443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PERCEPTION_PATHS =</a:t>
            </a:r>
            <a:endParaRPr lang="en-US" sz="620" dirty="0"/>
          </a:p>
        </p:txBody>
      </p:sp>
      <p:sp>
        <p:nvSpPr>
          <p:cNvPr id="116" name="Text 108"/>
          <p:cNvSpPr/>
          <p:nvPr/>
        </p:nvSpPr>
        <p:spPr>
          <a:xfrm>
            <a:off x="3319909" y="4759077"/>
            <a:ext cx="42925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 × 2)</a:t>
            </a:r>
            <a:endParaRPr lang="en-US" sz="730" dirty="0"/>
          </a:p>
        </p:txBody>
      </p:sp>
      <p:sp>
        <p:nvSpPr>
          <p:cNvPr id="117" name="Text 109"/>
          <p:cNvSpPr/>
          <p:nvPr/>
        </p:nvSpPr>
        <p:spPr>
          <a:xfrm>
            <a:off x="3753296" y="4759077"/>
            <a:ext cx="6139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730" dirty="0"/>
          </a:p>
        </p:txBody>
      </p:sp>
      <p:sp>
        <p:nvSpPr>
          <p:cNvPr id="118" name="Text 110"/>
          <p:cNvSpPr/>
          <p:nvPr/>
        </p:nvSpPr>
        <p:spPr>
          <a:xfrm>
            <a:off x="3852267" y="4759077"/>
            <a:ext cx="6139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730" dirty="0"/>
          </a:p>
        </p:txBody>
      </p:sp>
      <p:sp>
        <p:nvSpPr>
          <p:cNvPr id="119" name="Text 111"/>
          <p:cNvSpPr/>
          <p:nvPr/>
        </p:nvSpPr>
        <p:spPr>
          <a:xfrm>
            <a:off x="3951238" y="4759077"/>
            <a:ext cx="6139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730" dirty="0"/>
          </a:p>
        </p:txBody>
      </p:sp>
      <p:sp>
        <p:nvSpPr>
          <p:cNvPr id="120" name="Text 112"/>
          <p:cNvSpPr/>
          <p:nvPr/>
        </p:nvSpPr>
        <p:spPr>
          <a:xfrm>
            <a:off x="4050209" y="4759077"/>
            <a:ext cx="6139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730" dirty="0"/>
          </a:p>
        </p:txBody>
      </p:sp>
      <p:sp>
        <p:nvSpPr>
          <p:cNvPr id="121" name="Text 113"/>
          <p:cNvSpPr/>
          <p:nvPr/>
        </p:nvSpPr>
        <p:spPr>
          <a:xfrm>
            <a:off x="4149179" y="4759077"/>
            <a:ext cx="6139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730" dirty="0"/>
          </a:p>
        </p:txBody>
      </p:sp>
      <p:sp>
        <p:nvSpPr>
          <p:cNvPr id="122" name="Text 114"/>
          <p:cNvSpPr/>
          <p:nvPr/>
        </p:nvSpPr>
        <p:spPr>
          <a:xfrm>
            <a:off x="4248150" y="4742855"/>
            <a:ext cx="1514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900" dirty="0"/>
          </a:p>
        </p:txBody>
      </p:sp>
      <p:sp>
        <p:nvSpPr>
          <p:cNvPr id="123" name="Text 115"/>
          <p:cNvSpPr/>
          <p:nvPr/>
        </p:nvSpPr>
        <p:spPr>
          <a:xfrm>
            <a:off x="6077248" y="993725"/>
            <a:ext cx="2778329" cy="176361"/>
          </a:xfrm>
          <a:prstGeom prst="roundRect">
            <a:avLst>
              <a:gd name="adj" fmla="val 16563"/>
            </a:avLst>
          </a:prstGeom>
          <a:solidFill>
            <a:srgbClr val="FBBF24">
              <a:alpha val="10000"/>
            </a:srgbClr>
          </a:solidFill>
          <a:ln/>
        </p:spPr>
        <p:txBody>
          <a:bodyPr wrap="none" lIns="204698" tIns="29210" rIns="86360" bIns="29210" rtlCol="0" anchor="ctr"/>
          <a:lstStyle/>
          <a:p>
            <a:pPr algn="l" indent="0" marL="0">
              <a:buNone/>
            </a:pPr>
            <a:r>
              <a:rPr lang="en-US" sz="620" b="1" spc="8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DEPLOYMENT</a:t>
            </a:r>
            <a:endParaRPr lang="en-US" sz="620" dirty="0"/>
          </a:p>
        </p:txBody>
      </p:sp>
      <p:pic>
        <p:nvPicPr>
          <p:cNvPr id="1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34853" y="1015612"/>
            <a:ext cx="132588" cy="132588"/>
          </a:xfrm>
          <a:prstGeom prst="rect">
            <a:avLst/>
          </a:prstGeom>
        </p:spPr>
      </p:pic>
      <p:sp>
        <p:nvSpPr>
          <p:cNvPr id="125" name="Text 116"/>
          <p:cNvSpPr/>
          <p:nvPr/>
        </p:nvSpPr>
        <p:spPr>
          <a:xfrm>
            <a:off x="6077248" y="1327398"/>
            <a:ext cx="2723852" cy="760363"/>
          </a:xfrm>
          <a:prstGeom prst="roundRect">
            <a:avLst>
              <a:gd name="adj" fmla="val 9353"/>
            </a:avLst>
          </a:prstGeom>
          <a:solidFill>
            <a:srgbClr val="141D2F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Text 117"/>
          <p:cNvSpPr/>
          <p:nvPr/>
        </p:nvSpPr>
        <p:spPr>
          <a:xfrm>
            <a:off x="6077248" y="2174081"/>
            <a:ext cx="299623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spc="6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AI PRICING </a:t>
            </a:r>
            <a:pPr algn="l" indent="0" marL="0">
              <a:lnSpc>
                <a:spcPts val="1020"/>
              </a:lnSpc>
              <a:buNone/>
            </a:pPr>
            <a:r>
              <a:rPr lang="en-US" sz="560" spc="6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1M TOKENS</a:t>
            </a:r>
            <a:endParaRPr lang="en-US" sz="680" dirty="0"/>
          </a:p>
        </p:txBody>
      </p:sp>
      <p:sp>
        <p:nvSpPr>
          <p:cNvPr id="127" name="Text 118"/>
          <p:cNvSpPr/>
          <p:nvPr/>
        </p:nvSpPr>
        <p:spPr>
          <a:xfrm>
            <a:off x="6077248" y="2374553"/>
            <a:ext cx="2723852" cy="1054596"/>
          </a:xfrm>
          <a:prstGeom prst="roundRect">
            <a:avLst>
              <a:gd name="adj" fmla="val 6744"/>
            </a:avLst>
          </a:prstGeom>
          <a:solidFill>
            <a:srgbClr val="141D2F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Text 119"/>
          <p:cNvSpPr/>
          <p:nvPr/>
        </p:nvSpPr>
        <p:spPr>
          <a:xfrm>
            <a:off x="6077248" y="3500140"/>
            <a:ext cx="2723852" cy="1054745"/>
          </a:xfrm>
          <a:prstGeom prst="roundRect">
            <a:avLst>
              <a:gd name="adj" fmla="val 6743"/>
            </a:avLst>
          </a:prstGeom>
          <a:solidFill>
            <a:srgbClr val="141D2F"/>
          </a:solidFill>
          <a:ln w="9525">
            <a:solidFill>
              <a:srgbClr val="A78BFA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9" name="Text 120"/>
          <p:cNvSpPr/>
          <p:nvPr/>
        </p:nvSpPr>
        <p:spPr>
          <a:xfrm>
            <a:off x="6077248" y="4641205"/>
            <a:ext cx="2723852" cy="353616"/>
          </a:xfrm>
          <a:prstGeom prst="roundRect">
            <a:avLst>
              <a:gd name="adj" fmla="val 16162"/>
            </a:avLst>
          </a:prstGeom>
          <a:solidFill>
            <a:srgbClr val="38BDF8">
              <a:alpha val="4000"/>
            </a:srgbClr>
          </a:solidFill>
          <a:ln w="9525">
            <a:solidFill>
              <a:srgbClr val="38BDF8">
                <a:alpha val="15000"/>
              </a:srgbClr>
            </a:solidFill>
            <a:prstDash val="dash"/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44378" y="4686755"/>
            <a:ext cx="132588" cy="132588"/>
          </a:xfrm>
          <a:prstGeom prst="rect">
            <a:avLst/>
          </a:prstGeom>
        </p:spPr>
      </p:pic>
      <p:sp>
        <p:nvSpPr>
          <p:cNvPr id="131" name="Text 121"/>
          <p:cNvSpPr/>
          <p:nvPr/>
        </p:nvSpPr>
        <p:spPr>
          <a:xfrm>
            <a:off x="6305401" y="4707880"/>
            <a:ext cx="2447851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activates only 17B params per token — enabling 400B-class quality at fraction of compute cost</a:t>
            </a:r>
            <a:endParaRPr lang="en-US" sz="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285750"/>
            <a:ext cx="308315" cy="149870"/>
          </a:xfrm>
          <a:prstGeom prst="roundRect">
            <a:avLst>
              <a:gd name="adj" fmla="val 19490"/>
            </a:avLst>
          </a:prstGeom>
          <a:solidFill>
            <a:srgbClr val="38BDF8"/>
          </a:solidFill>
          <a:ln/>
        </p:spPr>
        <p:txBody>
          <a:bodyPr wrap="none" lIns="71120" tIns="21590" rIns="71120" bIns="21590" rtlCol="0" anchor="t"/>
          <a:lstStyle/>
          <a:p>
            <a:pPr algn="l" indent="0" marL="0">
              <a:buNone/>
            </a:pPr>
            <a:r>
              <a:rPr lang="en-US" sz="560" b="1" spc="110" kern="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731490" y="301675"/>
            <a:ext cx="140562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ENGINE</a:t>
            </a:r>
            <a:endParaRPr lang="en-US" sz="620" dirty="0"/>
          </a:p>
        </p:txBody>
      </p:sp>
      <p:sp>
        <p:nvSpPr>
          <p:cNvPr id="5" name="Text 3"/>
          <p:cNvSpPr/>
          <p:nvPr/>
        </p:nvSpPr>
        <p:spPr>
          <a:xfrm>
            <a:off x="342900" y="464790"/>
            <a:ext cx="9050274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35"/>
              </a:lnSpc>
              <a:spcAft>
                <a:spcPts val="340"/>
              </a:spcAft>
              <a:buNone/>
            </a:pPr>
            <a:r>
              <a:rPr lang="en-US" sz="203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Grok 4.20 </a:t>
            </a:r>
            <a:pPr algn="l" indent="0" marL="0">
              <a:lnSpc>
                <a:spcPts val="2335"/>
              </a:lnSpc>
              <a:spcAft>
                <a:spcPts val="340"/>
              </a:spcAft>
              <a:buNone/>
            </a:pPr>
            <a:r>
              <a:rPr lang="en-US" sz="203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Four-Agent Debate</a:t>
            </a:r>
            <a:endParaRPr lang="en-US" sz="2030" dirty="0"/>
          </a:p>
        </p:txBody>
      </p:sp>
      <p:sp>
        <p:nvSpPr>
          <p:cNvPr id="6" name="Text 4"/>
          <p:cNvSpPr/>
          <p:nvPr/>
        </p:nvSpPr>
        <p:spPr>
          <a:xfrm>
            <a:off x="342900" y="804267"/>
            <a:ext cx="4080510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5"/>
              </a:lnSpc>
              <a:spcAft>
                <a:spcPts val="1350"/>
              </a:spcAft>
              <a:buNone/>
            </a:pPr>
            <a:r>
              <a:rPr lang="en-US" sz="79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~3T MoE backbone with ~500B active parameters. LoRA persona adapters share base weights for </a:t>
            </a:r>
            <a:pPr algn="l" indent="0" marL="0">
              <a:lnSpc>
                <a:spcPts val="1185"/>
              </a:lnSpc>
              <a:spcAft>
                <a:spcPts val="1350"/>
              </a:spcAft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1.5–2.5×</a:t>
            </a:r>
            <a:pPr algn="l" indent="0" marL="0">
              <a:lnSpc>
                <a:spcPts val="1185"/>
              </a:lnSpc>
              <a:spcAft>
                <a:spcPts val="1350"/>
              </a:spcAft>
              <a:buNone/>
            </a:pPr>
            <a:r>
              <a:rPr lang="en-US" sz="79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cost vs. 4× independent models.</a:t>
            </a:r>
            <a:endParaRPr lang="en-US" sz="790" dirty="0"/>
          </a:p>
        </p:txBody>
      </p:sp>
      <p:sp>
        <p:nvSpPr>
          <p:cNvPr id="7" name="Text 5"/>
          <p:cNvSpPr/>
          <p:nvPr/>
        </p:nvSpPr>
        <p:spPr>
          <a:xfrm>
            <a:off x="464641" y="1276648"/>
            <a:ext cx="68709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8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ROLES</a:t>
            </a:r>
            <a:endParaRPr lang="en-US" sz="560" dirty="0"/>
          </a:p>
        </p:txBody>
      </p:sp>
      <p:sp>
        <p:nvSpPr>
          <p:cNvPr id="8" name="Text 6"/>
          <p:cNvSpPr/>
          <p:nvPr/>
        </p:nvSpPr>
        <p:spPr>
          <a:xfrm>
            <a:off x="342900" y="1540669"/>
            <a:ext cx="2214860" cy="492175"/>
          </a:xfrm>
          <a:prstGeom prst="roundRect">
            <a:avLst>
              <a:gd name="adj" fmla="val 14450"/>
            </a:avLst>
          </a:prstGeom>
          <a:solidFill>
            <a:srgbClr val="141D2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2900" y="1540669"/>
            <a:ext cx="19050" cy="492175"/>
          </a:xfrm>
          <a:custGeom>
            <a:avLst/>
            <a:gdLst/>
            <a:ahLst/>
            <a:cxnLst/>
            <a:rect l="l" t="t" r="r" b="b"/>
            <a:pathLst>
              <a:path w="19050" h="492175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69498"/>
                </a:lnTo>
                <a:lnTo>
                  <a:pt x="16669" y="466805"/>
                </a:lnTo>
                <a:lnTo>
                  <a:pt x="14288" y="463811"/>
                </a:lnTo>
                <a:lnTo>
                  <a:pt x="11906" y="460447"/>
                </a:lnTo>
                <a:lnTo>
                  <a:pt x="9525" y="456609"/>
                </a:lnTo>
                <a:lnTo>
                  <a:pt x="7144" y="452121"/>
                </a:lnTo>
                <a:lnTo>
                  <a:pt x="4763" y="446642"/>
                </a:lnTo>
                <a:lnTo>
                  <a:pt x="2381" y="439304"/>
                </a:lnTo>
                <a:lnTo>
                  <a:pt x="0" y="421055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4038" y="1645378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5553" y="1636514"/>
            <a:ext cx="69184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Captain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462260" y="1816150"/>
            <a:ext cx="2184231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decomposition &amp; final synthesis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342900" y="2119164"/>
            <a:ext cx="2214860" cy="492175"/>
          </a:xfrm>
          <a:prstGeom prst="roundRect">
            <a:avLst>
              <a:gd name="adj" fmla="val 14450"/>
            </a:avLst>
          </a:prstGeom>
          <a:solidFill>
            <a:srgbClr val="141D2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42900" y="2119164"/>
            <a:ext cx="19050" cy="492175"/>
          </a:xfrm>
          <a:custGeom>
            <a:avLst/>
            <a:gdLst/>
            <a:ahLst/>
            <a:cxnLst/>
            <a:rect l="l" t="t" r="r" b="b"/>
            <a:pathLst>
              <a:path w="19050" h="492175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69498"/>
                </a:lnTo>
                <a:lnTo>
                  <a:pt x="16669" y="466805"/>
                </a:lnTo>
                <a:lnTo>
                  <a:pt x="14288" y="463811"/>
                </a:lnTo>
                <a:lnTo>
                  <a:pt x="11906" y="460447"/>
                </a:lnTo>
                <a:lnTo>
                  <a:pt x="9525" y="456609"/>
                </a:lnTo>
                <a:lnTo>
                  <a:pt x="7144" y="452121"/>
                </a:lnTo>
                <a:lnTo>
                  <a:pt x="4763" y="446642"/>
                </a:lnTo>
                <a:lnTo>
                  <a:pt x="2381" y="439304"/>
                </a:lnTo>
                <a:lnTo>
                  <a:pt x="0" y="421055"/>
                </a:lnTo>
                <a:close/>
              </a:path>
            </a:pathLst>
          </a:custGeom>
          <a:solidFill>
            <a:srgbClr val="A78B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038" y="2223873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15553" y="2215009"/>
            <a:ext cx="355253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Harper</a:t>
            </a:r>
            <a:endParaRPr lang="en-US" sz="790" dirty="0"/>
          </a:p>
        </p:txBody>
      </p:sp>
      <p:sp>
        <p:nvSpPr>
          <p:cNvPr id="17" name="Text 13"/>
          <p:cNvSpPr/>
          <p:nvPr/>
        </p:nvSpPr>
        <p:spPr>
          <a:xfrm>
            <a:off x="462260" y="2394645"/>
            <a:ext cx="2184231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research &amp; web grounding</a:t>
            </a:r>
            <a:endParaRPr lang="en-US" sz="680" dirty="0"/>
          </a:p>
        </p:txBody>
      </p:sp>
      <p:sp>
        <p:nvSpPr>
          <p:cNvPr id="18" name="Text 14"/>
          <p:cNvSpPr/>
          <p:nvPr/>
        </p:nvSpPr>
        <p:spPr>
          <a:xfrm>
            <a:off x="342900" y="2697659"/>
            <a:ext cx="2214860" cy="492175"/>
          </a:xfrm>
          <a:prstGeom prst="roundRect">
            <a:avLst>
              <a:gd name="adj" fmla="val 14450"/>
            </a:avLst>
          </a:prstGeom>
          <a:solidFill>
            <a:srgbClr val="141D2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42900" y="2697659"/>
            <a:ext cx="19050" cy="492175"/>
          </a:xfrm>
          <a:custGeom>
            <a:avLst/>
            <a:gdLst/>
            <a:ahLst/>
            <a:cxnLst/>
            <a:rect l="l" t="t" r="r" b="b"/>
            <a:pathLst>
              <a:path w="19050" h="492175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69498"/>
                </a:lnTo>
                <a:lnTo>
                  <a:pt x="16669" y="466805"/>
                </a:lnTo>
                <a:lnTo>
                  <a:pt x="14288" y="463811"/>
                </a:lnTo>
                <a:lnTo>
                  <a:pt x="11906" y="460447"/>
                </a:lnTo>
                <a:lnTo>
                  <a:pt x="9525" y="456609"/>
                </a:lnTo>
                <a:lnTo>
                  <a:pt x="7144" y="452121"/>
                </a:lnTo>
                <a:lnTo>
                  <a:pt x="4763" y="446642"/>
                </a:lnTo>
                <a:lnTo>
                  <a:pt x="2381" y="439304"/>
                </a:lnTo>
                <a:lnTo>
                  <a:pt x="0" y="421055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038" y="2802368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5553" y="2793504"/>
            <a:ext cx="5022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Reasoner</a:t>
            </a:r>
            <a:endParaRPr lang="en-US" sz="790" dirty="0"/>
          </a:p>
        </p:txBody>
      </p:sp>
      <p:sp>
        <p:nvSpPr>
          <p:cNvPr id="22" name="Text 17"/>
          <p:cNvSpPr/>
          <p:nvPr/>
        </p:nvSpPr>
        <p:spPr>
          <a:xfrm>
            <a:off x="462260" y="2973139"/>
            <a:ext cx="2184231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logic &amp; structured inference</a:t>
            </a:r>
            <a:endParaRPr lang="en-US" sz="680" dirty="0"/>
          </a:p>
        </p:txBody>
      </p:sp>
      <p:sp>
        <p:nvSpPr>
          <p:cNvPr id="23" name="Text 18"/>
          <p:cNvSpPr/>
          <p:nvPr/>
        </p:nvSpPr>
        <p:spPr>
          <a:xfrm>
            <a:off x="342900" y="3276154"/>
            <a:ext cx="2214860" cy="492175"/>
          </a:xfrm>
          <a:prstGeom prst="roundRect">
            <a:avLst>
              <a:gd name="adj" fmla="val 14450"/>
            </a:avLst>
          </a:prstGeom>
          <a:solidFill>
            <a:srgbClr val="141D2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342900" y="3276154"/>
            <a:ext cx="19050" cy="492175"/>
          </a:xfrm>
          <a:custGeom>
            <a:avLst/>
            <a:gdLst/>
            <a:ahLst/>
            <a:cxnLst/>
            <a:rect l="l" t="t" r="r" b="b"/>
            <a:pathLst>
              <a:path w="19050" h="492175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69498"/>
                </a:lnTo>
                <a:lnTo>
                  <a:pt x="16669" y="466805"/>
                </a:lnTo>
                <a:lnTo>
                  <a:pt x="14288" y="463811"/>
                </a:lnTo>
                <a:lnTo>
                  <a:pt x="11906" y="460447"/>
                </a:lnTo>
                <a:lnTo>
                  <a:pt x="9525" y="456609"/>
                </a:lnTo>
                <a:lnTo>
                  <a:pt x="7144" y="452121"/>
                </a:lnTo>
                <a:lnTo>
                  <a:pt x="4763" y="446642"/>
                </a:lnTo>
                <a:lnTo>
                  <a:pt x="2381" y="439304"/>
                </a:lnTo>
                <a:lnTo>
                  <a:pt x="0" y="421055"/>
                </a:lnTo>
                <a:close/>
              </a:path>
            </a:pathLst>
          </a:custGeom>
          <a:solidFill>
            <a:srgbClr val="FB923C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038" y="3380863"/>
            <a:ext cx="132588" cy="1325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15553" y="3371999"/>
            <a:ext cx="28174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790" dirty="0"/>
          </a:p>
        </p:txBody>
      </p:sp>
      <p:sp>
        <p:nvSpPr>
          <p:cNvPr id="27" name="Text 21"/>
          <p:cNvSpPr/>
          <p:nvPr/>
        </p:nvSpPr>
        <p:spPr>
          <a:xfrm>
            <a:off x="462260" y="3551634"/>
            <a:ext cx="2184231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validation &amp; hallucination check</a:t>
            </a:r>
            <a:endParaRPr lang="en-US" sz="680" dirty="0"/>
          </a:p>
        </p:txBody>
      </p:sp>
      <p:sp>
        <p:nvSpPr>
          <p:cNvPr id="28" name="Text 22"/>
          <p:cNvSpPr/>
          <p:nvPr/>
        </p:nvSpPr>
        <p:spPr>
          <a:xfrm>
            <a:off x="3785890" y="1419523"/>
            <a:ext cx="1572220" cy="1572220"/>
          </a:xfrm>
          <a:prstGeom prst="ellipse">
            <a:avLst/>
          </a:prstGeom>
          <a:noFill/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4178945" y="1812578"/>
            <a:ext cx="786110" cy="786110"/>
          </a:xfrm>
          <a:prstGeom prst="ellipse">
            <a:avLst/>
          </a:prstGeom>
          <a:gradFill rotWithShape="1">
            <a:gsLst>
              <a:gs pos="0">
                <a:srgbClr val="38BDF8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371975" y="2005608"/>
            <a:ext cx="400050" cy="440055"/>
          </a:xfrm>
          <a:prstGeom prst="ellipse">
            <a:avLst/>
          </a:prstGeom>
          <a:gradFill rotWithShape="1">
            <a:gsLst>
              <a:gs pos="0">
                <a:srgbClr val="38BDF8">
                  <a:alpha val="35000"/>
                </a:srgbClr>
              </a:gs>
              <a:gs pos="70000">
                <a:srgbClr val="38BDF8">
                  <a:alpha val="8000"/>
                </a:srgbClr>
              </a:gs>
            </a:gsLst>
            <a:path path="circle">
              <a:fillToRect l="50000" t="50000" r="50000" b="50000"/>
            </a:path>
          </a:gradFill>
          <a:ln w="9525">
            <a:solidFill>
              <a:srgbClr val="38BDF8"/>
            </a:solidFill>
          </a:ln>
          <a:effectLst>
            <a:outerShdw sx="100000" sy="100000" kx="0" ky="0" algn="bl" rotWithShape="0" blurRad="214630" dist="50800" dir="16200000">
              <a:srgbClr val="38bdf8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0" b="1" spc="70" kern="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MOE</a:t>
            </a:r>
            <a:endParaRPr lang="en-US" sz="510" dirty="0"/>
          </a:p>
        </p:txBody>
      </p:sp>
      <p:sp>
        <p:nvSpPr>
          <p:cNvPr id="31" name="Text 25"/>
          <p:cNvSpPr/>
          <p:nvPr/>
        </p:nvSpPr>
        <p:spPr>
          <a:xfrm>
            <a:off x="3148161" y="3278088"/>
            <a:ext cx="855762" cy="266105"/>
          </a:xfrm>
          <a:prstGeom prst="roundRect">
            <a:avLst>
              <a:gd name="adj" fmla="val 16227"/>
            </a:avLst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18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3228677" y="3332411"/>
            <a:ext cx="49080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24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93.3%</a:t>
            </a:r>
            <a:endParaRPr lang="en-US" sz="1240" dirty="0"/>
          </a:p>
        </p:txBody>
      </p:sp>
      <p:sp>
        <p:nvSpPr>
          <p:cNvPr id="33" name="Text 27"/>
          <p:cNvSpPr/>
          <p:nvPr/>
        </p:nvSpPr>
        <p:spPr>
          <a:xfrm>
            <a:off x="3718024" y="3316784"/>
            <a:ext cx="209490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</a:t>
            </a:r>
            <a:br/>
            <a:pPr algn="l" indent="0" marL="0">
              <a:lnSpc>
                <a:spcPts val="744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620" dirty="0"/>
          </a:p>
        </p:txBody>
      </p:sp>
      <p:sp>
        <p:nvSpPr>
          <p:cNvPr id="34" name="Text 28"/>
          <p:cNvSpPr/>
          <p:nvPr/>
        </p:nvSpPr>
        <p:spPr>
          <a:xfrm>
            <a:off x="4118223" y="3278088"/>
            <a:ext cx="1060996" cy="266105"/>
          </a:xfrm>
          <a:prstGeom prst="roundRect">
            <a:avLst>
              <a:gd name="adj" fmla="val 16227"/>
            </a:avLst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18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4198739" y="3332411"/>
            <a:ext cx="44742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24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−65%</a:t>
            </a:r>
            <a:endParaRPr lang="en-US" sz="1240" dirty="0"/>
          </a:p>
        </p:txBody>
      </p:sp>
      <p:sp>
        <p:nvSpPr>
          <p:cNvPr id="36" name="Text 30"/>
          <p:cNvSpPr/>
          <p:nvPr/>
        </p:nvSpPr>
        <p:spPr>
          <a:xfrm>
            <a:off x="4648646" y="3316784"/>
            <a:ext cx="459057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br/>
            <a:pPr algn="l" indent="0" marL="0">
              <a:lnSpc>
                <a:spcPts val="744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620" dirty="0"/>
          </a:p>
        </p:txBody>
      </p:sp>
      <p:sp>
        <p:nvSpPr>
          <p:cNvPr id="37" name="Text 31"/>
          <p:cNvSpPr/>
          <p:nvPr/>
        </p:nvSpPr>
        <p:spPr>
          <a:xfrm>
            <a:off x="5293519" y="3278088"/>
            <a:ext cx="702320" cy="266105"/>
          </a:xfrm>
          <a:prstGeom prst="roundRect">
            <a:avLst>
              <a:gd name="adj" fmla="val 16227"/>
            </a:avLst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18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5374035" y="3332411"/>
            <a:ext cx="24049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24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2M</a:t>
            </a:r>
            <a:endParaRPr lang="en-US" sz="1240" dirty="0"/>
          </a:p>
        </p:txBody>
      </p:sp>
      <p:sp>
        <p:nvSpPr>
          <p:cNvPr id="39" name="Text 33"/>
          <p:cNvSpPr/>
          <p:nvPr/>
        </p:nvSpPr>
        <p:spPr>
          <a:xfrm>
            <a:off x="5635823" y="3316784"/>
            <a:ext cx="28508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br/>
            <a:pPr algn="l" indent="0" marL="0">
              <a:lnSpc>
                <a:spcPts val="744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20" dirty="0"/>
          </a:p>
        </p:txBody>
      </p:sp>
      <p:sp>
        <p:nvSpPr>
          <p:cNvPr id="40" name="Text 34"/>
          <p:cNvSpPr/>
          <p:nvPr/>
        </p:nvSpPr>
        <p:spPr>
          <a:xfrm>
            <a:off x="2729210" y="3658493"/>
            <a:ext cx="3685580" cy="973782"/>
          </a:xfrm>
          <a:prstGeom prst="roundRect">
            <a:avLst>
              <a:gd name="adj" fmla="val 7303"/>
            </a:avLst>
          </a:prstGeom>
          <a:solidFill>
            <a:srgbClr val="141D2F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2988618" y="3869978"/>
            <a:ext cx="82002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8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MFCS · 36 PATHS</a:t>
            </a:r>
            <a:endParaRPr lang="en-US" sz="560" dirty="0"/>
          </a:p>
        </p:txBody>
      </p:sp>
      <p:sp>
        <p:nvSpPr>
          <p:cNvPr id="42" name="Text 36"/>
          <p:cNvSpPr/>
          <p:nvPr/>
        </p:nvSpPr>
        <p:spPr>
          <a:xfrm>
            <a:off x="2866876" y="4076849"/>
            <a:ext cx="70991" cy="70991"/>
          </a:xfrm>
          <a:prstGeom prst="roundRect">
            <a:avLst>
              <a:gd name="adj" fmla="val 19679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2981027" y="4047679"/>
            <a:ext cx="125533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Action-Agent Dispatches</a:t>
            </a:r>
            <a:endParaRPr lang="en-US" sz="680" dirty="0"/>
          </a:p>
        </p:txBody>
      </p:sp>
      <p:sp>
        <p:nvSpPr>
          <p:cNvPr id="44" name="Text 38"/>
          <p:cNvSpPr/>
          <p:nvPr/>
        </p:nvSpPr>
        <p:spPr>
          <a:xfrm>
            <a:off x="4165402" y="4053334"/>
            <a:ext cx="77615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actions × 4 agents</a:t>
            </a:r>
            <a:endParaRPr lang="en-US" sz="620" dirty="0"/>
          </a:p>
        </p:txBody>
      </p:sp>
      <p:sp>
        <p:nvSpPr>
          <p:cNvPr id="45" name="Text 39"/>
          <p:cNvSpPr/>
          <p:nvPr/>
        </p:nvSpPr>
        <p:spPr>
          <a:xfrm>
            <a:off x="2866876" y="4249489"/>
            <a:ext cx="70991" cy="70991"/>
          </a:xfrm>
          <a:prstGeom prst="roundRect">
            <a:avLst>
              <a:gd name="adj" fmla="val 19679"/>
            </a:avLst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2981027" y="4220319"/>
            <a:ext cx="91121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Debate Resolution</a:t>
            </a:r>
            <a:endParaRPr lang="en-US" sz="680" dirty="0"/>
          </a:p>
        </p:txBody>
      </p:sp>
      <p:sp>
        <p:nvSpPr>
          <p:cNvPr id="47" name="Text 41"/>
          <p:cNvSpPr/>
          <p:nvPr/>
        </p:nvSpPr>
        <p:spPr>
          <a:xfrm>
            <a:off x="3852565" y="4225975"/>
            <a:ext cx="93233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convergence</a:t>
            </a:r>
            <a:endParaRPr lang="en-US" sz="620" dirty="0"/>
          </a:p>
        </p:txBody>
      </p:sp>
      <p:sp>
        <p:nvSpPr>
          <p:cNvPr id="48" name="Text 42"/>
          <p:cNvSpPr/>
          <p:nvPr/>
        </p:nvSpPr>
        <p:spPr>
          <a:xfrm>
            <a:off x="2866876" y="4422130"/>
            <a:ext cx="70991" cy="70991"/>
          </a:xfrm>
          <a:prstGeom prst="roundRect">
            <a:avLst>
              <a:gd name="adj" fmla="val 19679"/>
            </a:avLst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2981027" y="4392960"/>
            <a:ext cx="75863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CI Handshakes</a:t>
            </a:r>
            <a:endParaRPr lang="en-US" sz="680" dirty="0"/>
          </a:p>
        </p:txBody>
      </p:sp>
      <p:sp>
        <p:nvSpPr>
          <p:cNvPr id="50" name="Text 44"/>
          <p:cNvSpPr/>
          <p:nvPr/>
        </p:nvSpPr>
        <p:spPr>
          <a:xfrm>
            <a:off x="3713857" y="4398615"/>
            <a:ext cx="96573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test · seal · deploy</a:t>
            </a:r>
            <a:endParaRPr lang="en-US" sz="620" dirty="0"/>
          </a:p>
        </p:txBody>
      </p:sp>
      <p:sp>
        <p:nvSpPr>
          <p:cNvPr id="51" name="Text 45"/>
          <p:cNvSpPr/>
          <p:nvPr/>
        </p:nvSpPr>
        <p:spPr>
          <a:xfrm>
            <a:off x="5634633" y="4047679"/>
            <a:ext cx="642491" cy="57150"/>
          </a:xfrm>
          <a:prstGeom prst="roundRect">
            <a:avLst>
              <a:gd name="adj" fmla="val 51111"/>
            </a:avLst>
          </a:prstGeom>
          <a:gradFill rotWithShape="1">
            <a:gsLst>
              <a:gs pos="0">
                <a:srgbClr val="38BDF8"/>
              </a:gs>
              <a:gs pos="100000">
                <a:srgbClr val="38BDF8">
                  <a:alpha val="4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5634633" y="4133999"/>
            <a:ext cx="88702" cy="57150"/>
          </a:xfrm>
          <a:prstGeom prst="ellipse">
            <a:avLst/>
          </a:prstGeom>
          <a:gradFill rotWithShape="1">
            <a:gsLst>
              <a:gs pos="0">
                <a:srgbClr val="A78BFA"/>
              </a:gs>
              <a:gs pos="100000">
                <a:srgbClr val="A78BFA">
                  <a:alpha val="4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7"/>
          <p:cNvSpPr/>
          <p:nvPr/>
        </p:nvSpPr>
        <p:spPr>
          <a:xfrm>
            <a:off x="5634633" y="4220319"/>
            <a:ext cx="88702" cy="57150"/>
          </a:xfrm>
          <a:prstGeom prst="ellipse">
            <a:avLst/>
          </a:prstGeom>
          <a:gradFill rotWithShape="1">
            <a:gsLst>
              <a:gs pos="0">
                <a:srgbClr val="34D399"/>
              </a:gs>
              <a:gs pos="100000">
                <a:srgbClr val="34D399">
                  <a:alpha val="4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8"/>
          <p:cNvSpPr/>
          <p:nvPr/>
        </p:nvSpPr>
        <p:spPr>
          <a:xfrm>
            <a:off x="6707981" y="1378297"/>
            <a:ext cx="60032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8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PRICING</a:t>
            </a:r>
            <a:endParaRPr lang="en-US" sz="560" dirty="0"/>
          </a:p>
        </p:txBody>
      </p:sp>
      <p:sp>
        <p:nvSpPr>
          <p:cNvPr id="55" name="Text 49"/>
          <p:cNvSpPr/>
          <p:nvPr/>
        </p:nvSpPr>
        <p:spPr>
          <a:xfrm>
            <a:off x="6586240" y="1555998"/>
            <a:ext cx="2214860" cy="1784747"/>
          </a:xfrm>
          <a:prstGeom prst="roundRect">
            <a:avLst>
              <a:gd name="adj" fmla="val 3985"/>
            </a:avLst>
          </a:prstGeom>
          <a:solidFill>
            <a:srgbClr val="141D2F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>
            <a:off x="6710065" y="1665833"/>
            <a:ext cx="2006554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8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1M TOKENS (INPUT / CACHED / OUTPUT)</a:t>
            </a:r>
            <a:endParaRPr lang="en-US" sz="560" dirty="0"/>
          </a:p>
        </p:txBody>
      </p:sp>
      <p:sp>
        <p:nvSpPr>
          <p:cNvPr id="57" name="Text 51"/>
          <p:cNvSpPr/>
          <p:nvPr/>
        </p:nvSpPr>
        <p:spPr>
          <a:xfrm>
            <a:off x="6710065" y="1936403"/>
            <a:ext cx="1967210" cy="618679"/>
          </a:xfrm>
          <a:prstGeom prst="roundRect">
            <a:avLst>
              <a:gd name="adj" fmla="val 9237"/>
            </a:avLst>
          </a:prstGeom>
          <a:solidFill>
            <a:srgbClr val="38BDF8">
              <a:alpha val="6000"/>
            </a:srgbClr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2"/>
          <p:cNvSpPr/>
          <p:nvPr/>
        </p:nvSpPr>
        <p:spPr>
          <a:xfrm>
            <a:off x="6805910" y="2016919"/>
            <a:ext cx="52060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730" dirty="0"/>
          </a:p>
        </p:txBody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77557" y="2020053"/>
            <a:ext cx="132588" cy="132588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6796192" y="2185095"/>
            <a:ext cx="213806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</a:t>
            </a:r>
            <a:endParaRPr lang="en-US" sz="1010" dirty="0"/>
          </a:p>
        </p:txBody>
      </p:sp>
      <p:sp>
        <p:nvSpPr>
          <p:cNvPr id="61" name="Text 54"/>
          <p:cNvSpPr/>
          <p:nvPr/>
        </p:nvSpPr>
        <p:spPr>
          <a:xfrm>
            <a:off x="6796192" y="2377529"/>
            <a:ext cx="213806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65"/>
              </a:lnSpc>
              <a:buNone/>
            </a:pPr>
            <a:r>
              <a:rPr lang="en-US" sz="51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510" dirty="0"/>
          </a:p>
        </p:txBody>
      </p:sp>
      <p:sp>
        <p:nvSpPr>
          <p:cNvPr id="62" name="Text 55"/>
          <p:cNvSpPr/>
          <p:nvPr/>
        </p:nvSpPr>
        <p:spPr>
          <a:xfrm>
            <a:off x="7072930" y="2185095"/>
            <a:ext cx="300737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</a:t>
            </a:r>
            <a:endParaRPr lang="en-US" sz="1010" dirty="0"/>
          </a:p>
        </p:txBody>
      </p:sp>
      <p:sp>
        <p:nvSpPr>
          <p:cNvPr id="63" name="Text 56"/>
          <p:cNvSpPr/>
          <p:nvPr/>
        </p:nvSpPr>
        <p:spPr>
          <a:xfrm>
            <a:off x="7072930" y="2377529"/>
            <a:ext cx="300737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65"/>
              </a:lnSpc>
              <a:buNone/>
            </a:pPr>
            <a:r>
              <a:rPr lang="en-US" sz="51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</a:t>
            </a:r>
            <a:endParaRPr lang="en-US" sz="510" dirty="0"/>
          </a:p>
        </p:txBody>
      </p:sp>
      <p:sp>
        <p:nvSpPr>
          <p:cNvPr id="64" name="Text 57"/>
          <p:cNvSpPr/>
          <p:nvPr/>
        </p:nvSpPr>
        <p:spPr>
          <a:xfrm>
            <a:off x="7433005" y="2185095"/>
            <a:ext cx="29287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</a:t>
            </a:r>
            <a:endParaRPr lang="en-US" sz="1010" dirty="0"/>
          </a:p>
        </p:txBody>
      </p:sp>
      <p:sp>
        <p:nvSpPr>
          <p:cNvPr id="65" name="Text 58"/>
          <p:cNvSpPr/>
          <p:nvPr/>
        </p:nvSpPr>
        <p:spPr>
          <a:xfrm>
            <a:off x="7433005" y="2377529"/>
            <a:ext cx="292879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65"/>
              </a:lnSpc>
              <a:buNone/>
            </a:pPr>
            <a:r>
              <a:rPr lang="en-US" sz="51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510" dirty="0"/>
          </a:p>
        </p:txBody>
      </p:sp>
      <p:sp>
        <p:nvSpPr>
          <p:cNvPr id="66" name="Text 59"/>
          <p:cNvSpPr/>
          <p:nvPr/>
        </p:nvSpPr>
        <p:spPr>
          <a:xfrm>
            <a:off x="6710065" y="2612231"/>
            <a:ext cx="1967210" cy="618679"/>
          </a:xfrm>
          <a:prstGeom prst="roundRect">
            <a:avLst>
              <a:gd name="adj" fmla="val 9237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0"/>
          <p:cNvSpPr/>
          <p:nvPr/>
        </p:nvSpPr>
        <p:spPr>
          <a:xfrm>
            <a:off x="6805910" y="2692747"/>
            <a:ext cx="20938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730" dirty="0"/>
          </a:p>
        </p:txBody>
      </p:sp>
      <p:pic>
        <p:nvPicPr>
          <p:cNvPr id="6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7557" y="2695882"/>
            <a:ext cx="132588" cy="132588"/>
          </a:xfrm>
          <a:prstGeom prst="rect">
            <a:avLst/>
          </a:prstGeom>
        </p:spPr>
      </p:pic>
      <p:sp>
        <p:nvSpPr>
          <p:cNvPr id="69" name="Text 61"/>
          <p:cNvSpPr/>
          <p:nvPr/>
        </p:nvSpPr>
        <p:spPr>
          <a:xfrm>
            <a:off x="6789874" y="2860923"/>
            <a:ext cx="352797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$0.20</a:t>
            </a:r>
            <a:endParaRPr lang="en-US" sz="1010" dirty="0"/>
          </a:p>
        </p:txBody>
      </p:sp>
      <p:sp>
        <p:nvSpPr>
          <p:cNvPr id="70" name="Text 62"/>
          <p:cNvSpPr/>
          <p:nvPr/>
        </p:nvSpPr>
        <p:spPr>
          <a:xfrm>
            <a:off x="6789874" y="3053358"/>
            <a:ext cx="352797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65"/>
              </a:lnSpc>
              <a:buNone/>
            </a:pPr>
            <a:r>
              <a:rPr lang="en-US" sz="51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510" dirty="0"/>
          </a:p>
        </p:txBody>
      </p:sp>
      <p:sp>
        <p:nvSpPr>
          <p:cNvPr id="71" name="Text 63"/>
          <p:cNvSpPr/>
          <p:nvPr/>
        </p:nvSpPr>
        <p:spPr>
          <a:xfrm>
            <a:off x="7196919" y="2860923"/>
            <a:ext cx="352797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$0.20</a:t>
            </a:r>
            <a:endParaRPr lang="en-US" sz="1010" dirty="0"/>
          </a:p>
        </p:txBody>
      </p:sp>
      <p:sp>
        <p:nvSpPr>
          <p:cNvPr id="72" name="Text 64"/>
          <p:cNvSpPr/>
          <p:nvPr/>
        </p:nvSpPr>
        <p:spPr>
          <a:xfrm>
            <a:off x="7196919" y="3053358"/>
            <a:ext cx="352797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65"/>
              </a:lnSpc>
              <a:buNone/>
            </a:pPr>
            <a:r>
              <a:rPr lang="en-US" sz="51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</a:t>
            </a:r>
            <a:endParaRPr lang="en-US" sz="510" dirty="0"/>
          </a:p>
        </p:txBody>
      </p:sp>
      <p:sp>
        <p:nvSpPr>
          <p:cNvPr id="73" name="Text 65"/>
          <p:cNvSpPr/>
          <p:nvPr/>
        </p:nvSpPr>
        <p:spPr>
          <a:xfrm>
            <a:off x="7603964" y="2860923"/>
            <a:ext cx="352797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$0.50</a:t>
            </a:r>
            <a:endParaRPr lang="en-US" sz="1010" dirty="0"/>
          </a:p>
        </p:txBody>
      </p:sp>
      <p:sp>
        <p:nvSpPr>
          <p:cNvPr id="74" name="Text 66"/>
          <p:cNvSpPr/>
          <p:nvPr/>
        </p:nvSpPr>
        <p:spPr>
          <a:xfrm>
            <a:off x="7603964" y="3053358"/>
            <a:ext cx="352797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65"/>
              </a:lnSpc>
              <a:buNone/>
            </a:pPr>
            <a:r>
              <a:rPr lang="en-US" sz="51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510" dirty="0"/>
          </a:p>
        </p:txBody>
      </p:sp>
      <p:sp>
        <p:nvSpPr>
          <p:cNvPr id="75" name="Text 67"/>
          <p:cNvSpPr/>
          <p:nvPr/>
        </p:nvSpPr>
        <p:spPr>
          <a:xfrm>
            <a:off x="6707981" y="3542705"/>
            <a:ext cx="67072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8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560" dirty="0"/>
          </a:p>
        </p:txBody>
      </p:sp>
      <p:sp>
        <p:nvSpPr>
          <p:cNvPr id="76" name="Text 68"/>
          <p:cNvSpPr/>
          <p:nvPr/>
        </p:nvSpPr>
        <p:spPr>
          <a:xfrm>
            <a:off x="6586240" y="3720405"/>
            <a:ext cx="2214860" cy="1276350"/>
          </a:xfrm>
          <a:prstGeom prst="roundRect">
            <a:avLst>
              <a:gd name="adj" fmla="val 5572"/>
            </a:avLst>
          </a:prstGeom>
          <a:solidFill>
            <a:srgbClr val="141D2F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69"/>
          <p:cNvSpPr/>
          <p:nvPr/>
        </p:nvSpPr>
        <p:spPr>
          <a:xfrm>
            <a:off x="6710065" y="3873401"/>
            <a:ext cx="35421" cy="35421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0"/>
          <p:cNvSpPr/>
          <p:nvPr/>
        </p:nvSpPr>
        <p:spPr>
          <a:xfrm>
            <a:off x="6802636" y="3830241"/>
            <a:ext cx="1912132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Compatible</a:t>
            </a:r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OpenAI &amp; Anthropic SDKs</a:t>
            </a:r>
            <a:endParaRPr lang="en-US" sz="730" dirty="0"/>
          </a:p>
        </p:txBody>
      </p:sp>
      <p:sp>
        <p:nvSpPr>
          <p:cNvPr id="79" name="Text 71"/>
          <p:cNvSpPr/>
          <p:nvPr/>
        </p:nvSpPr>
        <p:spPr>
          <a:xfrm>
            <a:off x="6710065" y="4182368"/>
            <a:ext cx="35421" cy="35421"/>
          </a:xfrm>
          <a:prstGeom prst="ellipse">
            <a:avLst/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2"/>
          <p:cNvSpPr/>
          <p:nvPr/>
        </p:nvSpPr>
        <p:spPr>
          <a:xfrm>
            <a:off x="6802636" y="4139208"/>
            <a:ext cx="1961912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TTS</a:t>
            </a:r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5 voices with expressive tags</a:t>
            </a:r>
            <a:endParaRPr lang="en-US" sz="730" dirty="0"/>
          </a:p>
        </p:txBody>
      </p:sp>
      <p:sp>
        <p:nvSpPr>
          <p:cNvPr id="81" name="Text 73"/>
          <p:cNvSpPr/>
          <p:nvPr/>
        </p:nvSpPr>
        <p:spPr>
          <a:xfrm>
            <a:off x="6710065" y="4361557"/>
            <a:ext cx="35421" cy="35421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4"/>
          <p:cNvSpPr/>
          <p:nvPr/>
        </p:nvSpPr>
        <p:spPr>
          <a:xfrm>
            <a:off x="6802636" y="4318397"/>
            <a:ext cx="1912132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Adapters</a:t>
            </a:r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Shared base weights, persona-tuned</a:t>
            </a:r>
            <a:endParaRPr lang="en-US" sz="730" dirty="0"/>
          </a:p>
        </p:txBody>
      </p:sp>
      <p:sp>
        <p:nvSpPr>
          <p:cNvPr id="83" name="Text 75"/>
          <p:cNvSpPr/>
          <p:nvPr/>
        </p:nvSpPr>
        <p:spPr>
          <a:xfrm>
            <a:off x="6710065" y="4670524"/>
            <a:ext cx="35421" cy="35421"/>
          </a:xfrm>
          <a:prstGeom prst="ellipse">
            <a:avLst/>
          </a:prstGeom>
          <a:solidFill>
            <a:srgbClr val="FB923C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76"/>
          <p:cNvSpPr/>
          <p:nvPr/>
        </p:nvSpPr>
        <p:spPr>
          <a:xfrm>
            <a:off x="6802636" y="4627364"/>
            <a:ext cx="1912132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1.5–2.5× vs. 4× single-pass</a:t>
            </a:r>
            <a:endParaRPr lang="en-US" sz="730" dirty="0"/>
          </a:p>
        </p:txBody>
      </p:sp>
      <p:sp>
        <p:nvSpPr>
          <p:cNvPr id="85" name="Text 77"/>
          <p:cNvSpPr/>
          <p:nvPr/>
        </p:nvSpPr>
        <p:spPr>
          <a:xfrm>
            <a:off x="342900" y="1323082"/>
            <a:ext cx="86320" cy="13841"/>
          </a:xfrm>
          <a:prstGeom prst="roundRect">
            <a:avLst>
              <a:gd name="adj" fmla="val 55054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78"/>
          <p:cNvSpPr/>
          <p:nvPr/>
        </p:nvSpPr>
        <p:spPr>
          <a:xfrm>
            <a:off x="2866876" y="3916412"/>
            <a:ext cx="86320" cy="13841"/>
          </a:xfrm>
          <a:prstGeom prst="roundRect">
            <a:avLst>
              <a:gd name="adj" fmla="val 55054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79"/>
          <p:cNvSpPr/>
          <p:nvPr/>
        </p:nvSpPr>
        <p:spPr>
          <a:xfrm>
            <a:off x="6586240" y="1424732"/>
            <a:ext cx="86320" cy="13841"/>
          </a:xfrm>
          <a:prstGeom prst="roundRect">
            <a:avLst>
              <a:gd name="adj" fmla="val 55054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0"/>
          <p:cNvSpPr/>
          <p:nvPr/>
        </p:nvSpPr>
        <p:spPr>
          <a:xfrm>
            <a:off x="6586240" y="3589139"/>
            <a:ext cx="86320" cy="13841"/>
          </a:xfrm>
          <a:prstGeom prst="roundRect">
            <a:avLst>
              <a:gd name="adj" fmla="val 55054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43015" y="1276648"/>
            <a:ext cx="1857970" cy="1857970"/>
          </a:xfrm>
          <a:prstGeom prst="rect">
            <a:avLst/>
          </a:prstGeom>
        </p:spPr>
      </p:pic>
      <p:sp>
        <p:nvSpPr>
          <p:cNvPr id="90" name="Text 81"/>
          <p:cNvSpPr/>
          <p:nvPr/>
        </p:nvSpPr>
        <p:spPr>
          <a:xfrm>
            <a:off x="4314825" y="1262807"/>
            <a:ext cx="514350" cy="514350"/>
          </a:xfrm>
          <a:prstGeom prst="ellipse">
            <a:avLst/>
          </a:prstGeom>
          <a:solidFill>
            <a:srgbClr val="0B1120"/>
          </a:solidFill>
          <a:ln w="9525">
            <a:solidFill>
              <a:srgbClr val="38BDF8"/>
            </a:solidFill>
          </a:ln>
          <a:effectLst>
            <a:outerShdw sx="100000" sy="100000" kx="0" ky="0" algn="bl" rotWithShape="0" blurRad="114300" dist="50800" dir="16200000">
              <a:srgbClr val="38bdf8">
                <a:alpha val="2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05632" y="1400928"/>
            <a:ext cx="132588" cy="132588"/>
          </a:xfrm>
          <a:prstGeom prst="rect">
            <a:avLst/>
          </a:prstGeom>
        </p:spPr>
      </p:pic>
      <p:sp>
        <p:nvSpPr>
          <p:cNvPr id="92" name="Text 82"/>
          <p:cNvSpPr/>
          <p:nvPr/>
        </p:nvSpPr>
        <p:spPr>
          <a:xfrm>
            <a:off x="4416772" y="1534864"/>
            <a:ext cx="341501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4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</a:t>
            </a:r>
            <a:endParaRPr lang="en-US" sz="480" dirty="0"/>
          </a:p>
        </p:txBody>
      </p:sp>
      <p:sp>
        <p:nvSpPr>
          <p:cNvPr id="93" name="Text 83"/>
          <p:cNvSpPr/>
          <p:nvPr/>
        </p:nvSpPr>
        <p:spPr>
          <a:xfrm>
            <a:off x="5015805" y="1948458"/>
            <a:ext cx="514350" cy="514350"/>
          </a:xfrm>
          <a:prstGeom prst="ellipse">
            <a:avLst/>
          </a:prstGeom>
          <a:solidFill>
            <a:srgbClr val="0B1120"/>
          </a:solidFill>
          <a:ln w="9525">
            <a:solidFill>
              <a:srgbClr val="A78BFA"/>
            </a:solidFill>
          </a:ln>
          <a:effectLst>
            <a:outerShdw sx="100000" sy="100000" kx="0" ky="0" algn="bl" rotWithShape="0" blurRad="114300" dist="50800" dir="16200000">
              <a:srgbClr val="a78bfa">
                <a:alpha val="2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4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06612" y="2086579"/>
            <a:ext cx="132588" cy="132588"/>
          </a:xfrm>
          <a:prstGeom prst="rect">
            <a:avLst/>
          </a:prstGeom>
        </p:spPr>
      </p:pic>
      <p:sp>
        <p:nvSpPr>
          <p:cNvPr id="95" name="Text 84"/>
          <p:cNvSpPr/>
          <p:nvPr/>
        </p:nvSpPr>
        <p:spPr>
          <a:xfrm>
            <a:off x="5125343" y="2220516"/>
            <a:ext cx="324803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48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HARPER</a:t>
            </a:r>
            <a:endParaRPr lang="en-US" sz="480" dirty="0"/>
          </a:p>
        </p:txBody>
      </p:sp>
      <p:sp>
        <p:nvSpPr>
          <p:cNvPr id="96" name="Text 85"/>
          <p:cNvSpPr/>
          <p:nvPr/>
        </p:nvSpPr>
        <p:spPr>
          <a:xfrm>
            <a:off x="4314825" y="2634109"/>
            <a:ext cx="514350" cy="514350"/>
          </a:xfrm>
          <a:prstGeom prst="ellipse">
            <a:avLst/>
          </a:prstGeom>
          <a:solidFill>
            <a:srgbClr val="0B1120"/>
          </a:solidFill>
          <a:ln w="9525">
            <a:solidFill>
              <a:srgbClr val="34D399"/>
            </a:solidFill>
          </a:ln>
          <a:effectLst>
            <a:outerShdw sx="100000" sy="100000" kx="0" ky="0" algn="bl" rotWithShape="0" blurRad="114300" dist="50800" dir="16200000">
              <a:srgbClr val="34d399">
                <a:alpha val="2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05632" y="2772230"/>
            <a:ext cx="132588" cy="132588"/>
          </a:xfrm>
          <a:prstGeom prst="rect">
            <a:avLst/>
          </a:prstGeom>
        </p:spPr>
      </p:pic>
      <p:sp>
        <p:nvSpPr>
          <p:cNvPr id="98" name="Text 86"/>
          <p:cNvSpPr/>
          <p:nvPr/>
        </p:nvSpPr>
        <p:spPr>
          <a:xfrm>
            <a:off x="4374059" y="2906167"/>
            <a:ext cx="435471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48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REASONER</a:t>
            </a:r>
            <a:endParaRPr lang="en-US" sz="480" dirty="0"/>
          </a:p>
        </p:txBody>
      </p:sp>
      <p:sp>
        <p:nvSpPr>
          <p:cNvPr id="99" name="Text 87"/>
          <p:cNvSpPr/>
          <p:nvPr/>
        </p:nvSpPr>
        <p:spPr>
          <a:xfrm>
            <a:off x="3613845" y="1948458"/>
            <a:ext cx="514350" cy="514350"/>
          </a:xfrm>
          <a:prstGeom prst="ellipse">
            <a:avLst/>
          </a:prstGeom>
          <a:solidFill>
            <a:srgbClr val="0B1120"/>
          </a:solidFill>
          <a:ln w="9525">
            <a:solidFill>
              <a:srgbClr val="FB923C"/>
            </a:solidFill>
          </a:ln>
          <a:effectLst>
            <a:outerShdw sx="100000" sy="100000" kx="0" ky="0" algn="bl" rotWithShape="0" blurRad="114300" dist="50800" dir="16200000">
              <a:srgbClr val="fb923c">
                <a:alpha val="2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0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04651" y="2086579"/>
            <a:ext cx="132588" cy="132588"/>
          </a:xfrm>
          <a:prstGeom prst="rect">
            <a:avLst/>
          </a:prstGeom>
        </p:spPr>
      </p:pic>
      <p:sp>
        <p:nvSpPr>
          <p:cNvPr id="101" name="Text 88"/>
          <p:cNvSpPr/>
          <p:nvPr/>
        </p:nvSpPr>
        <p:spPr>
          <a:xfrm>
            <a:off x="3750469" y="2220516"/>
            <a:ext cx="265212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48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4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8741" y="0"/>
            <a:ext cx="4215259" cy="38570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6780"/>
            <a:ext cx="4573191" cy="3286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1595" y="938361"/>
            <a:ext cx="4123734" cy="21580"/>
          </a:xfrm>
          <a:custGeom>
            <a:avLst/>
            <a:gdLst/>
            <a:ahLst/>
            <a:cxnLst/>
            <a:rect l="l" t="t" r="r" b="b"/>
            <a:pathLst>
              <a:path w="4123734" h="21580">
                <a:moveTo>
                  <a:pt x="86360" y="0"/>
                </a:moveTo>
                <a:lnTo>
                  <a:pt x="4037374" y="0"/>
                </a:lnTo>
                <a:lnTo>
                  <a:pt x="4058790" y="2698"/>
                </a:lnTo>
                <a:lnTo>
                  <a:pt x="4067420" y="5395"/>
                </a:lnTo>
                <a:lnTo>
                  <a:pt x="4073874" y="8093"/>
                </a:lnTo>
                <a:lnTo>
                  <a:pt x="4079174" y="10790"/>
                </a:lnTo>
                <a:lnTo>
                  <a:pt x="4083717" y="13488"/>
                </a:lnTo>
                <a:lnTo>
                  <a:pt x="4087709" y="16185"/>
                </a:lnTo>
                <a:lnTo>
                  <a:pt x="4091271" y="18883"/>
                </a:lnTo>
                <a:lnTo>
                  <a:pt x="409448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818C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4638675" y="938361"/>
            <a:ext cx="4123734" cy="21580"/>
          </a:xfrm>
          <a:custGeom>
            <a:avLst/>
            <a:gdLst/>
            <a:ahLst/>
            <a:cxnLst/>
            <a:rect l="l" t="t" r="r" b="b"/>
            <a:pathLst>
              <a:path w="4123734" h="21580">
                <a:moveTo>
                  <a:pt x="86360" y="0"/>
                </a:moveTo>
                <a:lnTo>
                  <a:pt x="4037374" y="0"/>
                </a:lnTo>
                <a:lnTo>
                  <a:pt x="4058790" y="2698"/>
                </a:lnTo>
                <a:lnTo>
                  <a:pt x="4067420" y="5395"/>
                </a:lnTo>
                <a:lnTo>
                  <a:pt x="4073874" y="8093"/>
                </a:lnTo>
                <a:lnTo>
                  <a:pt x="4079174" y="10790"/>
                </a:lnTo>
                <a:lnTo>
                  <a:pt x="4083717" y="13488"/>
                </a:lnTo>
                <a:lnTo>
                  <a:pt x="4087709" y="16185"/>
                </a:lnTo>
                <a:lnTo>
                  <a:pt x="4091271" y="18883"/>
                </a:lnTo>
                <a:lnTo>
                  <a:pt x="409448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34D399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381595" y="2711797"/>
            <a:ext cx="4123734" cy="21580"/>
          </a:xfrm>
          <a:custGeom>
            <a:avLst/>
            <a:gdLst/>
            <a:ahLst/>
            <a:cxnLst/>
            <a:rect l="l" t="t" r="r" b="b"/>
            <a:pathLst>
              <a:path w="4123734" h="21580">
                <a:moveTo>
                  <a:pt x="86360" y="0"/>
                </a:moveTo>
                <a:lnTo>
                  <a:pt x="4037374" y="0"/>
                </a:lnTo>
                <a:lnTo>
                  <a:pt x="4058790" y="2698"/>
                </a:lnTo>
                <a:lnTo>
                  <a:pt x="4067420" y="5395"/>
                </a:lnTo>
                <a:lnTo>
                  <a:pt x="4073874" y="8093"/>
                </a:lnTo>
                <a:lnTo>
                  <a:pt x="4079174" y="10790"/>
                </a:lnTo>
                <a:lnTo>
                  <a:pt x="4083717" y="13488"/>
                </a:lnTo>
                <a:lnTo>
                  <a:pt x="4087709" y="16185"/>
                </a:lnTo>
                <a:lnTo>
                  <a:pt x="4091271" y="18883"/>
                </a:lnTo>
                <a:lnTo>
                  <a:pt x="409448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A78BFA"/>
              </a:gs>
              <a:gs pos="100000">
                <a:srgbClr val="F472B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638675" y="2711797"/>
            <a:ext cx="4123734" cy="21580"/>
          </a:xfrm>
          <a:custGeom>
            <a:avLst/>
            <a:gdLst/>
            <a:ahLst/>
            <a:cxnLst/>
            <a:rect l="l" t="t" r="r" b="b"/>
            <a:pathLst>
              <a:path w="4123734" h="21580">
                <a:moveTo>
                  <a:pt x="86360" y="0"/>
                </a:moveTo>
                <a:lnTo>
                  <a:pt x="4037374" y="0"/>
                </a:lnTo>
                <a:lnTo>
                  <a:pt x="4058790" y="2698"/>
                </a:lnTo>
                <a:lnTo>
                  <a:pt x="4067420" y="5395"/>
                </a:lnTo>
                <a:lnTo>
                  <a:pt x="4073874" y="8093"/>
                </a:lnTo>
                <a:lnTo>
                  <a:pt x="4079174" y="10790"/>
                </a:lnTo>
                <a:lnTo>
                  <a:pt x="4083717" y="13488"/>
                </a:lnTo>
                <a:lnTo>
                  <a:pt x="4087709" y="16185"/>
                </a:lnTo>
                <a:lnTo>
                  <a:pt x="4091271" y="18883"/>
                </a:lnTo>
                <a:lnTo>
                  <a:pt x="409448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FBBF24"/>
              </a:gs>
              <a:gs pos="100000">
                <a:srgbClr val="FB923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72070" y="349448"/>
            <a:ext cx="314920" cy="314920"/>
          </a:xfrm>
          <a:prstGeom prst="roundRect">
            <a:avLst>
              <a:gd name="adj" fmla="val 27423"/>
            </a:avLst>
          </a:prstGeom>
          <a:gradFill rotWithShape="1">
            <a:gsLst>
              <a:gs pos="0">
                <a:srgbClr val="38BDF8"/>
              </a:gs>
              <a:gs pos="100000">
                <a:srgbClr val="818CF8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236" y="440615"/>
            <a:ext cx="132588" cy="132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1291" y="285750"/>
            <a:ext cx="4112371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spc="-30" kern="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Gemini 3.1 Pro — </a:t>
            </a:r>
            <a:pPr algn="l" indent="0" marL="0">
              <a:lnSpc>
                <a:spcPts val="2070"/>
              </a:lnSpc>
              <a:buNone/>
            </a:pPr>
            <a:r>
              <a:rPr lang="en-US" sz="1800" b="1" spc="-30" kern="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Reasoning at Scale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01291" y="577751"/>
            <a:ext cx="422767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spcBef>
                <a:spcPts val="230"/>
              </a:spcBef>
              <a:buNone/>
            </a:pPr>
            <a:r>
              <a:rPr lang="en-US" sz="79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verification engine · Natively multimodal · 1M context window</a:t>
            </a:r>
            <a:endParaRPr lang="en-US" sz="790" dirty="0"/>
          </a:p>
        </p:txBody>
      </p:sp>
      <p:sp>
        <p:nvSpPr>
          <p:cNvPr id="12" name="Text 7"/>
          <p:cNvSpPr/>
          <p:nvPr/>
        </p:nvSpPr>
        <p:spPr>
          <a:xfrm>
            <a:off x="372070" y="928836"/>
            <a:ext cx="4142780" cy="1659136"/>
          </a:xfrm>
          <a:prstGeom prst="roundRect">
            <a:avLst>
              <a:gd name="adj" fmla="val 5205"/>
            </a:avLst>
          </a:prstGeom>
          <a:solidFill>
            <a:srgbClr val="141D2F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525066" y="1095821"/>
            <a:ext cx="422046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14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560" dirty="0"/>
          </a:p>
        </p:txBody>
      </p:sp>
      <p:sp>
        <p:nvSpPr>
          <p:cNvPr id="14" name="Text 9"/>
          <p:cNvSpPr/>
          <p:nvPr/>
        </p:nvSpPr>
        <p:spPr>
          <a:xfrm>
            <a:off x="525066" y="1273522"/>
            <a:ext cx="4220468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Gemini 3 Pro Foundation</a:t>
            </a:r>
            <a:endParaRPr lang="en-US" sz="960" dirty="0"/>
          </a:p>
        </p:txBody>
      </p:sp>
      <p:sp>
        <p:nvSpPr>
          <p:cNvPr id="15" name="Text 10"/>
          <p:cNvSpPr/>
          <p:nvPr/>
        </p:nvSpPr>
        <p:spPr>
          <a:xfrm>
            <a:off x="525066" y="1490663"/>
            <a:ext cx="240491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24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1M</a:t>
            </a:r>
            <a:endParaRPr lang="en-US" sz="1240" dirty="0"/>
          </a:p>
        </p:txBody>
      </p:sp>
      <p:sp>
        <p:nvSpPr>
          <p:cNvPr id="16" name="Text 11"/>
          <p:cNvSpPr/>
          <p:nvPr/>
        </p:nvSpPr>
        <p:spPr>
          <a:xfrm>
            <a:off x="800844" y="1538288"/>
            <a:ext cx="527149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1451521" y="1490663"/>
            <a:ext cx="317599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240" b="1" dirty="0">
                <a:solidFill>
                  <a:srgbClr val="818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64K</a:t>
            </a:r>
            <a:endParaRPr lang="en-US" sz="1240" dirty="0"/>
          </a:p>
        </p:txBody>
      </p:sp>
      <p:sp>
        <p:nvSpPr>
          <p:cNvPr id="18" name="Text 13"/>
          <p:cNvSpPr/>
          <p:nvPr/>
        </p:nvSpPr>
        <p:spPr>
          <a:xfrm>
            <a:off x="1797397" y="1538288"/>
            <a:ext cx="586904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</a:t>
            </a:r>
            <a:endParaRPr lang="en-US" sz="700" dirty="0"/>
          </a:p>
        </p:txBody>
      </p:sp>
      <p:sp>
        <p:nvSpPr>
          <p:cNvPr id="19" name="Text 14"/>
          <p:cNvSpPr/>
          <p:nvPr/>
        </p:nvSpPr>
        <p:spPr>
          <a:xfrm>
            <a:off x="525066" y="1786979"/>
            <a:ext cx="414486" cy="189905"/>
          </a:xfrm>
          <a:prstGeom prst="roundRect">
            <a:avLst>
              <a:gd name="adj" fmla="val 75570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68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133" y="1806931"/>
            <a:ext cx="132588" cy="132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2712" y="1786979"/>
            <a:ext cx="567779" cy="189905"/>
          </a:xfrm>
          <a:prstGeom prst="roundRect">
            <a:avLst>
              <a:gd name="adj" fmla="val 75570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8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9779" y="1806931"/>
            <a:ext cx="132588" cy="132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93652" y="1786979"/>
            <a:ext cx="433685" cy="189905"/>
          </a:xfrm>
          <a:prstGeom prst="roundRect">
            <a:avLst>
              <a:gd name="adj" fmla="val 75570"/>
            </a:avLst>
          </a:prstGeom>
          <a:solidFill>
            <a:srgbClr val="F472B6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8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30719" y="1806931"/>
            <a:ext cx="132588" cy="1325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3979" y="2030611"/>
            <a:ext cx="1992362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 endpoint for agentic workflows</a:t>
            </a:r>
            <a:endParaRPr lang="en-US" sz="73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3523" y="2006659"/>
            <a:ext cx="132588" cy="13258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629150" y="928836"/>
            <a:ext cx="4142780" cy="1659136"/>
          </a:xfrm>
          <a:prstGeom prst="roundRect">
            <a:avLst>
              <a:gd name="adj" fmla="val 5205"/>
            </a:avLst>
          </a:prstGeom>
          <a:solidFill>
            <a:srgbClr val="141D2F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19"/>
          <p:cNvSpPr/>
          <p:nvPr/>
        </p:nvSpPr>
        <p:spPr>
          <a:xfrm>
            <a:off x="4782145" y="1095821"/>
            <a:ext cx="422046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14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560" dirty="0"/>
          </a:p>
        </p:txBody>
      </p:sp>
      <p:sp>
        <p:nvSpPr>
          <p:cNvPr id="29" name="Text 20"/>
          <p:cNvSpPr/>
          <p:nvPr/>
        </p:nvSpPr>
        <p:spPr>
          <a:xfrm>
            <a:off x="4782145" y="1273522"/>
            <a:ext cx="4220468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13 of 16 Industry Benchmarks</a:t>
            </a:r>
            <a:endParaRPr lang="en-US" sz="960" dirty="0"/>
          </a:p>
        </p:txBody>
      </p:sp>
      <p:sp>
        <p:nvSpPr>
          <p:cNvPr id="30" name="Text 21"/>
          <p:cNvSpPr/>
          <p:nvPr/>
        </p:nvSpPr>
        <p:spPr>
          <a:xfrm>
            <a:off x="4782145" y="1509713"/>
            <a:ext cx="494243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ARC-AGI-2</a:t>
            </a:r>
            <a:endParaRPr lang="en-US" sz="700" dirty="0"/>
          </a:p>
        </p:txBody>
      </p:sp>
      <p:sp>
        <p:nvSpPr>
          <p:cNvPr id="31" name="Text 22"/>
          <p:cNvSpPr/>
          <p:nvPr/>
        </p:nvSpPr>
        <p:spPr>
          <a:xfrm>
            <a:off x="7965430" y="1490663"/>
            <a:ext cx="66657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77.1%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+148%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4782145" y="1664494"/>
            <a:ext cx="3836789" cy="43160"/>
          </a:xfrm>
          <a:prstGeom prst="roundRect">
            <a:avLst>
              <a:gd name="adj" fmla="val 50023"/>
            </a:avLst>
          </a:prstGeom>
          <a:solidFill>
            <a:srgbClr val="8694B2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4"/>
          <p:cNvSpPr/>
          <p:nvPr/>
        </p:nvSpPr>
        <p:spPr>
          <a:xfrm>
            <a:off x="4782145" y="1664494"/>
            <a:ext cx="2958108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34D399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5"/>
          <p:cNvSpPr/>
          <p:nvPr/>
        </p:nvSpPr>
        <p:spPr>
          <a:xfrm>
            <a:off x="4782145" y="1769864"/>
            <a:ext cx="532388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700" dirty="0"/>
          </a:p>
        </p:txBody>
      </p:sp>
      <p:sp>
        <p:nvSpPr>
          <p:cNvPr id="35" name="Text 26"/>
          <p:cNvSpPr/>
          <p:nvPr/>
        </p:nvSpPr>
        <p:spPr>
          <a:xfrm>
            <a:off x="8255496" y="1750814"/>
            <a:ext cx="39978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11"/>
              </a:lnSpc>
              <a:buNone/>
            </a:pPr>
            <a:r>
              <a:rPr lang="en-US" sz="101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80.6%</a:t>
            </a:r>
            <a:endParaRPr lang="en-US" sz="1010" dirty="0"/>
          </a:p>
        </p:txBody>
      </p:sp>
      <p:sp>
        <p:nvSpPr>
          <p:cNvPr id="36" name="Text 27"/>
          <p:cNvSpPr/>
          <p:nvPr/>
        </p:nvSpPr>
        <p:spPr>
          <a:xfrm>
            <a:off x="4782145" y="1924645"/>
            <a:ext cx="3836789" cy="43160"/>
          </a:xfrm>
          <a:prstGeom prst="roundRect">
            <a:avLst>
              <a:gd name="adj" fmla="val 50023"/>
            </a:avLst>
          </a:prstGeom>
          <a:solidFill>
            <a:srgbClr val="8694B2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8"/>
          <p:cNvSpPr/>
          <p:nvPr/>
        </p:nvSpPr>
        <p:spPr>
          <a:xfrm>
            <a:off x="4782145" y="1924645"/>
            <a:ext cx="3092351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38BDF8"/>
              </a:gs>
              <a:gs pos="100000">
                <a:srgbClr val="818C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29"/>
          <p:cNvSpPr/>
          <p:nvPr/>
        </p:nvSpPr>
        <p:spPr>
          <a:xfrm>
            <a:off x="4782145" y="2030016"/>
            <a:ext cx="695444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 Diamond</a:t>
            </a:r>
            <a:endParaRPr lang="en-US" sz="700" dirty="0"/>
          </a:p>
        </p:txBody>
      </p:sp>
      <p:sp>
        <p:nvSpPr>
          <p:cNvPr id="39" name="Text 30"/>
          <p:cNvSpPr/>
          <p:nvPr/>
        </p:nvSpPr>
        <p:spPr>
          <a:xfrm>
            <a:off x="8255496" y="2010966"/>
            <a:ext cx="39978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11"/>
              </a:lnSpc>
              <a:buNone/>
            </a:pPr>
            <a:r>
              <a:rPr lang="en-US" sz="1010" b="1" dirty="0">
                <a:solidFill>
                  <a:srgbClr val="818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94.3%</a:t>
            </a:r>
            <a:endParaRPr lang="en-US" sz="1010" dirty="0"/>
          </a:p>
        </p:txBody>
      </p:sp>
      <p:sp>
        <p:nvSpPr>
          <p:cNvPr id="40" name="Text 31"/>
          <p:cNvSpPr/>
          <p:nvPr/>
        </p:nvSpPr>
        <p:spPr>
          <a:xfrm>
            <a:off x="4782145" y="2184797"/>
            <a:ext cx="3836789" cy="43160"/>
          </a:xfrm>
          <a:prstGeom prst="roundRect">
            <a:avLst>
              <a:gd name="adj" fmla="val 50023"/>
            </a:avLst>
          </a:prstGeom>
          <a:solidFill>
            <a:srgbClr val="8694B2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2"/>
          <p:cNvSpPr/>
          <p:nvPr/>
        </p:nvSpPr>
        <p:spPr>
          <a:xfrm>
            <a:off x="4782145" y="2184797"/>
            <a:ext cx="3618012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818CF8"/>
              </a:gs>
              <a:gs pos="100000">
                <a:srgbClr val="A78B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3"/>
          <p:cNvSpPr/>
          <p:nvPr/>
        </p:nvSpPr>
        <p:spPr>
          <a:xfrm>
            <a:off x="4901059" y="2285107"/>
            <a:ext cx="2212881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tokens, better results across all categories</a:t>
            </a:r>
            <a:endParaRPr lang="en-US" sz="730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50603" y="2261155"/>
            <a:ext cx="132588" cy="13258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372070" y="2702272"/>
            <a:ext cx="4142780" cy="1581150"/>
          </a:xfrm>
          <a:prstGeom prst="roundRect">
            <a:avLst>
              <a:gd name="adj" fmla="val 5462"/>
            </a:avLst>
          </a:prstGeom>
          <a:solidFill>
            <a:srgbClr val="141D2F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5"/>
          <p:cNvSpPr/>
          <p:nvPr/>
        </p:nvSpPr>
        <p:spPr>
          <a:xfrm>
            <a:off x="525066" y="2869257"/>
            <a:ext cx="422046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14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MFCS VERIFICATION ROLE</a:t>
            </a:r>
            <a:endParaRPr lang="en-US" sz="560" dirty="0"/>
          </a:p>
        </p:txBody>
      </p:sp>
      <p:sp>
        <p:nvSpPr>
          <p:cNvPr id="46" name="Text 36"/>
          <p:cNvSpPr/>
          <p:nvPr/>
        </p:nvSpPr>
        <p:spPr>
          <a:xfrm>
            <a:off x="525066" y="3046958"/>
            <a:ext cx="306708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3"/>
              </a:lnSpc>
              <a:buNone/>
            </a:pPr>
            <a:r>
              <a:rPr lang="en-US" sz="203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32</a:t>
            </a:r>
            <a:endParaRPr lang="en-US" sz="2030" dirty="0"/>
          </a:p>
        </p:txBody>
      </p:sp>
      <p:sp>
        <p:nvSpPr>
          <p:cNvPr id="47" name="Text 37"/>
          <p:cNvSpPr/>
          <p:nvPr/>
        </p:nvSpPr>
        <p:spPr>
          <a:xfrm>
            <a:off x="882700" y="3151733"/>
            <a:ext cx="1110288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paths</a:t>
            </a:r>
            <a:endParaRPr lang="en-US" sz="960" dirty="0"/>
          </a:p>
        </p:txBody>
      </p:sp>
      <p:sp>
        <p:nvSpPr>
          <p:cNvPr id="48" name="Text 38"/>
          <p:cNvSpPr/>
          <p:nvPr/>
        </p:nvSpPr>
        <p:spPr>
          <a:xfrm>
            <a:off x="525066" y="3416796"/>
            <a:ext cx="1240780" cy="513991"/>
          </a:xfrm>
          <a:prstGeom prst="roundRect">
            <a:avLst>
              <a:gd name="adj" fmla="val 11119"/>
            </a:avLst>
          </a:prstGeom>
          <a:solidFill>
            <a:srgbClr val="38BDF8">
              <a:alpha val="6000"/>
            </a:srgbClr>
          </a:solidFill>
          <a:ln w="9525">
            <a:solidFill>
              <a:srgbClr val="A78BFA">
                <a:alpha val="15000"/>
              </a:srgbClr>
            </a:solidFill>
          </a:ln>
        </p:spPr>
        <p:txBody>
          <a:bodyPr wrap="square" lIns="71120" tIns="57150" rIns="71120" bIns="57150" rtlCol="0" anchor="t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21</a:t>
            </a:r>
            <a:endParaRPr lang="en-US" sz="1240" dirty="0"/>
          </a:p>
          <a:p>
            <a:pPr algn="ctr" indent="0" marL="0">
              <a:buNone/>
            </a:pPr>
            <a:r>
              <a:rPr lang="en-US" sz="59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Spec-Verification</a:t>
            </a:r>
            <a:br/>
            <a:pPr algn="ctr" indent="0" marL="0">
              <a:buNone/>
            </a:pPr>
            <a:r>
              <a:rPr lang="en-US" sz="5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TLA+ × 3 levels</a:t>
            </a:r>
            <a:endParaRPr lang="en-US" sz="1240" dirty="0"/>
          </a:p>
        </p:txBody>
      </p:sp>
      <p:sp>
        <p:nvSpPr>
          <p:cNvPr id="49" name="Text 39"/>
          <p:cNvSpPr/>
          <p:nvPr/>
        </p:nvSpPr>
        <p:spPr>
          <a:xfrm>
            <a:off x="1822996" y="3416796"/>
            <a:ext cx="1240780" cy="513991"/>
          </a:xfrm>
          <a:prstGeom prst="roundRect">
            <a:avLst>
              <a:gd name="adj" fmla="val 11119"/>
            </a:avLst>
          </a:prstGeom>
          <a:solidFill>
            <a:srgbClr val="38BDF8">
              <a:alpha val="6000"/>
            </a:srgbClr>
          </a:solidFill>
          <a:ln w="9525">
            <a:solidFill>
              <a:srgbClr val="A78BFA">
                <a:alpha val="15000"/>
              </a:srgbClr>
            </a:solidFill>
          </a:ln>
        </p:spPr>
        <p:txBody>
          <a:bodyPr wrap="square" lIns="71120" tIns="57150" rIns="71120" bIns="57150" rtlCol="0" anchor="t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</a:t>
            </a:r>
            <a:endParaRPr lang="en-US" sz="1240" dirty="0"/>
          </a:p>
          <a:p>
            <a:pPr algn="ctr" indent="0" marL="0">
              <a:buNone/>
            </a:pPr>
            <a:r>
              <a:rPr lang="en-US" sz="59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Cross-Action</a:t>
            </a:r>
            <a:br/>
            <a:pPr algn="ctr" indent="0" marL="0">
              <a:buNone/>
            </a:pPr>
            <a:r>
              <a:rPr lang="en-US" sz="5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</a:t>
            </a:r>
            <a:endParaRPr lang="en-US" sz="1240" dirty="0"/>
          </a:p>
        </p:txBody>
      </p:sp>
      <p:sp>
        <p:nvSpPr>
          <p:cNvPr id="50" name="Text 40"/>
          <p:cNvSpPr/>
          <p:nvPr/>
        </p:nvSpPr>
        <p:spPr>
          <a:xfrm>
            <a:off x="3120926" y="3416796"/>
            <a:ext cx="1240780" cy="513991"/>
          </a:xfrm>
          <a:prstGeom prst="roundRect">
            <a:avLst>
              <a:gd name="adj" fmla="val 11119"/>
            </a:avLst>
          </a:prstGeom>
          <a:solidFill>
            <a:srgbClr val="38BDF8">
              <a:alpha val="6000"/>
            </a:srgbClr>
          </a:solidFill>
          <a:ln w="9525">
            <a:solidFill>
              <a:srgbClr val="A78BFA">
                <a:alpha val="15000"/>
              </a:srgbClr>
            </a:solidFill>
          </a:ln>
        </p:spPr>
        <p:txBody>
          <a:bodyPr wrap="square" lIns="71120" tIns="57150" rIns="71120" bIns="57150" rtlCol="0" anchor="t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472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240" dirty="0"/>
          </a:p>
          <a:p>
            <a:pPr algn="ctr" indent="0" marL="0">
              <a:buNone/>
            </a:pPr>
            <a:r>
              <a:rPr lang="en-US" sz="59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</a:t>
            </a:r>
            <a:br/>
            <a:pPr algn="ctr" indent="0" marL="0">
              <a:buNone/>
            </a:pPr>
            <a:r>
              <a:rPr lang="en-US" sz="5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</a:t>
            </a:r>
            <a:endParaRPr lang="en-US" sz="1240" dirty="0"/>
          </a:p>
        </p:txBody>
      </p:sp>
      <p:sp>
        <p:nvSpPr>
          <p:cNvPr id="51" name="Text 41"/>
          <p:cNvSpPr/>
          <p:nvPr/>
        </p:nvSpPr>
        <p:spPr>
          <a:xfrm>
            <a:off x="525066" y="3986808"/>
            <a:ext cx="432941" cy="174843"/>
          </a:xfrm>
          <a:prstGeom prst="roundRect">
            <a:avLst>
              <a:gd name="adj" fmla="val 16706"/>
            </a:avLst>
          </a:prstGeom>
          <a:solidFill>
            <a:srgbClr val="F472B6">
              <a:alpha val="10000"/>
            </a:srgbClr>
          </a:solidFill>
          <a:ln w="9525">
            <a:solidFill>
              <a:srgbClr val="F472B6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590" dirty="0"/>
          </a:p>
        </p:txBody>
      </p:sp>
      <p:sp>
        <p:nvSpPr>
          <p:cNvPr id="52" name="Text 42"/>
          <p:cNvSpPr/>
          <p:nvPr/>
        </p:nvSpPr>
        <p:spPr>
          <a:xfrm>
            <a:off x="1001167" y="3986808"/>
            <a:ext cx="520303" cy="174843"/>
          </a:xfrm>
          <a:prstGeom prst="roundRect">
            <a:avLst>
              <a:gd name="adj" fmla="val 16706"/>
            </a:avLst>
          </a:prstGeom>
          <a:solidFill>
            <a:srgbClr val="F472B6">
              <a:alpha val="10000"/>
            </a:srgbClr>
          </a:solidFill>
          <a:ln w="9525">
            <a:solidFill>
              <a:srgbClr val="F472B6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590" dirty="0"/>
          </a:p>
        </p:txBody>
      </p:sp>
      <p:sp>
        <p:nvSpPr>
          <p:cNvPr id="53" name="Text 43"/>
          <p:cNvSpPr/>
          <p:nvPr/>
        </p:nvSpPr>
        <p:spPr>
          <a:xfrm>
            <a:off x="1564630" y="3986808"/>
            <a:ext cx="599480" cy="174843"/>
          </a:xfrm>
          <a:prstGeom prst="roundRect">
            <a:avLst>
              <a:gd name="adj" fmla="val 16706"/>
            </a:avLst>
          </a:prstGeom>
          <a:solidFill>
            <a:srgbClr val="F472B6">
              <a:alpha val="10000"/>
            </a:srgbClr>
          </a:solidFill>
          <a:ln w="9525">
            <a:solidFill>
              <a:srgbClr val="F472B6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Deadlock-free</a:t>
            </a:r>
            <a:endParaRPr lang="en-US" sz="590" dirty="0"/>
          </a:p>
        </p:txBody>
      </p:sp>
      <p:sp>
        <p:nvSpPr>
          <p:cNvPr id="54" name="Text 44"/>
          <p:cNvSpPr/>
          <p:nvPr/>
        </p:nvSpPr>
        <p:spPr>
          <a:xfrm>
            <a:off x="2207270" y="3986808"/>
            <a:ext cx="624334" cy="174843"/>
          </a:xfrm>
          <a:prstGeom prst="roundRect">
            <a:avLst>
              <a:gd name="adj" fmla="val 16706"/>
            </a:avLst>
          </a:prstGeom>
          <a:solidFill>
            <a:srgbClr val="F472B6">
              <a:alpha val="10000"/>
            </a:srgbClr>
          </a:solidFill>
          <a:ln w="9525">
            <a:solidFill>
              <a:srgbClr val="F472B6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Starvation-free</a:t>
            </a:r>
            <a:endParaRPr lang="en-US" sz="590" dirty="0"/>
          </a:p>
        </p:txBody>
      </p:sp>
      <p:sp>
        <p:nvSpPr>
          <p:cNvPr id="55" name="Text 45"/>
          <p:cNvSpPr/>
          <p:nvPr/>
        </p:nvSpPr>
        <p:spPr>
          <a:xfrm>
            <a:off x="4629150" y="2702272"/>
            <a:ext cx="4142780" cy="1581150"/>
          </a:xfrm>
          <a:prstGeom prst="roundRect">
            <a:avLst>
              <a:gd name="adj" fmla="val 5462"/>
            </a:avLst>
          </a:prstGeom>
          <a:solidFill>
            <a:srgbClr val="141D2F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6"/>
          <p:cNvSpPr/>
          <p:nvPr/>
        </p:nvSpPr>
        <p:spPr>
          <a:xfrm>
            <a:off x="4782145" y="2869257"/>
            <a:ext cx="422046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14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PRICING</a:t>
            </a:r>
            <a:endParaRPr lang="en-US" sz="560" dirty="0"/>
          </a:p>
        </p:txBody>
      </p:sp>
      <p:sp>
        <p:nvSpPr>
          <p:cNvPr id="57" name="Text 47"/>
          <p:cNvSpPr/>
          <p:nvPr/>
        </p:nvSpPr>
        <p:spPr>
          <a:xfrm>
            <a:off x="4782145" y="3046958"/>
            <a:ext cx="238710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38"/>
              </a:lnSpc>
              <a:buNone/>
            </a:pPr>
            <a:r>
              <a:rPr lang="en-US" sz="1580" b="1" dirty="0">
                <a:solidFill>
                  <a:srgbClr val="FBBF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</a:t>
            </a:r>
            <a:endParaRPr lang="en-US" sz="1580" dirty="0"/>
          </a:p>
        </p:txBody>
      </p:sp>
      <p:sp>
        <p:nvSpPr>
          <p:cNvPr id="58" name="Text 48"/>
          <p:cNvSpPr/>
          <p:nvPr/>
        </p:nvSpPr>
        <p:spPr>
          <a:xfrm>
            <a:off x="5048399" y="3123158"/>
            <a:ext cx="30614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790" dirty="0"/>
          </a:p>
        </p:txBody>
      </p:sp>
      <p:sp>
        <p:nvSpPr>
          <p:cNvPr id="59" name="Text 49"/>
          <p:cNvSpPr/>
          <p:nvPr/>
        </p:nvSpPr>
        <p:spPr>
          <a:xfrm>
            <a:off x="5119390" y="3046958"/>
            <a:ext cx="357985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38"/>
              </a:lnSpc>
              <a:buNone/>
            </a:pPr>
            <a:r>
              <a:rPr lang="en-US" sz="1580" b="1" dirty="0">
                <a:solidFill>
                  <a:srgbClr val="FB92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$12</a:t>
            </a:r>
            <a:endParaRPr lang="en-US" sz="1580" dirty="0"/>
          </a:p>
        </p:txBody>
      </p:sp>
      <p:sp>
        <p:nvSpPr>
          <p:cNvPr id="60" name="Text 50"/>
          <p:cNvSpPr/>
          <p:nvPr/>
        </p:nvSpPr>
        <p:spPr>
          <a:xfrm>
            <a:off x="5510957" y="3132683"/>
            <a:ext cx="64534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1M tokens</a:t>
            </a:r>
            <a:endParaRPr lang="en-US" sz="730" dirty="0"/>
          </a:p>
        </p:txBody>
      </p:sp>
      <p:sp>
        <p:nvSpPr>
          <p:cNvPr id="61" name="Text 51"/>
          <p:cNvSpPr/>
          <p:nvPr/>
        </p:nvSpPr>
        <p:spPr>
          <a:xfrm>
            <a:off x="4782145" y="3359944"/>
            <a:ext cx="19236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620" dirty="0"/>
          </a:p>
        </p:txBody>
      </p:sp>
      <p:sp>
        <p:nvSpPr>
          <p:cNvPr id="62" name="Text 52"/>
          <p:cNvSpPr/>
          <p:nvPr/>
        </p:nvSpPr>
        <p:spPr>
          <a:xfrm>
            <a:off x="5000179" y="3404295"/>
            <a:ext cx="1648123" cy="29170"/>
          </a:xfrm>
          <a:prstGeom prst="roundRect">
            <a:avLst>
              <a:gd name="adj" fmla="val 47892"/>
            </a:avLst>
          </a:prstGeom>
          <a:solidFill>
            <a:srgbClr val="8694B2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3"/>
          <p:cNvSpPr/>
          <p:nvPr/>
        </p:nvSpPr>
        <p:spPr>
          <a:xfrm>
            <a:off x="5000179" y="3404295"/>
            <a:ext cx="230684" cy="29170"/>
          </a:xfrm>
          <a:prstGeom prst="roundRect">
            <a:avLst>
              <a:gd name="adj" fmla="val 47892"/>
            </a:avLst>
          </a:prstGeom>
          <a:solidFill>
            <a:srgbClr val="FBBF2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4"/>
          <p:cNvSpPr/>
          <p:nvPr/>
        </p:nvSpPr>
        <p:spPr>
          <a:xfrm>
            <a:off x="6691461" y="3359944"/>
            <a:ext cx="25964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620" dirty="0"/>
          </a:p>
        </p:txBody>
      </p:sp>
      <p:sp>
        <p:nvSpPr>
          <p:cNvPr id="65" name="Text 55"/>
          <p:cNvSpPr/>
          <p:nvPr/>
        </p:nvSpPr>
        <p:spPr>
          <a:xfrm>
            <a:off x="6970663" y="3404295"/>
            <a:ext cx="1648271" cy="29170"/>
          </a:xfrm>
          <a:prstGeom prst="roundRect">
            <a:avLst>
              <a:gd name="adj" fmla="val 47892"/>
            </a:avLst>
          </a:prstGeom>
          <a:solidFill>
            <a:srgbClr val="8694B2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56"/>
          <p:cNvSpPr/>
          <p:nvPr/>
        </p:nvSpPr>
        <p:spPr>
          <a:xfrm>
            <a:off x="6970663" y="3404295"/>
            <a:ext cx="1400919" cy="29170"/>
          </a:xfrm>
          <a:prstGeom prst="roundRect">
            <a:avLst>
              <a:gd name="adj" fmla="val 47892"/>
            </a:avLst>
          </a:prstGeom>
          <a:solidFill>
            <a:srgbClr val="FB923C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57"/>
          <p:cNvSpPr/>
          <p:nvPr/>
        </p:nvSpPr>
        <p:spPr>
          <a:xfrm>
            <a:off x="4795986" y="3578126"/>
            <a:ext cx="876300" cy="204639"/>
          </a:xfrm>
          <a:prstGeom prst="roundRect">
            <a:avLst>
              <a:gd name="adj" fmla="val 21101"/>
            </a:avLst>
          </a:prstGeom>
          <a:solidFill>
            <a:srgbClr val="FBBF24">
              <a:alpha val="10000"/>
            </a:srgbClr>
          </a:solidFill>
          <a:ln w="9525">
            <a:solidFill>
              <a:srgbClr val="FBBF24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650" dirty="0"/>
          </a:p>
        </p:txBody>
      </p:sp>
      <p:pic>
        <p:nvPicPr>
          <p:cNvPr id="68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33426" y="3606784"/>
            <a:ext cx="132588" cy="132588"/>
          </a:xfrm>
          <a:prstGeom prst="rect">
            <a:avLst/>
          </a:prstGeom>
        </p:spPr>
      </p:pic>
      <p:sp>
        <p:nvSpPr>
          <p:cNvPr id="69" name="Text 58"/>
          <p:cNvSpPr/>
          <p:nvPr/>
        </p:nvSpPr>
        <p:spPr>
          <a:xfrm>
            <a:off x="5729139" y="3578126"/>
            <a:ext cx="949672" cy="204639"/>
          </a:xfrm>
          <a:prstGeom prst="roundRect">
            <a:avLst>
              <a:gd name="adj" fmla="val 21101"/>
            </a:avLst>
          </a:prstGeom>
          <a:solidFill>
            <a:srgbClr val="FBBF24">
              <a:alpha val="10000"/>
            </a:srgbClr>
          </a:solidFill>
          <a:ln w="9525">
            <a:solidFill>
              <a:srgbClr val="FBBF24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Grounding</a:t>
            </a:r>
            <a:endParaRPr lang="en-US" sz="650" dirty="0"/>
          </a:p>
        </p:txBody>
      </p:sp>
      <p:pic>
        <p:nvPicPr>
          <p:cNvPr id="70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66578" y="3606784"/>
            <a:ext cx="132588" cy="132588"/>
          </a:xfrm>
          <a:prstGeom prst="rect">
            <a:avLst/>
          </a:prstGeom>
        </p:spPr>
      </p:pic>
      <p:sp>
        <p:nvSpPr>
          <p:cNvPr id="71" name="Text 59"/>
          <p:cNvSpPr/>
          <p:nvPr/>
        </p:nvSpPr>
        <p:spPr>
          <a:xfrm>
            <a:off x="6735663" y="3578126"/>
            <a:ext cx="858589" cy="204639"/>
          </a:xfrm>
          <a:prstGeom prst="roundRect">
            <a:avLst>
              <a:gd name="adj" fmla="val 21101"/>
            </a:avLst>
          </a:prstGeom>
          <a:solidFill>
            <a:srgbClr val="FBBF24">
              <a:alpha val="10000"/>
            </a:srgbClr>
          </a:solidFill>
          <a:ln w="9525">
            <a:solidFill>
              <a:srgbClr val="FBBF24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650" dirty="0"/>
          </a:p>
        </p:txBody>
      </p:sp>
      <p:sp>
        <p:nvSpPr>
          <p:cNvPr id="72" name="Text 60"/>
          <p:cNvSpPr/>
          <p:nvPr/>
        </p:nvSpPr>
        <p:spPr>
          <a:xfrm>
            <a:off x="7651105" y="3578126"/>
            <a:ext cx="803672" cy="204639"/>
          </a:xfrm>
          <a:prstGeom prst="roundRect">
            <a:avLst>
              <a:gd name="adj" fmla="val 21101"/>
            </a:avLst>
          </a:prstGeom>
          <a:solidFill>
            <a:srgbClr val="FBBF24">
              <a:alpha val="10000"/>
            </a:srgbClr>
          </a:solidFill>
          <a:ln w="9525">
            <a:solidFill>
              <a:srgbClr val="FBBF24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Caching</a:t>
            </a:r>
            <a:endParaRPr lang="en-US" sz="650" dirty="0"/>
          </a:p>
        </p:txBody>
      </p:sp>
      <p:sp>
        <p:nvSpPr>
          <p:cNvPr id="73" name="Text 61"/>
          <p:cNvSpPr/>
          <p:nvPr/>
        </p:nvSpPr>
        <p:spPr>
          <a:xfrm>
            <a:off x="4795986" y="3821013"/>
            <a:ext cx="331887" cy="204639"/>
          </a:xfrm>
          <a:prstGeom prst="roundRect">
            <a:avLst>
              <a:gd name="adj" fmla="val 21101"/>
            </a:avLst>
          </a:prstGeom>
          <a:solidFill>
            <a:srgbClr val="FBBF24">
              <a:alpha val="10000"/>
            </a:srgbClr>
          </a:solidFill>
          <a:ln w="9525">
            <a:solidFill>
              <a:srgbClr val="FBBF24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2070" y="352574"/>
            <a:ext cx="200620" cy="2006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3001" y="257770"/>
            <a:ext cx="3461692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spc="-30" kern="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Head-to-Head Deep Comparison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73001" y="522982"/>
            <a:ext cx="355874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spcBef>
                <a:spcPts val="110"/>
              </a:spcBef>
              <a:buNone/>
            </a:pPr>
            <a:r>
              <a:rPr lang="en-US" sz="730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Benchmark Matrix — Architecture, Performance &amp; Capabilities</a:t>
            </a:r>
            <a:endParaRPr lang="en-US" sz="730" dirty="0"/>
          </a:p>
        </p:txBody>
      </p:sp>
      <p:sp>
        <p:nvSpPr>
          <p:cNvPr id="5" name="Text 2"/>
          <p:cNvSpPr/>
          <p:nvPr/>
        </p:nvSpPr>
        <p:spPr>
          <a:xfrm>
            <a:off x="372070" y="762298"/>
            <a:ext cx="8399859" cy="3963144"/>
          </a:xfrm>
          <a:prstGeom prst="roundRect">
            <a:avLst>
              <a:gd name="adj" fmla="val 1795"/>
            </a:avLst>
          </a:prstGeom>
          <a:noFill/>
          <a:ln w="9525">
            <a:solidFill>
              <a:srgbClr val="8694B2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81595" y="771823"/>
            <a:ext cx="1143000" cy="370816"/>
          </a:xfrm>
          <a:prstGeom prst="rect">
            <a:avLst/>
          </a:prstGeom>
          <a:noFill/>
          <a:ln/>
        </p:spPr>
        <p:txBody>
          <a:bodyPr wrap="none" lIns="114300" tIns="71120" rIns="71120" bIns="71120" rtlCol="0" anchor="ctr"/>
          <a:lstStyle/>
          <a:p>
            <a:pPr algn="ctr" indent="0" marL="0">
              <a:buNone/>
            </a:pPr>
            <a:r>
              <a:rPr lang="en-US" sz="680" b="1" spc="60" kern="0" dirty="0">
                <a:solidFill>
                  <a:srgbClr val="8694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CATEGORY</a:t>
            </a:r>
            <a:endParaRPr lang="en-US" sz="680" dirty="0"/>
          </a:p>
        </p:txBody>
      </p:sp>
      <p:sp>
        <p:nvSpPr>
          <p:cNvPr id="7" name="Text 4"/>
          <p:cNvSpPr/>
          <p:nvPr/>
        </p:nvSpPr>
        <p:spPr>
          <a:xfrm>
            <a:off x="1524595" y="771823"/>
            <a:ext cx="2412504" cy="360015"/>
          </a:xfrm>
          <a:prstGeom prst="rect">
            <a:avLst/>
          </a:prstGeom>
          <a:solidFill>
            <a:srgbClr val="38BDF8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524595" y="771823"/>
            <a:ext cx="2412504" cy="19050"/>
          </a:xfrm>
          <a:prstGeom prst="rect">
            <a:avLst/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289274" y="921097"/>
            <a:ext cx="70991" cy="70991"/>
          </a:xfrm>
          <a:prstGeom prst="ellipse">
            <a:avLst/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410294" y="888950"/>
            <a:ext cx="798418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Meta · Llama 4</a:t>
            </a:r>
            <a:endParaRPr lang="en-US" sz="790" dirty="0"/>
          </a:p>
        </p:txBody>
      </p:sp>
      <p:sp>
        <p:nvSpPr>
          <p:cNvPr id="11" name="Text 8"/>
          <p:cNvSpPr/>
          <p:nvPr/>
        </p:nvSpPr>
        <p:spPr>
          <a:xfrm>
            <a:off x="3937099" y="771823"/>
            <a:ext cx="2412653" cy="360015"/>
          </a:xfrm>
          <a:prstGeom prst="rect">
            <a:avLst/>
          </a:prstGeom>
          <a:solidFill>
            <a:srgbClr val="38BDF8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937099" y="771823"/>
            <a:ext cx="2412653" cy="19050"/>
          </a:xfrm>
          <a:prstGeom prst="rect">
            <a:avLst/>
          </a:prstGeom>
          <a:solidFill>
            <a:srgbClr val="F9731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12655" y="921097"/>
            <a:ext cx="70991" cy="70991"/>
          </a:xfrm>
          <a:prstGeom prst="ellipse">
            <a:avLst/>
          </a:prstGeom>
          <a:solidFill>
            <a:srgbClr val="F9731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944762" y="888950"/>
            <a:ext cx="554489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F9731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xAI · Grok</a:t>
            </a:r>
            <a:endParaRPr lang="en-US" sz="790" dirty="0"/>
          </a:p>
        </p:txBody>
      </p:sp>
      <p:sp>
        <p:nvSpPr>
          <p:cNvPr id="15" name="Text 12"/>
          <p:cNvSpPr/>
          <p:nvPr/>
        </p:nvSpPr>
        <p:spPr>
          <a:xfrm>
            <a:off x="6349752" y="771823"/>
            <a:ext cx="2412653" cy="360015"/>
          </a:xfrm>
          <a:prstGeom prst="rect">
            <a:avLst/>
          </a:prstGeom>
          <a:solidFill>
            <a:srgbClr val="38BDF8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349752" y="771823"/>
            <a:ext cx="2412653" cy="19050"/>
          </a:xfrm>
          <a:prstGeom prst="rect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071568" y="921097"/>
            <a:ext cx="70991" cy="70991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188294" y="888950"/>
            <a:ext cx="892879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34D3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Google · Gemini</a:t>
            </a:r>
            <a:endParaRPr lang="en-US" sz="790" dirty="0"/>
          </a:p>
        </p:txBody>
      </p:sp>
      <p:sp>
        <p:nvSpPr>
          <p:cNvPr id="19" name="Text 16"/>
          <p:cNvSpPr/>
          <p:nvPr/>
        </p:nvSpPr>
        <p:spPr>
          <a:xfrm>
            <a:off x="381595" y="1131838"/>
            <a:ext cx="1143000" cy="604689"/>
          </a:xfrm>
          <a:prstGeom prst="rect">
            <a:avLst/>
          </a:prstGeom>
          <a:solidFill>
            <a:srgbClr val="8694B2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81595" y="1727002"/>
            <a:ext cx="1143000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905" y="1273522"/>
            <a:ext cx="143470" cy="14347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81905" y="1460004"/>
            <a:ext cx="887150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b="1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30" dirty="0"/>
          </a:p>
        </p:txBody>
      </p:sp>
      <p:sp>
        <p:nvSpPr>
          <p:cNvPr id="23" name="Text 19"/>
          <p:cNvSpPr/>
          <p:nvPr/>
        </p:nvSpPr>
        <p:spPr>
          <a:xfrm>
            <a:off x="1524595" y="1131838"/>
            <a:ext cx="2412504" cy="604689"/>
          </a:xfrm>
          <a:prstGeom prst="rect">
            <a:avLst/>
          </a:prstGeom>
          <a:solidFill>
            <a:srgbClr val="141D2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1524595" y="1727002"/>
            <a:ext cx="2412504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1624905" y="1223665"/>
            <a:ext cx="753070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· 17B / 2T</a:t>
            </a:r>
            <a:endParaRPr lang="en-US" sz="790" dirty="0"/>
          </a:p>
        </p:txBody>
      </p:sp>
      <p:sp>
        <p:nvSpPr>
          <p:cNvPr id="26" name="Text 22"/>
          <p:cNvSpPr/>
          <p:nvPr/>
        </p:nvSpPr>
        <p:spPr>
          <a:xfrm>
            <a:off x="1624905" y="1380530"/>
            <a:ext cx="1152198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17B active params, 2T total</a:t>
            </a:r>
            <a:endParaRPr lang="en-US" sz="680" dirty="0"/>
          </a:p>
        </p:txBody>
      </p:sp>
      <p:sp>
        <p:nvSpPr>
          <p:cNvPr id="27" name="Text 23"/>
          <p:cNvSpPr/>
          <p:nvPr/>
        </p:nvSpPr>
        <p:spPr>
          <a:xfrm>
            <a:off x="1624905" y="1518642"/>
            <a:ext cx="1016809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fusion architecture</a:t>
            </a:r>
            <a:endParaRPr lang="en-US" sz="680" dirty="0"/>
          </a:p>
        </p:txBody>
      </p:sp>
      <p:sp>
        <p:nvSpPr>
          <p:cNvPr id="28" name="Text 24"/>
          <p:cNvSpPr/>
          <p:nvPr/>
        </p:nvSpPr>
        <p:spPr>
          <a:xfrm>
            <a:off x="3937099" y="1131838"/>
            <a:ext cx="2412653" cy="604689"/>
          </a:xfrm>
          <a:prstGeom prst="rect">
            <a:avLst/>
          </a:prstGeom>
          <a:solidFill>
            <a:srgbClr val="141D2F">
              <a:alpha val="7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3937099" y="1727002"/>
            <a:ext cx="2412653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037409" y="1223665"/>
            <a:ext cx="786631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· ~3T total</a:t>
            </a:r>
            <a:endParaRPr lang="en-US" sz="790" dirty="0"/>
          </a:p>
        </p:txBody>
      </p:sp>
      <p:sp>
        <p:nvSpPr>
          <p:cNvPr id="31" name="Text 27"/>
          <p:cNvSpPr/>
          <p:nvPr/>
        </p:nvSpPr>
        <p:spPr>
          <a:xfrm>
            <a:off x="4037409" y="1380530"/>
            <a:ext cx="816590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scale MoE</a:t>
            </a:r>
            <a:endParaRPr lang="en-US" sz="680" dirty="0"/>
          </a:p>
        </p:txBody>
      </p:sp>
      <p:sp>
        <p:nvSpPr>
          <p:cNvPr id="32" name="Text 28"/>
          <p:cNvSpPr/>
          <p:nvPr/>
        </p:nvSpPr>
        <p:spPr>
          <a:xfrm>
            <a:off x="4037409" y="1518642"/>
            <a:ext cx="964421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4-agent debate system</a:t>
            </a:r>
            <a:endParaRPr lang="en-US" sz="680" dirty="0"/>
          </a:p>
        </p:txBody>
      </p:sp>
      <p:sp>
        <p:nvSpPr>
          <p:cNvPr id="33" name="Text 29"/>
          <p:cNvSpPr/>
          <p:nvPr/>
        </p:nvSpPr>
        <p:spPr>
          <a:xfrm>
            <a:off x="6349752" y="1131838"/>
            <a:ext cx="2412653" cy="604689"/>
          </a:xfrm>
          <a:prstGeom prst="rect">
            <a:avLst/>
          </a:prstGeom>
          <a:solidFill>
            <a:srgbClr val="141D2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6349752" y="1727002"/>
            <a:ext cx="2412653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450062" y="1223665"/>
            <a:ext cx="1004367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Transformer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6450062" y="1380530"/>
            <a:ext cx="1245349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dense architecture</a:t>
            </a:r>
            <a:endParaRPr lang="en-US" sz="680" dirty="0"/>
          </a:p>
        </p:txBody>
      </p:sp>
      <p:sp>
        <p:nvSpPr>
          <p:cNvPr id="37" name="Text 33"/>
          <p:cNvSpPr/>
          <p:nvPr/>
        </p:nvSpPr>
        <p:spPr>
          <a:xfrm>
            <a:off x="6450062" y="1518642"/>
            <a:ext cx="1159237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thinking levels</a:t>
            </a:r>
            <a:endParaRPr lang="en-US" sz="680" dirty="0"/>
          </a:p>
        </p:txBody>
      </p:sp>
      <p:sp>
        <p:nvSpPr>
          <p:cNvPr id="38" name="Text 34"/>
          <p:cNvSpPr/>
          <p:nvPr/>
        </p:nvSpPr>
        <p:spPr>
          <a:xfrm>
            <a:off x="381595" y="1736527"/>
            <a:ext cx="1143000" cy="637282"/>
          </a:xfrm>
          <a:prstGeom prst="rect">
            <a:avLst/>
          </a:prstGeom>
          <a:solidFill>
            <a:srgbClr val="8694B2">
              <a:alpha val="3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381595" y="2364284"/>
            <a:ext cx="1143000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5">
            <a:alphaModFix amt="6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905" y="1894582"/>
            <a:ext cx="143470" cy="14347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481905" y="2081064"/>
            <a:ext cx="679564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b="1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730" dirty="0"/>
          </a:p>
        </p:txBody>
      </p:sp>
      <p:sp>
        <p:nvSpPr>
          <p:cNvPr id="42" name="Text 37"/>
          <p:cNvSpPr/>
          <p:nvPr/>
        </p:nvSpPr>
        <p:spPr>
          <a:xfrm>
            <a:off x="1524595" y="1736527"/>
            <a:ext cx="2412504" cy="637282"/>
          </a:xfrm>
          <a:prstGeom prst="rect">
            <a:avLst/>
          </a:prstGeom>
          <a:solidFill>
            <a:srgbClr val="141D2F">
              <a:alpha val="5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1524595" y="2364284"/>
            <a:ext cx="2412504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1624905" y="1844576"/>
            <a:ext cx="967041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Multimodal</a:t>
            </a:r>
            <a:endParaRPr lang="en-US" sz="790" dirty="0"/>
          </a:p>
        </p:txBody>
      </p:sp>
      <p:sp>
        <p:nvSpPr>
          <p:cNvPr id="45" name="Text 40"/>
          <p:cNvSpPr/>
          <p:nvPr/>
        </p:nvSpPr>
        <p:spPr>
          <a:xfrm>
            <a:off x="1624905" y="2001441"/>
            <a:ext cx="979974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reasoning</a:t>
            </a:r>
            <a:endParaRPr lang="en-US" sz="680" dirty="0"/>
          </a:p>
        </p:txBody>
      </p:sp>
      <p:sp>
        <p:nvSpPr>
          <p:cNvPr id="46" name="Text 41"/>
          <p:cNvSpPr/>
          <p:nvPr/>
        </p:nvSpPr>
        <p:spPr>
          <a:xfrm>
            <a:off x="1624905" y="2139553"/>
            <a:ext cx="1030069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text + image logic</a:t>
            </a:r>
            <a:endParaRPr lang="en-US" sz="680" dirty="0"/>
          </a:p>
        </p:txBody>
      </p:sp>
      <p:sp>
        <p:nvSpPr>
          <p:cNvPr id="47" name="Text 42"/>
          <p:cNvSpPr/>
          <p:nvPr/>
        </p:nvSpPr>
        <p:spPr>
          <a:xfrm>
            <a:off x="3937099" y="1736527"/>
            <a:ext cx="2412653" cy="637282"/>
          </a:xfrm>
          <a:prstGeom prst="rect">
            <a:avLst/>
          </a:prstGeom>
          <a:solidFill>
            <a:srgbClr val="141D2F">
              <a:alpha val="3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3937099" y="2364284"/>
            <a:ext cx="2412653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4037409" y="1828354"/>
            <a:ext cx="614407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93.3% AIME</a:t>
            </a:r>
            <a:endParaRPr lang="en-US" sz="790" dirty="0"/>
          </a:p>
        </p:txBody>
      </p:sp>
      <p:sp>
        <p:nvSpPr>
          <p:cNvPr id="50" name="Text 45"/>
          <p:cNvSpPr/>
          <p:nvPr/>
        </p:nvSpPr>
        <p:spPr>
          <a:xfrm>
            <a:off x="4037409" y="1985218"/>
            <a:ext cx="1043330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hallucination rate</a:t>
            </a:r>
            <a:endParaRPr lang="en-US" sz="680" dirty="0"/>
          </a:p>
        </p:txBody>
      </p:sp>
      <p:sp>
        <p:nvSpPr>
          <p:cNvPr id="51" name="Text 46"/>
          <p:cNvSpPr/>
          <p:nvPr/>
        </p:nvSpPr>
        <p:spPr>
          <a:xfrm>
            <a:off x="4037409" y="2137172"/>
            <a:ext cx="720775" cy="148813"/>
          </a:xfrm>
          <a:prstGeom prst="roundRect">
            <a:avLst>
              <a:gd name="adj" fmla="val 19629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 CLASS</a:t>
            </a:r>
            <a:endParaRPr lang="en-US" sz="590" dirty="0"/>
          </a:p>
        </p:txBody>
      </p:sp>
      <p:sp>
        <p:nvSpPr>
          <p:cNvPr id="52" name="Text 47"/>
          <p:cNvSpPr/>
          <p:nvPr/>
        </p:nvSpPr>
        <p:spPr>
          <a:xfrm>
            <a:off x="6349752" y="1736527"/>
            <a:ext cx="2412653" cy="637282"/>
          </a:xfrm>
          <a:prstGeom prst="rect">
            <a:avLst/>
          </a:prstGeom>
          <a:solidFill>
            <a:srgbClr val="141D2F">
              <a:alpha val="5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8"/>
          <p:cNvSpPr/>
          <p:nvPr/>
        </p:nvSpPr>
        <p:spPr>
          <a:xfrm>
            <a:off x="6349752" y="2364284"/>
            <a:ext cx="2412653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9"/>
          <p:cNvSpPr/>
          <p:nvPr/>
        </p:nvSpPr>
        <p:spPr>
          <a:xfrm>
            <a:off x="6450062" y="1828354"/>
            <a:ext cx="908268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77.1% ARC-AGI-2</a:t>
            </a:r>
            <a:endParaRPr lang="en-US" sz="790" dirty="0"/>
          </a:p>
        </p:txBody>
      </p:sp>
      <p:sp>
        <p:nvSpPr>
          <p:cNvPr id="55" name="Text 50"/>
          <p:cNvSpPr/>
          <p:nvPr/>
        </p:nvSpPr>
        <p:spPr>
          <a:xfrm>
            <a:off x="6450062" y="1985218"/>
            <a:ext cx="969496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94.3% GPQA Diamond</a:t>
            </a:r>
            <a:endParaRPr lang="en-US" sz="680" dirty="0"/>
          </a:p>
        </p:txBody>
      </p:sp>
      <p:sp>
        <p:nvSpPr>
          <p:cNvPr id="56" name="Text 51"/>
          <p:cNvSpPr/>
          <p:nvPr/>
        </p:nvSpPr>
        <p:spPr>
          <a:xfrm>
            <a:off x="6450062" y="2137172"/>
            <a:ext cx="813643" cy="148813"/>
          </a:xfrm>
          <a:prstGeom prst="roundRect">
            <a:avLst>
              <a:gd name="adj" fmla="val 19629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BENCHMARK</a:t>
            </a:r>
            <a:endParaRPr lang="en-US" sz="590" dirty="0"/>
          </a:p>
        </p:txBody>
      </p:sp>
      <p:sp>
        <p:nvSpPr>
          <p:cNvPr id="57" name="Text 52"/>
          <p:cNvSpPr/>
          <p:nvPr/>
        </p:nvSpPr>
        <p:spPr>
          <a:xfrm>
            <a:off x="381595" y="2373809"/>
            <a:ext cx="1143000" cy="637282"/>
          </a:xfrm>
          <a:prstGeom prst="rect">
            <a:avLst/>
          </a:prstGeom>
          <a:solidFill>
            <a:srgbClr val="8694B2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3"/>
          <p:cNvSpPr/>
          <p:nvPr/>
        </p:nvSpPr>
        <p:spPr>
          <a:xfrm>
            <a:off x="381595" y="3001566"/>
            <a:ext cx="1143000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9" name="Image 3" descr="preencoded.png">    </p:cNvPr>
          <p:cNvPicPr>
            <a:picLocks noChangeAspect="1"/>
          </p:cNvPicPr>
          <p:nvPr/>
        </p:nvPicPr>
        <p:blipFill>
          <a:blip r:embed="rId7">
            <a:alphaModFix amt="6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1905" y="2531864"/>
            <a:ext cx="143470" cy="143470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481905" y="2718346"/>
            <a:ext cx="53549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b="1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30" dirty="0"/>
          </a:p>
        </p:txBody>
      </p:sp>
      <p:sp>
        <p:nvSpPr>
          <p:cNvPr id="61" name="Text 55"/>
          <p:cNvSpPr/>
          <p:nvPr/>
        </p:nvSpPr>
        <p:spPr>
          <a:xfrm>
            <a:off x="1524595" y="2373809"/>
            <a:ext cx="2412504" cy="637282"/>
          </a:xfrm>
          <a:prstGeom prst="rect">
            <a:avLst/>
          </a:prstGeom>
          <a:solidFill>
            <a:srgbClr val="141D2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6"/>
          <p:cNvSpPr/>
          <p:nvPr/>
        </p:nvSpPr>
        <p:spPr>
          <a:xfrm>
            <a:off x="1524595" y="3001566"/>
            <a:ext cx="2412504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7"/>
          <p:cNvSpPr/>
          <p:nvPr/>
        </p:nvSpPr>
        <p:spPr>
          <a:xfrm>
            <a:off x="1624905" y="2465636"/>
            <a:ext cx="600164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tokens</a:t>
            </a:r>
            <a:endParaRPr lang="en-US" sz="790" dirty="0"/>
          </a:p>
        </p:txBody>
      </p:sp>
      <p:sp>
        <p:nvSpPr>
          <p:cNvPr id="64" name="Text 58"/>
          <p:cNvSpPr/>
          <p:nvPr/>
        </p:nvSpPr>
        <p:spPr>
          <a:xfrm>
            <a:off x="1624905" y="2622500"/>
            <a:ext cx="764039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output window</a:t>
            </a:r>
            <a:endParaRPr lang="en-US" sz="680" dirty="0"/>
          </a:p>
        </p:txBody>
      </p:sp>
      <p:sp>
        <p:nvSpPr>
          <p:cNvPr id="65" name="Text 59"/>
          <p:cNvSpPr/>
          <p:nvPr/>
        </p:nvSpPr>
        <p:spPr>
          <a:xfrm>
            <a:off x="1624905" y="2774454"/>
            <a:ext cx="892225" cy="148813"/>
          </a:xfrm>
          <a:prstGeom prst="roundRect">
            <a:avLst>
              <a:gd name="adj" fmla="val 19629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CONTEXT</a:t>
            </a:r>
            <a:endParaRPr lang="en-US" sz="590" dirty="0"/>
          </a:p>
        </p:txBody>
      </p:sp>
      <p:sp>
        <p:nvSpPr>
          <p:cNvPr id="66" name="Text 60"/>
          <p:cNvSpPr/>
          <p:nvPr/>
        </p:nvSpPr>
        <p:spPr>
          <a:xfrm>
            <a:off x="3937099" y="2373809"/>
            <a:ext cx="2412653" cy="637282"/>
          </a:xfrm>
          <a:prstGeom prst="rect">
            <a:avLst/>
          </a:prstGeom>
          <a:solidFill>
            <a:srgbClr val="141D2F">
              <a:alpha val="7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1"/>
          <p:cNvSpPr/>
          <p:nvPr/>
        </p:nvSpPr>
        <p:spPr>
          <a:xfrm>
            <a:off x="3937099" y="3001566"/>
            <a:ext cx="2412653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2"/>
          <p:cNvSpPr/>
          <p:nvPr/>
        </p:nvSpPr>
        <p:spPr>
          <a:xfrm>
            <a:off x="4037409" y="2550914"/>
            <a:ext cx="538936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tokens</a:t>
            </a:r>
            <a:endParaRPr lang="en-US" sz="790" dirty="0"/>
          </a:p>
        </p:txBody>
      </p:sp>
      <p:sp>
        <p:nvSpPr>
          <p:cNvPr id="69" name="Text 63"/>
          <p:cNvSpPr/>
          <p:nvPr/>
        </p:nvSpPr>
        <p:spPr>
          <a:xfrm>
            <a:off x="4037409" y="2707779"/>
            <a:ext cx="1075090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context window</a:t>
            </a:r>
            <a:endParaRPr lang="en-US" sz="680" dirty="0"/>
          </a:p>
        </p:txBody>
      </p:sp>
      <p:sp>
        <p:nvSpPr>
          <p:cNvPr id="70" name="Text 64"/>
          <p:cNvSpPr/>
          <p:nvPr/>
        </p:nvSpPr>
        <p:spPr>
          <a:xfrm>
            <a:off x="6349752" y="2373809"/>
            <a:ext cx="2412653" cy="637282"/>
          </a:xfrm>
          <a:prstGeom prst="rect">
            <a:avLst/>
          </a:prstGeom>
          <a:solidFill>
            <a:srgbClr val="141D2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5"/>
          <p:cNvSpPr/>
          <p:nvPr/>
        </p:nvSpPr>
        <p:spPr>
          <a:xfrm>
            <a:off x="6349752" y="3001566"/>
            <a:ext cx="2412653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6"/>
          <p:cNvSpPr/>
          <p:nvPr/>
        </p:nvSpPr>
        <p:spPr>
          <a:xfrm>
            <a:off x="6450062" y="2550914"/>
            <a:ext cx="538936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tokens</a:t>
            </a:r>
            <a:endParaRPr lang="en-US" sz="790" dirty="0"/>
          </a:p>
        </p:txBody>
      </p:sp>
      <p:sp>
        <p:nvSpPr>
          <p:cNvPr id="73" name="Text 67"/>
          <p:cNvSpPr/>
          <p:nvPr/>
        </p:nvSpPr>
        <p:spPr>
          <a:xfrm>
            <a:off x="6450062" y="2707779"/>
            <a:ext cx="801038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64K output window</a:t>
            </a:r>
            <a:endParaRPr lang="en-US" sz="680" dirty="0"/>
          </a:p>
        </p:txBody>
      </p:sp>
      <p:sp>
        <p:nvSpPr>
          <p:cNvPr id="74" name="Text 68"/>
          <p:cNvSpPr/>
          <p:nvPr/>
        </p:nvSpPr>
        <p:spPr>
          <a:xfrm>
            <a:off x="381595" y="3011091"/>
            <a:ext cx="1143000" cy="604689"/>
          </a:xfrm>
          <a:prstGeom prst="rect">
            <a:avLst/>
          </a:prstGeom>
          <a:solidFill>
            <a:srgbClr val="8694B2">
              <a:alpha val="3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69"/>
          <p:cNvSpPr/>
          <p:nvPr/>
        </p:nvSpPr>
        <p:spPr>
          <a:xfrm>
            <a:off x="381595" y="3606254"/>
            <a:ext cx="1143000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6" name="Image 4" descr="preencoded.png">    </p:cNvPr>
          <p:cNvPicPr>
            <a:picLocks noChangeAspect="1"/>
          </p:cNvPicPr>
          <p:nvPr/>
        </p:nvPicPr>
        <p:blipFill>
          <a:blip r:embed="rId9">
            <a:alphaModFix amt="6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1905" y="3152775"/>
            <a:ext cx="143470" cy="143470"/>
          </a:xfrm>
          <a:prstGeom prst="rect">
            <a:avLst/>
          </a:prstGeom>
        </p:spPr>
      </p:pic>
      <p:sp>
        <p:nvSpPr>
          <p:cNvPr id="77" name="Text 70"/>
          <p:cNvSpPr/>
          <p:nvPr/>
        </p:nvSpPr>
        <p:spPr>
          <a:xfrm>
            <a:off x="481905" y="3339257"/>
            <a:ext cx="746686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b="1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730" dirty="0"/>
          </a:p>
        </p:txBody>
      </p:sp>
      <p:sp>
        <p:nvSpPr>
          <p:cNvPr id="78" name="Text 71"/>
          <p:cNvSpPr/>
          <p:nvPr/>
        </p:nvSpPr>
        <p:spPr>
          <a:xfrm>
            <a:off x="1524595" y="3011091"/>
            <a:ext cx="2412504" cy="604689"/>
          </a:xfrm>
          <a:prstGeom prst="rect">
            <a:avLst/>
          </a:prstGeom>
          <a:solidFill>
            <a:srgbClr val="141D2F">
              <a:alpha val="5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2"/>
          <p:cNvSpPr/>
          <p:nvPr/>
        </p:nvSpPr>
        <p:spPr>
          <a:xfrm>
            <a:off x="1524595" y="3606254"/>
            <a:ext cx="2412504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3"/>
          <p:cNvSpPr/>
          <p:nvPr/>
        </p:nvSpPr>
        <p:spPr>
          <a:xfrm>
            <a:off x="1624905" y="3102918"/>
            <a:ext cx="661228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Fusion</a:t>
            </a:r>
            <a:endParaRPr lang="en-US" sz="790" dirty="0"/>
          </a:p>
        </p:txBody>
      </p:sp>
      <p:sp>
        <p:nvSpPr>
          <p:cNvPr id="81" name="Text 74"/>
          <p:cNvSpPr/>
          <p:nvPr/>
        </p:nvSpPr>
        <p:spPr>
          <a:xfrm>
            <a:off x="1624905" y="3259782"/>
            <a:ext cx="894189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Image + Video</a:t>
            </a:r>
            <a:endParaRPr lang="en-US" sz="680" dirty="0"/>
          </a:p>
        </p:txBody>
      </p:sp>
      <p:sp>
        <p:nvSpPr>
          <p:cNvPr id="82" name="Text 75"/>
          <p:cNvSpPr/>
          <p:nvPr/>
        </p:nvSpPr>
        <p:spPr>
          <a:xfrm>
            <a:off x="1624905" y="3397895"/>
            <a:ext cx="1122238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multimodal encoder</a:t>
            </a:r>
            <a:endParaRPr lang="en-US" sz="680" dirty="0"/>
          </a:p>
        </p:txBody>
      </p:sp>
      <p:sp>
        <p:nvSpPr>
          <p:cNvPr id="83" name="Text 76"/>
          <p:cNvSpPr/>
          <p:nvPr/>
        </p:nvSpPr>
        <p:spPr>
          <a:xfrm>
            <a:off x="3937099" y="3011091"/>
            <a:ext cx="2412653" cy="604689"/>
          </a:xfrm>
          <a:prstGeom prst="rect">
            <a:avLst/>
          </a:prstGeom>
          <a:solidFill>
            <a:srgbClr val="141D2F">
              <a:alpha val="3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77"/>
          <p:cNvSpPr/>
          <p:nvPr/>
        </p:nvSpPr>
        <p:spPr>
          <a:xfrm>
            <a:off x="3937099" y="3606254"/>
            <a:ext cx="2412653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78"/>
          <p:cNvSpPr/>
          <p:nvPr/>
        </p:nvSpPr>
        <p:spPr>
          <a:xfrm>
            <a:off x="4037409" y="3102918"/>
            <a:ext cx="662374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TTS</a:t>
            </a:r>
            <a:endParaRPr lang="en-US" sz="790" dirty="0"/>
          </a:p>
        </p:txBody>
      </p:sp>
      <p:sp>
        <p:nvSpPr>
          <p:cNvPr id="86" name="Text 79"/>
          <p:cNvSpPr/>
          <p:nvPr/>
        </p:nvSpPr>
        <p:spPr>
          <a:xfrm>
            <a:off x="4037409" y="3259782"/>
            <a:ext cx="819537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Image generation</a:t>
            </a:r>
            <a:endParaRPr lang="en-US" sz="680" dirty="0"/>
          </a:p>
        </p:txBody>
      </p:sp>
      <p:sp>
        <p:nvSpPr>
          <p:cNvPr id="87" name="Text 80"/>
          <p:cNvSpPr/>
          <p:nvPr/>
        </p:nvSpPr>
        <p:spPr>
          <a:xfrm>
            <a:off x="4037409" y="3397895"/>
            <a:ext cx="948377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modalities</a:t>
            </a:r>
            <a:endParaRPr lang="en-US" sz="680" dirty="0"/>
          </a:p>
        </p:txBody>
      </p:sp>
      <p:sp>
        <p:nvSpPr>
          <p:cNvPr id="88" name="Text 81"/>
          <p:cNvSpPr/>
          <p:nvPr/>
        </p:nvSpPr>
        <p:spPr>
          <a:xfrm>
            <a:off x="6349752" y="3011091"/>
            <a:ext cx="2412653" cy="604689"/>
          </a:xfrm>
          <a:prstGeom prst="rect">
            <a:avLst/>
          </a:prstGeom>
          <a:solidFill>
            <a:srgbClr val="141D2F">
              <a:alpha val="5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2"/>
          <p:cNvSpPr/>
          <p:nvPr/>
        </p:nvSpPr>
        <p:spPr>
          <a:xfrm>
            <a:off x="6349752" y="3606254"/>
            <a:ext cx="2412653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3"/>
          <p:cNvSpPr/>
          <p:nvPr/>
        </p:nvSpPr>
        <p:spPr>
          <a:xfrm>
            <a:off x="6450062" y="3102918"/>
            <a:ext cx="807913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Multimodal</a:t>
            </a:r>
            <a:endParaRPr lang="en-US" sz="790" dirty="0"/>
          </a:p>
        </p:txBody>
      </p:sp>
      <p:sp>
        <p:nvSpPr>
          <p:cNvPr id="91" name="Text 84"/>
          <p:cNvSpPr/>
          <p:nvPr/>
        </p:nvSpPr>
        <p:spPr>
          <a:xfrm>
            <a:off x="6450062" y="3259782"/>
            <a:ext cx="1167914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Audio · Image · Video</a:t>
            </a:r>
            <a:endParaRPr lang="en-US" sz="680" dirty="0"/>
          </a:p>
        </p:txBody>
      </p:sp>
      <p:sp>
        <p:nvSpPr>
          <p:cNvPr id="92" name="Text 85"/>
          <p:cNvSpPr/>
          <p:nvPr/>
        </p:nvSpPr>
        <p:spPr>
          <a:xfrm>
            <a:off x="6450062" y="3397895"/>
            <a:ext cx="932661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Code execution</a:t>
            </a:r>
            <a:endParaRPr lang="en-US" sz="680" dirty="0"/>
          </a:p>
        </p:txBody>
      </p:sp>
      <p:sp>
        <p:nvSpPr>
          <p:cNvPr id="93" name="Text 86"/>
          <p:cNvSpPr/>
          <p:nvPr/>
        </p:nvSpPr>
        <p:spPr>
          <a:xfrm>
            <a:off x="381595" y="3615779"/>
            <a:ext cx="1143000" cy="604689"/>
          </a:xfrm>
          <a:prstGeom prst="rect">
            <a:avLst/>
          </a:prstGeom>
          <a:solidFill>
            <a:srgbClr val="8694B2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87"/>
          <p:cNvSpPr/>
          <p:nvPr/>
        </p:nvSpPr>
        <p:spPr>
          <a:xfrm>
            <a:off x="381595" y="4210943"/>
            <a:ext cx="1143000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5" name="Image 5" descr="preencoded.png">    </p:cNvPr>
          <p:cNvPicPr>
            <a:picLocks noChangeAspect="1"/>
          </p:cNvPicPr>
          <p:nvPr/>
        </p:nvPicPr>
        <p:blipFill>
          <a:blip r:embed="rId11">
            <a:alphaModFix amt="60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1905" y="3757464"/>
            <a:ext cx="143470" cy="143470"/>
          </a:xfrm>
          <a:prstGeom prst="rect">
            <a:avLst/>
          </a:prstGeom>
        </p:spPr>
      </p:pic>
      <p:sp>
        <p:nvSpPr>
          <p:cNvPr id="96" name="Text 88"/>
          <p:cNvSpPr/>
          <p:nvPr/>
        </p:nvSpPr>
        <p:spPr>
          <a:xfrm>
            <a:off x="481905" y="3943945"/>
            <a:ext cx="507176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b="1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730" dirty="0"/>
          </a:p>
        </p:txBody>
      </p:sp>
      <p:sp>
        <p:nvSpPr>
          <p:cNvPr id="97" name="Text 89"/>
          <p:cNvSpPr/>
          <p:nvPr/>
        </p:nvSpPr>
        <p:spPr>
          <a:xfrm>
            <a:off x="1524595" y="3615779"/>
            <a:ext cx="2412504" cy="604689"/>
          </a:xfrm>
          <a:prstGeom prst="rect">
            <a:avLst/>
          </a:prstGeom>
          <a:solidFill>
            <a:srgbClr val="141D2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0"/>
          <p:cNvSpPr/>
          <p:nvPr/>
        </p:nvSpPr>
        <p:spPr>
          <a:xfrm>
            <a:off x="1524595" y="4210943"/>
            <a:ext cx="2412504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1"/>
          <p:cNvSpPr/>
          <p:nvPr/>
        </p:nvSpPr>
        <p:spPr>
          <a:xfrm>
            <a:off x="1624905" y="3707606"/>
            <a:ext cx="683493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</a:t>
            </a:r>
            <a:endParaRPr lang="en-US" sz="790" dirty="0"/>
          </a:p>
        </p:txBody>
      </p:sp>
      <p:sp>
        <p:nvSpPr>
          <p:cNvPr id="100" name="Text 92"/>
          <p:cNvSpPr/>
          <p:nvPr/>
        </p:nvSpPr>
        <p:spPr>
          <a:xfrm>
            <a:off x="1624905" y="3864471"/>
            <a:ext cx="795635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fine-tuning</a:t>
            </a:r>
            <a:endParaRPr lang="en-US" sz="680" dirty="0"/>
          </a:p>
        </p:txBody>
      </p:sp>
      <p:sp>
        <p:nvSpPr>
          <p:cNvPr id="101" name="Text 93"/>
          <p:cNvSpPr/>
          <p:nvPr/>
        </p:nvSpPr>
        <p:spPr>
          <a:xfrm>
            <a:off x="1624905" y="4002584"/>
            <a:ext cx="1080001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Community-driven agents</a:t>
            </a:r>
            <a:endParaRPr lang="en-US" sz="680" dirty="0"/>
          </a:p>
        </p:txBody>
      </p:sp>
      <p:sp>
        <p:nvSpPr>
          <p:cNvPr id="102" name="Text 94"/>
          <p:cNvSpPr/>
          <p:nvPr/>
        </p:nvSpPr>
        <p:spPr>
          <a:xfrm>
            <a:off x="3937099" y="3615779"/>
            <a:ext cx="2412653" cy="604689"/>
          </a:xfrm>
          <a:prstGeom prst="rect">
            <a:avLst/>
          </a:prstGeom>
          <a:solidFill>
            <a:srgbClr val="141D2F">
              <a:alpha val="7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Text 95"/>
          <p:cNvSpPr/>
          <p:nvPr/>
        </p:nvSpPr>
        <p:spPr>
          <a:xfrm>
            <a:off x="3937099" y="4210943"/>
            <a:ext cx="2412653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96"/>
          <p:cNvSpPr/>
          <p:nvPr/>
        </p:nvSpPr>
        <p:spPr>
          <a:xfrm>
            <a:off x="4037409" y="3707606"/>
            <a:ext cx="820192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4-Agent Built-in</a:t>
            </a:r>
            <a:endParaRPr lang="en-US" sz="790" dirty="0"/>
          </a:p>
        </p:txBody>
      </p:sp>
      <p:sp>
        <p:nvSpPr>
          <p:cNvPr id="105" name="Text 97"/>
          <p:cNvSpPr/>
          <p:nvPr/>
        </p:nvSpPr>
        <p:spPr>
          <a:xfrm>
            <a:off x="4037409" y="3864471"/>
            <a:ext cx="1106522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debate architecture</a:t>
            </a:r>
            <a:endParaRPr lang="en-US" sz="680" dirty="0"/>
          </a:p>
        </p:txBody>
      </p:sp>
      <p:sp>
        <p:nvSpPr>
          <p:cNvPr id="106" name="Text 98"/>
          <p:cNvSpPr/>
          <p:nvPr/>
        </p:nvSpPr>
        <p:spPr>
          <a:xfrm>
            <a:off x="4037409" y="4002584"/>
            <a:ext cx="853589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Self-verification loop</a:t>
            </a:r>
            <a:endParaRPr lang="en-US" sz="680" dirty="0"/>
          </a:p>
        </p:txBody>
      </p:sp>
      <p:sp>
        <p:nvSpPr>
          <p:cNvPr id="107" name="Text 99"/>
          <p:cNvSpPr/>
          <p:nvPr/>
        </p:nvSpPr>
        <p:spPr>
          <a:xfrm>
            <a:off x="6349752" y="3615779"/>
            <a:ext cx="2412653" cy="604689"/>
          </a:xfrm>
          <a:prstGeom prst="rect">
            <a:avLst/>
          </a:prstGeom>
          <a:solidFill>
            <a:srgbClr val="141D2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Text 100"/>
          <p:cNvSpPr/>
          <p:nvPr/>
        </p:nvSpPr>
        <p:spPr>
          <a:xfrm>
            <a:off x="6349752" y="4210943"/>
            <a:ext cx="2412653" cy="9525"/>
          </a:xfrm>
          <a:prstGeom prst="rect">
            <a:avLst/>
          </a:prstGeom>
          <a:solidFill>
            <a:srgbClr val="8694B2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101"/>
          <p:cNvSpPr/>
          <p:nvPr/>
        </p:nvSpPr>
        <p:spPr>
          <a:xfrm>
            <a:off x="6450062" y="3707606"/>
            <a:ext cx="863084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790" dirty="0"/>
          </a:p>
        </p:txBody>
      </p:sp>
      <p:sp>
        <p:nvSpPr>
          <p:cNvPr id="110" name="Text 102"/>
          <p:cNvSpPr/>
          <p:nvPr/>
        </p:nvSpPr>
        <p:spPr>
          <a:xfrm>
            <a:off x="6450062" y="3864471"/>
            <a:ext cx="866686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 + RAG</a:t>
            </a:r>
            <a:endParaRPr lang="en-US" sz="680" dirty="0"/>
          </a:p>
        </p:txBody>
      </p:sp>
      <p:sp>
        <p:nvSpPr>
          <p:cNvPr id="111" name="Text 103"/>
          <p:cNvSpPr/>
          <p:nvPr/>
        </p:nvSpPr>
        <p:spPr>
          <a:xfrm>
            <a:off x="6450062" y="4002584"/>
            <a:ext cx="901065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</a:t>
            </a:r>
            <a:endParaRPr lang="en-US" sz="680" dirty="0"/>
          </a:p>
        </p:txBody>
      </p:sp>
      <p:sp>
        <p:nvSpPr>
          <p:cNvPr id="112" name="Text 104"/>
          <p:cNvSpPr/>
          <p:nvPr/>
        </p:nvSpPr>
        <p:spPr>
          <a:xfrm>
            <a:off x="381595" y="4220468"/>
            <a:ext cx="1143000" cy="495449"/>
          </a:xfrm>
          <a:prstGeom prst="rect">
            <a:avLst/>
          </a:prstGeom>
          <a:solidFill>
            <a:srgbClr val="8694B2">
              <a:alpha val="3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3" name="Image 6" descr="preencoded.png">    </p:cNvPr>
          <p:cNvPicPr>
            <a:picLocks noChangeAspect="1"/>
          </p:cNvPicPr>
          <p:nvPr/>
        </p:nvPicPr>
        <p:blipFill>
          <a:blip r:embed="rId13">
            <a:alphaModFix amt="60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1905" y="4312295"/>
            <a:ext cx="143470" cy="143470"/>
          </a:xfrm>
          <a:prstGeom prst="rect">
            <a:avLst/>
          </a:prstGeom>
        </p:spPr>
      </p:pic>
      <p:sp>
        <p:nvSpPr>
          <p:cNvPr id="114" name="Text 105"/>
          <p:cNvSpPr/>
          <p:nvPr/>
        </p:nvSpPr>
        <p:spPr>
          <a:xfrm>
            <a:off x="481905" y="4498777"/>
            <a:ext cx="829360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b="1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730" dirty="0"/>
          </a:p>
        </p:txBody>
      </p:sp>
      <p:sp>
        <p:nvSpPr>
          <p:cNvPr id="115" name="Text 106"/>
          <p:cNvSpPr/>
          <p:nvPr/>
        </p:nvSpPr>
        <p:spPr>
          <a:xfrm>
            <a:off x="1524595" y="4220468"/>
            <a:ext cx="2412504" cy="495449"/>
          </a:xfrm>
          <a:prstGeom prst="rect">
            <a:avLst/>
          </a:prstGeom>
          <a:solidFill>
            <a:srgbClr val="141D2F">
              <a:alpha val="5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Text 107"/>
          <p:cNvSpPr/>
          <p:nvPr/>
        </p:nvSpPr>
        <p:spPr>
          <a:xfrm>
            <a:off x="1624905" y="4315123"/>
            <a:ext cx="722620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Open</a:t>
            </a:r>
            <a:endParaRPr lang="en-US" sz="790" dirty="0"/>
          </a:p>
        </p:txBody>
      </p:sp>
      <p:sp>
        <p:nvSpPr>
          <p:cNvPr id="117" name="Text 108"/>
          <p:cNvSpPr/>
          <p:nvPr/>
        </p:nvSpPr>
        <p:spPr>
          <a:xfrm>
            <a:off x="1624905" y="4485829"/>
            <a:ext cx="730746" cy="148813"/>
          </a:xfrm>
          <a:prstGeom prst="roundRect">
            <a:avLst>
              <a:gd name="adj" fmla="val 19629"/>
            </a:avLst>
          </a:prstGeom>
          <a:solidFill>
            <a:srgbClr val="34D399">
              <a:alpha val="15000"/>
            </a:srgbClr>
          </a:solidFill>
          <a:ln w="9525">
            <a:solidFill>
              <a:srgbClr val="34D39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WEIGHTS</a:t>
            </a:r>
            <a:endParaRPr lang="en-US" sz="590" dirty="0"/>
          </a:p>
        </p:txBody>
      </p:sp>
      <p:sp>
        <p:nvSpPr>
          <p:cNvPr id="118" name="Text 109"/>
          <p:cNvSpPr/>
          <p:nvPr/>
        </p:nvSpPr>
        <p:spPr>
          <a:xfrm>
            <a:off x="3937099" y="4220468"/>
            <a:ext cx="2412653" cy="495449"/>
          </a:xfrm>
          <a:prstGeom prst="rect">
            <a:avLst/>
          </a:prstGeom>
          <a:solidFill>
            <a:srgbClr val="141D2F">
              <a:alpha val="3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Text 110"/>
          <p:cNvSpPr/>
          <p:nvPr/>
        </p:nvSpPr>
        <p:spPr>
          <a:xfrm>
            <a:off x="4037409" y="4315123"/>
            <a:ext cx="771570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Source</a:t>
            </a:r>
            <a:endParaRPr lang="en-US" sz="790" dirty="0"/>
          </a:p>
        </p:txBody>
      </p:sp>
      <p:sp>
        <p:nvSpPr>
          <p:cNvPr id="120" name="Text 111"/>
          <p:cNvSpPr/>
          <p:nvPr/>
        </p:nvSpPr>
        <p:spPr>
          <a:xfrm>
            <a:off x="4037409" y="4485829"/>
            <a:ext cx="678210" cy="148813"/>
          </a:xfrm>
          <a:prstGeom prst="roundRect">
            <a:avLst>
              <a:gd name="adj" fmla="val 19629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590" dirty="0"/>
          </a:p>
        </p:txBody>
      </p:sp>
      <p:sp>
        <p:nvSpPr>
          <p:cNvPr id="121" name="Text 112"/>
          <p:cNvSpPr/>
          <p:nvPr/>
        </p:nvSpPr>
        <p:spPr>
          <a:xfrm>
            <a:off x="6349752" y="4220468"/>
            <a:ext cx="2412653" cy="495449"/>
          </a:xfrm>
          <a:prstGeom prst="rect">
            <a:avLst/>
          </a:prstGeom>
          <a:solidFill>
            <a:srgbClr val="141D2F">
              <a:alpha val="5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Text 113"/>
          <p:cNvSpPr/>
          <p:nvPr/>
        </p:nvSpPr>
        <p:spPr>
          <a:xfrm>
            <a:off x="6450062" y="4315123"/>
            <a:ext cx="496208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</a:t>
            </a:r>
            <a:endParaRPr lang="en-US" sz="790" dirty="0"/>
          </a:p>
        </p:txBody>
      </p:sp>
      <p:sp>
        <p:nvSpPr>
          <p:cNvPr id="123" name="Text 114"/>
          <p:cNvSpPr/>
          <p:nvPr/>
        </p:nvSpPr>
        <p:spPr>
          <a:xfrm>
            <a:off x="6450062" y="4485829"/>
            <a:ext cx="730746" cy="148813"/>
          </a:xfrm>
          <a:prstGeom prst="roundRect">
            <a:avLst>
              <a:gd name="adj" fmla="val 19629"/>
            </a:avLst>
          </a:prstGeom>
          <a:solidFill>
            <a:srgbClr val="34D399">
              <a:alpha val="15000"/>
            </a:srgbClr>
          </a:solidFill>
          <a:ln w="9525">
            <a:solidFill>
              <a:srgbClr val="34D39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WEIGHTS</a:t>
            </a:r>
            <a:endParaRPr lang="en-US" sz="590" dirty="0"/>
          </a:p>
        </p:txBody>
      </p:sp>
      <p:sp>
        <p:nvSpPr>
          <p:cNvPr id="124" name="Text 115"/>
          <p:cNvSpPr/>
          <p:nvPr/>
        </p:nvSpPr>
        <p:spPr>
          <a:xfrm>
            <a:off x="401241" y="4844802"/>
            <a:ext cx="49411" cy="49411"/>
          </a:xfrm>
          <a:prstGeom prst="ellipse">
            <a:avLst/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Text 116"/>
          <p:cNvSpPr/>
          <p:nvPr/>
        </p:nvSpPr>
        <p:spPr>
          <a:xfrm>
            <a:off x="875407" y="4844802"/>
            <a:ext cx="49411" cy="49411"/>
          </a:xfrm>
          <a:prstGeom prst="ellipse">
            <a:avLst/>
          </a:prstGeom>
          <a:solidFill>
            <a:srgbClr val="F9731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Text 117"/>
          <p:cNvSpPr/>
          <p:nvPr/>
        </p:nvSpPr>
        <p:spPr>
          <a:xfrm>
            <a:off x="1288405" y="4844802"/>
            <a:ext cx="49411" cy="49411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7" name="Text 118"/>
          <p:cNvSpPr/>
          <p:nvPr/>
        </p:nvSpPr>
        <p:spPr>
          <a:xfrm>
            <a:off x="6469559" y="4796433"/>
            <a:ext cx="720775" cy="161092"/>
          </a:xfrm>
          <a:prstGeom prst="roundRect">
            <a:avLst>
              <a:gd name="adj" fmla="val 18133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 CLASS</a:t>
            </a:r>
            <a:endParaRPr lang="en-US" sz="590" dirty="0"/>
          </a:p>
        </p:txBody>
      </p:sp>
      <p:sp>
        <p:nvSpPr>
          <p:cNvPr id="128" name="Text 119"/>
          <p:cNvSpPr/>
          <p:nvPr/>
        </p:nvSpPr>
        <p:spPr>
          <a:xfrm>
            <a:off x="7276654" y="4796433"/>
            <a:ext cx="730746" cy="161092"/>
          </a:xfrm>
          <a:prstGeom prst="roundRect">
            <a:avLst>
              <a:gd name="adj" fmla="val 18133"/>
            </a:avLst>
          </a:prstGeom>
          <a:solidFill>
            <a:srgbClr val="34D399">
              <a:alpha val="15000"/>
            </a:srgbClr>
          </a:solidFill>
          <a:ln w="9525">
            <a:solidFill>
              <a:srgbClr val="34D39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WEIGHTS</a:t>
            </a:r>
            <a:endParaRPr lang="en-US" sz="590" dirty="0"/>
          </a:p>
        </p:txBody>
      </p:sp>
      <p:sp>
        <p:nvSpPr>
          <p:cNvPr id="129" name="Text 120"/>
          <p:cNvSpPr/>
          <p:nvPr/>
        </p:nvSpPr>
        <p:spPr>
          <a:xfrm>
            <a:off x="8093720" y="4796433"/>
            <a:ext cx="678210" cy="161092"/>
          </a:xfrm>
          <a:prstGeom prst="roundRect">
            <a:avLst>
              <a:gd name="adj" fmla="val 18133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5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85750"/>
            <a:ext cx="930402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spcAft>
                <a:spcPts val="340"/>
              </a:spcAft>
              <a:buNone/>
            </a:pPr>
            <a:r>
              <a:rPr lang="en-US" sz="680" b="1" spc="11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TOPOLOGY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342900" y="458391"/>
            <a:ext cx="9050274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35"/>
              </a:lnSpc>
              <a:buNone/>
            </a:pPr>
            <a:r>
              <a:rPr lang="en-US" sz="203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Endpoints, </a:t>
            </a:r>
            <a:pPr algn="l" indent="0" marL="0">
              <a:lnSpc>
                <a:spcPts val="2335"/>
              </a:lnSpc>
              <a:buNone/>
            </a:pPr>
            <a:r>
              <a:rPr lang="en-US" sz="203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Control Surface</a:t>
            </a:r>
            <a:endParaRPr lang="en-US" sz="2030" dirty="0"/>
          </a:p>
        </p:txBody>
      </p:sp>
      <p:sp>
        <p:nvSpPr>
          <p:cNvPr id="5" name="Text 2"/>
          <p:cNvSpPr/>
          <p:nvPr/>
        </p:nvSpPr>
        <p:spPr>
          <a:xfrm>
            <a:off x="342900" y="997148"/>
            <a:ext cx="2429470" cy="1193155"/>
          </a:xfrm>
          <a:prstGeom prst="roundRect">
            <a:avLst>
              <a:gd name="adj" fmla="val 7238"/>
            </a:avLst>
          </a:prstGeom>
          <a:solidFill>
            <a:srgbClr val="141D2F"/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073" y="1140330"/>
            <a:ext cx="132588" cy="132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5319" y="1120973"/>
            <a:ext cx="2864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2232720" y="1133773"/>
            <a:ext cx="401985" cy="160273"/>
          </a:xfrm>
          <a:prstGeom prst="roundRect">
            <a:avLst>
              <a:gd name="adj" fmla="val 26942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</a:t>
            </a:r>
            <a:endParaRPr lang="en-US" sz="620" dirty="0"/>
          </a:p>
        </p:txBody>
      </p:sp>
      <p:sp>
        <p:nvSpPr>
          <p:cNvPr id="9" name="Text 5"/>
          <p:cNvSpPr/>
          <p:nvPr/>
        </p:nvSpPr>
        <p:spPr>
          <a:xfrm>
            <a:off x="817668" y="1604218"/>
            <a:ext cx="788777" cy="122932"/>
          </a:xfrm>
          <a:prstGeom prst="roundRect">
            <a:avLst>
              <a:gd name="adj" fmla="val 23761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$0.08 / $0.30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545306" y="1781175"/>
            <a:ext cx="150401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C084F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on H100 (Int4) for air-gapped</a:t>
            </a:r>
            <a:endParaRPr lang="en-US" sz="62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alphaModFix amt="8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6642" y="1772552"/>
            <a:ext cx="132588" cy="132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0566" y="1956346"/>
            <a:ext cx="2197221" cy="110133"/>
          </a:xfrm>
          <a:prstGeom prst="rect">
            <a:avLst/>
          </a:prstGeom>
          <a:noFill/>
          <a:ln/>
        </p:spPr>
        <p:txBody>
          <a:bodyPr wrap="none" lIns="57150" tIns="0" rIns="0" bIns="0" rtlCol="0" anchor="t"/>
          <a:lstStyle/>
          <a:p>
            <a:pPr algn="l" indent="0" marL="0"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batch scanning</a:t>
            </a:r>
            <a:endParaRPr lang="en-US" sz="620" dirty="0"/>
          </a:p>
        </p:txBody>
      </p:sp>
      <p:sp>
        <p:nvSpPr>
          <p:cNvPr id="13" name="Text 8"/>
          <p:cNvSpPr/>
          <p:nvPr/>
        </p:nvSpPr>
        <p:spPr>
          <a:xfrm>
            <a:off x="480566" y="1956346"/>
            <a:ext cx="9525" cy="110133"/>
          </a:xfrm>
          <a:prstGeom prst="rect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342900" y="2304604"/>
            <a:ext cx="2429470" cy="1161455"/>
          </a:xfrm>
          <a:prstGeom prst="roundRect">
            <a:avLst>
              <a:gd name="adj" fmla="val 7436"/>
            </a:avLst>
          </a:prstGeom>
          <a:solidFill>
            <a:srgbClr val="141D2F"/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073" y="2447785"/>
            <a:ext cx="132588" cy="132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5319" y="2428429"/>
            <a:ext cx="19579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2274391" y="2441228"/>
            <a:ext cx="360313" cy="160273"/>
          </a:xfrm>
          <a:prstGeom prst="roundRect">
            <a:avLst>
              <a:gd name="adj" fmla="val 26942"/>
            </a:avLst>
          </a:prstGeom>
          <a:solidFill>
            <a:srgbClr val="F97316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</a:t>
            </a:r>
            <a:endParaRPr lang="en-US" sz="620" dirty="0"/>
          </a:p>
        </p:txBody>
      </p:sp>
      <p:sp>
        <p:nvSpPr>
          <p:cNvPr id="18" name="Text 12"/>
          <p:cNvSpPr/>
          <p:nvPr/>
        </p:nvSpPr>
        <p:spPr>
          <a:xfrm>
            <a:off x="820780" y="3041154"/>
            <a:ext cx="471354" cy="122932"/>
          </a:xfrm>
          <a:prstGeom prst="roundRect">
            <a:avLst>
              <a:gd name="adj" fmla="val 23761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 / $6</a:t>
            </a:r>
            <a:endParaRPr lang="en-US" sz="680" dirty="0"/>
          </a:p>
        </p:txBody>
      </p:sp>
      <p:sp>
        <p:nvSpPr>
          <p:cNvPr id="19" name="Text 13"/>
          <p:cNvSpPr/>
          <p:nvPr/>
        </p:nvSpPr>
        <p:spPr>
          <a:xfrm>
            <a:off x="480566" y="3232100"/>
            <a:ext cx="2197221" cy="110133"/>
          </a:xfrm>
          <a:prstGeom prst="rect">
            <a:avLst/>
          </a:prstGeom>
          <a:noFill/>
          <a:ln/>
        </p:spPr>
        <p:txBody>
          <a:bodyPr wrap="none" lIns="57150" tIns="0" rIns="0" bIns="0" rtlCol="0" anchor="t"/>
          <a:lstStyle/>
          <a:p>
            <a:pPr algn="l" indent="0" marL="0"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multi-agent dispatch · Streaming debate</a:t>
            </a:r>
            <a:endParaRPr lang="en-US" sz="620" dirty="0"/>
          </a:p>
        </p:txBody>
      </p:sp>
      <p:sp>
        <p:nvSpPr>
          <p:cNvPr id="20" name="Text 14"/>
          <p:cNvSpPr/>
          <p:nvPr/>
        </p:nvSpPr>
        <p:spPr>
          <a:xfrm>
            <a:off x="480566" y="3232100"/>
            <a:ext cx="9525" cy="110133"/>
          </a:xfrm>
          <a:prstGeom prst="rect">
            <a:avLst/>
          </a:prstGeom>
          <a:solidFill>
            <a:srgbClr val="F9731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342900" y="3580358"/>
            <a:ext cx="2429470" cy="1031974"/>
          </a:xfrm>
          <a:prstGeom prst="roundRect">
            <a:avLst>
              <a:gd name="adj" fmla="val 8368"/>
            </a:avLst>
          </a:prstGeom>
          <a:solidFill>
            <a:srgbClr val="141D2F"/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8073" y="3723540"/>
            <a:ext cx="132588" cy="132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5319" y="3704183"/>
            <a:ext cx="43317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2225725" y="3716982"/>
            <a:ext cx="408980" cy="160273"/>
          </a:xfrm>
          <a:prstGeom prst="roundRect">
            <a:avLst>
              <a:gd name="adj" fmla="val 26942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620" dirty="0"/>
          </a:p>
        </p:txBody>
      </p:sp>
      <p:sp>
        <p:nvSpPr>
          <p:cNvPr id="25" name="Text 18"/>
          <p:cNvSpPr/>
          <p:nvPr/>
        </p:nvSpPr>
        <p:spPr>
          <a:xfrm>
            <a:off x="820262" y="4187428"/>
            <a:ext cx="524182" cy="122932"/>
          </a:xfrm>
          <a:prstGeom prst="roundRect">
            <a:avLst>
              <a:gd name="adj" fmla="val 23761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 / $12</a:t>
            </a:r>
            <a:endParaRPr lang="en-US" sz="680" dirty="0"/>
          </a:p>
        </p:txBody>
      </p:sp>
      <p:sp>
        <p:nvSpPr>
          <p:cNvPr id="26" name="Text 19"/>
          <p:cNvSpPr/>
          <p:nvPr/>
        </p:nvSpPr>
        <p:spPr>
          <a:xfrm>
            <a:off x="480566" y="4378375"/>
            <a:ext cx="2197221" cy="110133"/>
          </a:xfrm>
          <a:prstGeom prst="rect">
            <a:avLst/>
          </a:prstGeom>
          <a:noFill/>
          <a:ln/>
        </p:spPr>
        <p:txBody>
          <a:bodyPr wrap="none" lIns="57150" tIns="0" rIns="0" bIns="0" rtlCol="0" anchor="t"/>
          <a:lstStyle/>
          <a:p>
            <a:pPr algn="l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Thinking-level routing — </a:t>
            </a:r>
            <a:pPr algn="l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pPr algn="l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triage · </a:t>
            </a:r>
            <a:pPr algn="l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pPr algn="l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proof</a:t>
            </a:r>
            <a:endParaRPr lang="en-US" sz="620" dirty="0"/>
          </a:p>
        </p:txBody>
      </p:sp>
      <p:sp>
        <p:nvSpPr>
          <p:cNvPr id="27" name="Text 20"/>
          <p:cNvSpPr/>
          <p:nvPr/>
        </p:nvSpPr>
        <p:spPr>
          <a:xfrm>
            <a:off x="480566" y="4378375"/>
            <a:ext cx="9525" cy="110133"/>
          </a:xfrm>
          <a:prstGeom prst="rect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72370" y="997148"/>
            <a:ext cx="1071563" cy="289366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79516" y="997148"/>
            <a:ext cx="2286000" cy="1277689"/>
          </a:xfrm>
          <a:prstGeom prst="roundRect">
            <a:avLst>
              <a:gd name="adj" fmla="val 8946"/>
            </a:avLst>
          </a:prstGeom>
          <a:gradFill rotWithShape="1">
            <a:gsLst>
              <a:gs pos="0">
                <a:srgbClr val="38BDF8">
                  <a:alpha val="12000"/>
                </a:srgbClr>
              </a:gs>
              <a:gs pos="100000">
                <a:srgbClr val="38BDF8">
                  <a:alpha val="4000"/>
                </a:srgbClr>
              </a:gs>
            </a:gsLst>
            <a:lin ang="2700000" scaled="1"/>
          </a:gradFill>
          <a:ln w="9525">
            <a:solidFill>
              <a:srgbClr val="38BDF8">
                <a:alpha val="4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5557391" y="1179612"/>
            <a:ext cx="285750" cy="285750"/>
          </a:xfrm>
          <a:prstGeom prst="roundRect">
            <a:avLst>
              <a:gd name="adj" fmla="val 24889"/>
            </a:avLst>
          </a:prstGeom>
          <a:gradFill rotWithShape="1">
            <a:gsLst>
              <a:gs pos="0">
                <a:srgbClr val="38BDF8">
                  <a:alpha val="25000"/>
                </a:srgbClr>
              </a:gs>
              <a:gs pos="100000">
                <a:srgbClr val="38BDF8">
                  <a:alpha val="8000"/>
                </a:srgbClr>
              </a:gs>
            </a:gsLst>
            <a:lin ang="2700000" scaled="1"/>
          </a:gra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33898" y="1256118"/>
            <a:ext cx="132588" cy="13258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855457" y="1150144"/>
            <a:ext cx="1290861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95"/>
              </a:lnSpc>
              <a:buNone/>
            </a:pPr>
            <a:r>
              <a:rPr lang="en-US" sz="1130" b="1" spc="-20" kern="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Meridian Router</a:t>
            </a:r>
            <a:endParaRPr lang="en-US" sz="1130" dirty="0"/>
          </a:p>
        </p:txBody>
      </p:sp>
      <p:sp>
        <p:nvSpPr>
          <p:cNvPr id="33" name="Text 24"/>
          <p:cNvSpPr/>
          <p:nvPr/>
        </p:nvSpPr>
        <p:spPr>
          <a:xfrm>
            <a:off x="5855457" y="1365349"/>
            <a:ext cx="129086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Intelligence Dispatcher</a:t>
            </a:r>
            <a:endParaRPr lang="en-US" sz="680" dirty="0"/>
          </a:p>
        </p:txBody>
      </p:sp>
      <p:sp>
        <p:nvSpPr>
          <p:cNvPr id="34" name="Text 25"/>
          <p:cNvSpPr/>
          <p:nvPr/>
        </p:nvSpPr>
        <p:spPr>
          <a:xfrm>
            <a:off x="5341251" y="1565821"/>
            <a:ext cx="1962531" cy="583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by </a:t>
            </a:r>
            <a:pPr algn="ctr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type</a:t>
            </a:r>
            <a:pPr algn="ctr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routes each request to the optimal model endpoint based on task semantics, latency budget, and cost tier.</a:t>
            </a:r>
            <a:endParaRPr lang="en-US" sz="73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65266" y="2475458"/>
            <a:ext cx="1714500" cy="160883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107781" y="2836962"/>
            <a:ext cx="752177" cy="472976"/>
          </a:xfrm>
          <a:prstGeom prst="roundRect">
            <a:avLst>
              <a:gd name="adj" fmla="val 12083"/>
            </a:avLst>
          </a:prstGeom>
          <a:solidFill>
            <a:srgbClr val="38BDF8">
              <a:alpha val="6000"/>
            </a:srgbClr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180195" y="2880205"/>
            <a:ext cx="132588" cy="13258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175602" y="3018532"/>
            <a:ext cx="61653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620" dirty="0"/>
          </a:p>
        </p:txBody>
      </p:sp>
      <p:sp>
        <p:nvSpPr>
          <p:cNvPr id="39" name="Text 28"/>
          <p:cNvSpPr/>
          <p:nvPr/>
        </p:nvSpPr>
        <p:spPr>
          <a:xfrm>
            <a:off x="5175602" y="3136553"/>
            <a:ext cx="61653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analysis</a:t>
            </a:r>
            <a:endParaRPr lang="en-US" sz="560" dirty="0"/>
          </a:p>
        </p:txBody>
      </p:sp>
      <p:sp>
        <p:nvSpPr>
          <p:cNvPr id="40" name="Text 29"/>
          <p:cNvSpPr/>
          <p:nvPr/>
        </p:nvSpPr>
        <p:spPr>
          <a:xfrm>
            <a:off x="5946279" y="2836962"/>
            <a:ext cx="752326" cy="472976"/>
          </a:xfrm>
          <a:prstGeom prst="roundRect">
            <a:avLst>
              <a:gd name="adj" fmla="val 12083"/>
            </a:avLst>
          </a:prstGeom>
          <a:solidFill>
            <a:srgbClr val="38BDF8">
              <a:alpha val="6000"/>
            </a:srgbClr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018693" y="2880205"/>
            <a:ext cx="132588" cy="13258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014092" y="3018532"/>
            <a:ext cx="61669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620" dirty="0"/>
          </a:p>
        </p:txBody>
      </p:sp>
      <p:sp>
        <p:nvSpPr>
          <p:cNvPr id="43" name="Text 31"/>
          <p:cNvSpPr/>
          <p:nvPr/>
        </p:nvSpPr>
        <p:spPr>
          <a:xfrm>
            <a:off x="6014092" y="3136553"/>
            <a:ext cx="61669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560" dirty="0"/>
          </a:p>
        </p:txBody>
      </p:sp>
      <p:sp>
        <p:nvSpPr>
          <p:cNvPr id="44" name="Text 32"/>
          <p:cNvSpPr/>
          <p:nvPr/>
        </p:nvSpPr>
        <p:spPr>
          <a:xfrm>
            <a:off x="6784925" y="2836962"/>
            <a:ext cx="752326" cy="472976"/>
          </a:xfrm>
          <a:prstGeom prst="roundRect">
            <a:avLst>
              <a:gd name="adj" fmla="val 12083"/>
            </a:avLst>
          </a:prstGeom>
          <a:solidFill>
            <a:srgbClr val="38BDF8">
              <a:alpha val="6000"/>
            </a:srgbClr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857339" y="2880205"/>
            <a:ext cx="132588" cy="132588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6852739" y="3018532"/>
            <a:ext cx="61669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620" dirty="0"/>
          </a:p>
        </p:txBody>
      </p:sp>
      <p:sp>
        <p:nvSpPr>
          <p:cNvPr id="47" name="Text 34"/>
          <p:cNvSpPr/>
          <p:nvPr/>
        </p:nvSpPr>
        <p:spPr>
          <a:xfrm>
            <a:off x="6852739" y="3136553"/>
            <a:ext cx="61669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proof</a:t>
            </a:r>
            <a:endParaRPr lang="en-US" sz="56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683309" y="3526789"/>
            <a:ext cx="132588" cy="132588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5819775" y="3539728"/>
            <a:ext cx="24065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</a:t>
            </a:r>
            <a:endParaRPr lang="en-US" sz="56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121310" y="3526789"/>
            <a:ext cx="132588" cy="132588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6257776" y="3539728"/>
            <a:ext cx="25358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560" dirty="0"/>
          </a:p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71068" y="3526789"/>
            <a:ext cx="132588" cy="132588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6707535" y="3539728"/>
            <a:ext cx="24491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560" dirty="0"/>
          </a:p>
        </p:txBody>
      </p:sp>
      <p:sp>
        <p:nvSpPr>
          <p:cNvPr id="54" name="Text 38"/>
          <p:cNvSpPr/>
          <p:nvPr/>
        </p:nvSpPr>
        <p:spPr>
          <a:xfrm>
            <a:off x="352425" y="1006673"/>
            <a:ext cx="2410416" cy="21580"/>
          </a:xfrm>
          <a:custGeom>
            <a:avLst/>
            <a:gdLst/>
            <a:ahLst/>
            <a:cxnLst/>
            <a:rect l="l" t="t" r="r" b="b"/>
            <a:pathLst>
              <a:path w="2410416" h="21580">
                <a:moveTo>
                  <a:pt x="86360" y="0"/>
                </a:moveTo>
                <a:lnTo>
                  <a:pt x="2324056" y="0"/>
                </a:lnTo>
                <a:lnTo>
                  <a:pt x="2324056" y="0"/>
                </a:lnTo>
                <a:lnTo>
                  <a:pt x="2340904" y="1659"/>
                </a:lnTo>
                <a:lnTo>
                  <a:pt x="2357104" y="6574"/>
                </a:lnTo>
                <a:lnTo>
                  <a:pt x="2372035" y="14554"/>
                </a:lnTo>
                <a:lnTo>
                  <a:pt x="2385121" y="21580"/>
                </a:lnTo>
                <a:lnTo>
                  <a:pt x="2395861" y="21580"/>
                </a:lnTo>
                <a:lnTo>
                  <a:pt x="2403842" y="21580"/>
                </a:lnTo>
                <a:lnTo>
                  <a:pt x="2408756" y="21580"/>
                </a:lnTo>
                <a:lnTo>
                  <a:pt x="2410416" y="21580"/>
                </a:lnTo>
                <a:lnTo>
                  <a:pt x="2410416" y="21580"/>
                </a:lnTo>
                <a:lnTo>
                  <a:pt x="0" y="21580"/>
                </a:lnTo>
                <a:lnTo>
                  <a:pt x="0" y="86360"/>
                </a:lnTo>
                <a:lnTo>
                  <a:pt x="86360" y="0"/>
                </a:lnTo>
                <a:lnTo>
                  <a:pt x="69512" y="1659"/>
                </a:lnTo>
                <a:lnTo>
                  <a:pt x="53311" y="6574"/>
                </a:lnTo>
                <a:lnTo>
                  <a:pt x="38381" y="14554"/>
                </a:lnTo>
                <a:lnTo>
                  <a:pt x="25294" y="21580"/>
                </a:lnTo>
                <a:lnTo>
                  <a:pt x="14554" y="21580"/>
                </a:lnTo>
                <a:lnTo>
                  <a:pt x="6574" y="21580"/>
                </a:lnTo>
                <a:lnTo>
                  <a:pt x="1659" y="21580"/>
                </a:lnTo>
                <a:lnTo>
                  <a:pt x="0" y="2158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39"/>
          <p:cNvSpPr/>
          <p:nvPr/>
        </p:nvSpPr>
        <p:spPr>
          <a:xfrm>
            <a:off x="352425" y="2314129"/>
            <a:ext cx="2410416" cy="21580"/>
          </a:xfrm>
          <a:custGeom>
            <a:avLst/>
            <a:gdLst/>
            <a:ahLst/>
            <a:cxnLst/>
            <a:rect l="l" t="t" r="r" b="b"/>
            <a:pathLst>
              <a:path w="2410416" h="21580">
                <a:moveTo>
                  <a:pt x="86360" y="0"/>
                </a:moveTo>
                <a:lnTo>
                  <a:pt x="2324056" y="0"/>
                </a:lnTo>
                <a:lnTo>
                  <a:pt x="2324056" y="0"/>
                </a:lnTo>
                <a:lnTo>
                  <a:pt x="2340904" y="1659"/>
                </a:lnTo>
                <a:lnTo>
                  <a:pt x="2357104" y="6574"/>
                </a:lnTo>
                <a:lnTo>
                  <a:pt x="2372035" y="14554"/>
                </a:lnTo>
                <a:lnTo>
                  <a:pt x="2385121" y="21580"/>
                </a:lnTo>
                <a:lnTo>
                  <a:pt x="2395861" y="21580"/>
                </a:lnTo>
                <a:lnTo>
                  <a:pt x="2403842" y="21580"/>
                </a:lnTo>
                <a:lnTo>
                  <a:pt x="2408756" y="21580"/>
                </a:lnTo>
                <a:lnTo>
                  <a:pt x="2410416" y="21580"/>
                </a:lnTo>
                <a:lnTo>
                  <a:pt x="2410416" y="21580"/>
                </a:lnTo>
                <a:lnTo>
                  <a:pt x="0" y="21580"/>
                </a:lnTo>
                <a:lnTo>
                  <a:pt x="0" y="86360"/>
                </a:lnTo>
                <a:lnTo>
                  <a:pt x="86360" y="0"/>
                </a:lnTo>
                <a:lnTo>
                  <a:pt x="69512" y="1659"/>
                </a:lnTo>
                <a:lnTo>
                  <a:pt x="53311" y="6574"/>
                </a:lnTo>
                <a:lnTo>
                  <a:pt x="38381" y="14554"/>
                </a:lnTo>
                <a:lnTo>
                  <a:pt x="25294" y="21580"/>
                </a:lnTo>
                <a:lnTo>
                  <a:pt x="14554" y="21580"/>
                </a:lnTo>
                <a:lnTo>
                  <a:pt x="6574" y="21580"/>
                </a:lnTo>
                <a:lnTo>
                  <a:pt x="1659" y="21580"/>
                </a:lnTo>
                <a:lnTo>
                  <a:pt x="0" y="21580"/>
                </a:lnTo>
                <a:close/>
              </a:path>
            </a:pathLst>
          </a:custGeom>
          <a:gradFill rotWithShape="1">
            <a:gsLst>
              <a:gs pos="0">
                <a:srgbClr val="F97316"/>
              </a:gs>
              <a:gs pos="100000">
                <a:srgbClr val="EF444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0"/>
          <p:cNvSpPr/>
          <p:nvPr/>
        </p:nvSpPr>
        <p:spPr>
          <a:xfrm>
            <a:off x="352425" y="3589883"/>
            <a:ext cx="2410416" cy="21580"/>
          </a:xfrm>
          <a:custGeom>
            <a:avLst/>
            <a:gdLst/>
            <a:ahLst/>
            <a:cxnLst/>
            <a:rect l="l" t="t" r="r" b="b"/>
            <a:pathLst>
              <a:path w="2410416" h="21580">
                <a:moveTo>
                  <a:pt x="86360" y="0"/>
                </a:moveTo>
                <a:lnTo>
                  <a:pt x="2324056" y="0"/>
                </a:lnTo>
                <a:lnTo>
                  <a:pt x="2324056" y="0"/>
                </a:lnTo>
                <a:lnTo>
                  <a:pt x="2340904" y="1659"/>
                </a:lnTo>
                <a:lnTo>
                  <a:pt x="2357104" y="6574"/>
                </a:lnTo>
                <a:lnTo>
                  <a:pt x="2372035" y="14554"/>
                </a:lnTo>
                <a:lnTo>
                  <a:pt x="2385121" y="21580"/>
                </a:lnTo>
                <a:lnTo>
                  <a:pt x="2395861" y="21580"/>
                </a:lnTo>
                <a:lnTo>
                  <a:pt x="2403842" y="21580"/>
                </a:lnTo>
                <a:lnTo>
                  <a:pt x="2408756" y="21580"/>
                </a:lnTo>
                <a:lnTo>
                  <a:pt x="2410416" y="21580"/>
                </a:lnTo>
                <a:lnTo>
                  <a:pt x="2410416" y="21580"/>
                </a:lnTo>
                <a:lnTo>
                  <a:pt x="0" y="21580"/>
                </a:lnTo>
                <a:lnTo>
                  <a:pt x="0" y="86360"/>
                </a:lnTo>
                <a:lnTo>
                  <a:pt x="86360" y="0"/>
                </a:lnTo>
                <a:lnTo>
                  <a:pt x="69512" y="1659"/>
                </a:lnTo>
                <a:lnTo>
                  <a:pt x="53311" y="6574"/>
                </a:lnTo>
                <a:lnTo>
                  <a:pt x="38381" y="14554"/>
                </a:lnTo>
                <a:lnTo>
                  <a:pt x="25294" y="21580"/>
                </a:lnTo>
                <a:lnTo>
                  <a:pt x="14554" y="21580"/>
                </a:lnTo>
                <a:lnTo>
                  <a:pt x="6574" y="21580"/>
                </a:lnTo>
                <a:lnTo>
                  <a:pt x="1659" y="21580"/>
                </a:lnTo>
                <a:lnTo>
                  <a:pt x="0" y="21580"/>
                </a:lnTo>
                <a:close/>
              </a:path>
            </a:pathLst>
          </a:custGeom>
          <a:gradFill rotWithShape="1">
            <a:gsLst>
              <a:gs pos="0">
                <a:srgbClr val="34D399"/>
              </a:gs>
              <a:gs pos="100000">
                <a:srgbClr val="3B82F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41"/>
          <p:cNvSpPr/>
          <p:nvPr/>
        </p:nvSpPr>
        <p:spPr>
          <a:xfrm>
            <a:off x="5145861" y="963493"/>
            <a:ext cx="2353266" cy="1344959"/>
          </a:xfrm>
          <a:prstGeom prst="roundRect">
            <a:avLst>
              <a:gd name="adj" fmla="val 10670"/>
            </a:avLst>
          </a:prstGeom>
          <a:noFill/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143970" cy="428744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741" y="0"/>
            <a:ext cx="5429250" cy="428625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309" y="0"/>
            <a:ext cx="4001691" cy="428744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0" y="4743450"/>
            <a:ext cx="9144000" cy="400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B1120">
                  <a:alpha val="95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3167509" y="4793010"/>
            <a:ext cx="238710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70"/>
              </a:lnSpc>
              <a:buNone/>
            </a:pPr>
            <a:r>
              <a:rPr lang="en-US" sz="158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32</a:t>
            </a:r>
            <a:endParaRPr lang="en-US" sz="1580" dirty="0"/>
          </a:p>
        </p:txBody>
      </p:sp>
      <p:sp>
        <p:nvSpPr>
          <p:cNvPr id="9" name="Text 4"/>
          <p:cNvSpPr/>
          <p:nvPr/>
        </p:nvSpPr>
        <p:spPr>
          <a:xfrm>
            <a:off x="3504902" y="4825305"/>
            <a:ext cx="101173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dirty="0">
                <a:solidFill>
                  <a:srgbClr val="8694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</a:t>
            </a:r>
            <a:endParaRPr lang="en-US" sz="1240" dirty="0"/>
          </a:p>
        </p:txBody>
      </p:sp>
      <p:sp>
        <p:nvSpPr>
          <p:cNvPr id="10" name="Text 5"/>
          <p:cNvSpPr/>
          <p:nvPr/>
        </p:nvSpPr>
        <p:spPr>
          <a:xfrm>
            <a:off x="3711178" y="4793010"/>
            <a:ext cx="238710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70"/>
              </a:lnSpc>
              <a:buNone/>
            </a:pPr>
            <a:r>
              <a:rPr lang="en-US" sz="158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36</a:t>
            </a:r>
            <a:endParaRPr lang="en-US" sz="1580" dirty="0"/>
          </a:p>
        </p:txBody>
      </p:sp>
      <p:sp>
        <p:nvSpPr>
          <p:cNvPr id="11" name="Text 6"/>
          <p:cNvSpPr/>
          <p:nvPr/>
        </p:nvSpPr>
        <p:spPr>
          <a:xfrm>
            <a:off x="4048571" y="4825305"/>
            <a:ext cx="101173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dirty="0">
                <a:solidFill>
                  <a:srgbClr val="8694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</a:t>
            </a:r>
            <a:endParaRPr lang="en-US" sz="1240" dirty="0"/>
          </a:p>
        </p:txBody>
      </p:sp>
      <p:sp>
        <p:nvSpPr>
          <p:cNvPr id="12" name="Text 7"/>
          <p:cNvSpPr/>
          <p:nvPr/>
        </p:nvSpPr>
        <p:spPr>
          <a:xfrm>
            <a:off x="4254847" y="4793010"/>
            <a:ext cx="238710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70"/>
              </a:lnSpc>
              <a:buNone/>
            </a:pPr>
            <a:r>
              <a:rPr lang="en-US" sz="1580" b="1" dirty="0">
                <a:solidFill>
                  <a:srgbClr val="34D3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28</a:t>
            </a:r>
            <a:endParaRPr lang="en-US" sz="1580" dirty="0"/>
          </a:p>
        </p:txBody>
      </p:sp>
      <p:sp>
        <p:nvSpPr>
          <p:cNvPr id="13" name="Text 8"/>
          <p:cNvSpPr/>
          <p:nvPr/>
        </p:nvSpPr>
        <p:spPr>
          <a:xfrm>
            <a:off x="4621411" y="4825305"/>
            <a:ext cx="101173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dirty="0">
                <a:solidFill>
                  <a:srgbClr val="8694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=</a:t>
            </a:r>
            <a:endParaRPr lang="en-US" sz="1240" dirty="0"/>
          </a:p>
        </p:txBody>
      </p:sp>
      <p:sp>
        <p:nvSpPr>
          <p:cNvPr id="14" name="Text 9"/>
          <p:cNvSpPr/>
          <p:nvPr/>
        </p:nvSpPr>
        <p:spPr>
          <a:xfrm>
            <a:off x="4856857" y="4772025"/>
            <a:ext cx="119800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gradFill rotWithShape="1">
                  <a:gsLst>
                    <a:gs pos="0">
                      <a:srgbClr val="38BDF8"/>
                    </a:gs>
                    <a:gs pos="50000">
                      <a:srgbClr val="A78BFA"/>
                    </a:gs>
                    <a:gs pos="100000">
                      <a:srgbClr val="34D399"/>
                    </a:gs>
                  </a:gsLst>
                  <a:lin ang="0" scaled="1"/>
                </a:gra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96 PATHS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09575" y="1214586"/>
            <a:ext cx="2666552" cy="21580"/>
          </a:xfrm>
          <a:custGeom>
            <a:avLst/>
            <a:gdLst/>
            <a:ahLst/>
            <a:cxnLst/>
            <a:rect l="l" t="t" r="r" b="b"/>
            <a:pathLst>
              <a:path w="2666552" h="21580">
                <a:moveTo>
                  <a:pt x="114300" y="0"/>
                </a:moveTo>
                <a:lnTo>
                  <a:pt x="2552252" y="0"/>
                </a:lnTo>
                <a:lnTo>
                  <a:pt x="2576938" y="2698"/>
                </a:lnTo>
                <a:lnTo>
                  <a:pt x="2586954" y="5395"/>
                </a:lnTo>
                <a:lnTo>
                  <a:pt x="2594495" y="8093"/>
                </a:lnTo>
                <a:lnTo>
                  <a:pt x="2600731" y="10790"/>
                </a:lnTo>
                <a:lnTo>
                  <a:pt x="2606116" y="13488"/>
                </a:lnTo>
                <a:lnTo>
                  <a:pt x="2610886" y="16185"/>
                </a:lnTo>
                <a:lnTo>
                  <a:pt x="2615181" y="18883"/>
                </a:lnTo>
                <a:lnTo>
                  <a:pt x="2619092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3238649" y="1214586"/>
            <a:ext cx="2666705" cy="21580"/>
          </a:xfrm>
          <a:custGeom>
            <a:avLst/>
            <a:gdLst/>
            <a:ahLst/>
            <a:cxnLst/>
            <a:rect l="l" t="t" r="r" b="b"/>
            <a:pathLst>
              <a:path w="2666705" h="21580">
                <a:moveTo>
                  <a:pt x="114300" y="0"/>
                </a:moveTo>
                <a:lnTo>
                  <a:pt x="2552405" y="0"/>
                </a:lnTo>
                <a:lnTo>
                  <a:pt x="2577090" y="2698"/>
                </a:lnTo>
                <a:lnTo>
                  <a:pt x="2587106" y="5395"/>
                </a:lnTo>
                <a:lnTo>
                  <a:pt x="2594648" y="8093"/>
                </a:lnTo>
                <a:lnTo>
                  <a:pt x="2600883" y="10790"/>
                </a:lnTo>
                <a:lnTo>
                  <a:pt x="2606269" y="13488"/>
                </a:lnTo>
                <a:lnTo>
                  <a:pt x="2611039" y="16185"/>
                </a:lnTo>
                <a:lnTo>
                  <a:pt x="2615333" y="18883"/>
                </a:lnTo>
                <a:lnTo>
                  <a:pt x="261924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A78BFA"/>
              </a:gs>
              <a:gs pos="100000">
                <a:srgbClr val="A78BFA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067871" y="1214586"/>
            <a:ext cx="2666552" cy="21580"/>
          </a:xfrm>
          <a:custGeom>
            <a:avLst/>
            <a:gdLst/>
            <a:ahLst/>
            <a:cxnLst/>
            <a:rect l="l" t="t" r="r" b="b"/>
            <a:pathLst>
              <a:path w="2666552" h="21580">
                <a:moveTo>
                  <a:pt x="114300" y="0"/>
                </a:moveTo>
                <a:lnTo>
                  <a:pt x="2552252" y="0"/>
                </a:lnTo>
                <a:lnTo>
                  <a:pt x="2576938" y="2698"/>
                </a:lnTo>
                <a:lnTo>
                  <a:pt x="2586954" y="5395"/>
                </a:lnTo>
                <a:lnTo>
                  <a:pt x="2594495" y="8093"/>
                </a:lnTo>
                <a:lnTo>
                  <a:pt x="2600731" y="10790"/>
                </a:lnTo>
                <a:lnTo>
                  <a:pt x="2606116" y="13488"/>
                </a:lnTo>
                <a:lnTo>
                  <a:pt x="2610886" y="16185"/>
                </a:lnTo>
                <a:lnTo>
                  <a:pt x="2615181" y="18883"/>
                </a:lnTo>
                <a:lnTo>
                  <a:pt x="2619092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34D399"/>
              </a:gs>
              <a:gs pos="100000">
                <a:srgbClr val="34D399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400050" y="314920"/>
            <a:ext cx="4572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8BDF8"/>
              </a:gs>
              <a:gs pos="50000">
                <a:srgbClr val="A78BFA"/>
              </a:gs>
              <a:gs pos="100000">
                <a:srgbClr val="34D39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00050" y="393650"/>
            <a:ext cx="8927973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10"/>
              </a:lnSpc>
              <a:buNone/>
            </a:pPr>
            <a:r>
              <a:rPr lang="en-US" sz="2140" b="1" spc="-30" kern="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96 Paths Across the Meridian</a:t>
            </a:r>
            <a:endParaRPr lang="en-US" sz="2140" dirty="0"/>
          </a:p>
        </p:txBody>
      </p:sp>
      <p:sp>
        <p:nvSpPr>
          <p:cNvPr id="20" name="Text 15"/>
          <p:cNvSpPr/>
          <p:nvPr/>
        </p:nvSpPr>
        <p:spPr>
          <a:xfrm>
            <a:off x="400050" y="844451"/>
            <a:ext cx="917829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40"/>
              </a:spcBef>
              <a:buNone/>
            </a:pPr>
            <a:r>
              <a:rPr lang="en-US" sz="840" spc="17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verification · orchestration · perception coverage for the 7 MFCS actions</a:t>
            </a:r>
            <a:endParaRPr lang="en-US" sz="840" dirty="0"/>
          </a:p>
        </p:txBody>
      </p:sp>
      <p:sp>
        <p:nvSpPr>
          <p:cNvPr id="21" name="Text 16"/>
          <p:cNvSpPr/>
          <p:nvPr/>
        </p:nvSpPr>
        <p:spPr>
          <a:xfrm>
            <a:off x="400050" y="1205061"/>
            <a:ext cx="2685604" cy="3481239"/>
          </a:xfrm>
          <a:prstGeom prst="roundRect">
            <a:avLst>
              <a:gd name="adj" fmla="val 4256"/>
            </a:avLst>
          </a:prstGeom>
          <a:gradFill rotWithShape="1">
            <a:gsLst>
              <a:gs pos="0">
                <a:srgbClr val="38BDF8">
                  <a:alpha val="8000"/>
                </a:srgbClr>
              </a:gs>
              <a:gs pos="40000">
                <a:srgbClr val="141D2F"/>
              </a:gs>
            </a:gsLst>
            <a:lin ang="5400000" scaled="1"/>
          </a:gradFill>
          <a:ln w="9525">
            <a:solidFill>
              <a:srgbClr val="38BDF8">
                <a:alpha val="1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581025" y="1415207"/>
            <a:ext cx="438023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110" kern="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32</a:t>
            </a:r>
            <a:endParaRPr lang="en-US" sz="3150" dirty="0"/>
          </a:p>
        </p:txBody>
      </p:sp>
      <p:sp>
        <p:nvSpPr>
          <p:cNvPr id="23" name="Text 18"/>
          <p:cNvSpPr/>
          <p:nvPr/>
        </p:nvSpPr>
        <p:spPr>
          <a:xfrm>
            <a:off x="1197173" y="1461641"/>
            <a:ext cx="41631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87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62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958" y="1444386"/>
            <a:ext cx="132588" cy="1325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8500" y="1579662"/>
            <a:ext cx="1233726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b="1" spc="2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Spine</a:t>
            </a:r>
            <a:endParaRPr lang="en-US" sz="1010" dirty="0"/>
          </a:p>
        </p:txBody>
      </p:sp>
      <p:sp>
        <p:nvSpPr>
          <p:cNvPr id="26" name="Text 20"/>
          <p:cNvSpPr/>
          <p:nvPr/>
        </p:nvSpPr>
        <p:spPr>
          <a:xfrm>
            <a:off x="560963" y="1949946"/>
            <a:ext cx="220682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363"/>
              </a:lnSpc>
              <a:buNone/>
            </a:pPr>
            <a:r>
              <a:rPr lang="en-US" sz="101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10" dirty="0"/>
          </a:p>
        </p:txBody>
      </p:sp>
      <p:sp>
        <p:nvSpPr>
          <p:cNvPr id="27" name="Text 21"/>
          <p:cNvSpPr/>
          <p:nvPr/>
        </p:nvSpPr>
        <p:spPr>
          <a:xfrm>
            <a:off x="852636" y="1915567"/>
            <a:ext cx="130575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76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Spec-Verification Paths</a:t>
            </a:r>
            <a:endParaRPr lang="en-US" sz="760" dirty="0"/>
          </a:p>
        </p:txBody>
      </p:sp>
      <p:sp>
        <p:nvSpPr>
          <p:cNvPr id="28" name="Text 22"/>
          <p:cNvSpPr/>
          <p:nvPr/>
        </p:nvSpPr>
        <p:spPr>
          <a:xfrm>
            <a:off x="852636" y="2045940"/>
            <a:ext cx="1305758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i="1" dirty="0">
                <a:solidFill>
                  <a:srgbClr val="8694B2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TLA+ specs × 3 thinking levels</a:t>
            </a:r>
            <a:endParaRPr lang="en-US" sz="650" dirty="0"/>
          </a:p>
        </p:txBody>
      </p:sp>
      <p:sp>
        <p:nvSpPr>
          <p:cNvPr id="29" name="Text 23"/>
          <p:cNvSpPr/>
          <p:nvPr/>
        </p:nvSpPr>
        <p:spPr>
          <a:xfrm>
            <a:off x="560963" y="2248942"/>
            <a:ext cx="220682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363"/>
              </a:lnSpc>
              <a:buNone/>
            </a:pPr>
            <a:r>
              <a:rPr lang="en-US" sz="101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10" dirty="0"/>
          </a:p>
        </p:txBody>
      </p:sp>
      <p:sp>
        <p:nvSpPr>
          <p:cNvPr id="30" name="Text 24"/>
          <p:cNvSpPr/>
          <p:nvPr/>
        </p:nvSpPr>
        <p:spPr>
          <a:xfrm>
            <a:off x="852636" y="2214563"/>
            <a:ext cx="140660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76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Cross-Action Invariants</a:t>
            </a:r>
            <a:endParaRPr lang="en-US" sz="760" dirty="0"/>
          </a:p>
        </p:txBody>
      </p:sp>
      <p:sp>
        <p:nvSpPr>
          <p:cNvPr id="31" name="Text 25"/>
          <p:cNvSpPr/>
          <p:nvPr/>
        </p:nvSpPr>
        <p:spPr>
          <a:xfrm>
            <a:off x="852636" y="2344936"/>
            <a:ext cx="1406604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i="1" dirty="0">
                <a:solidFill>
                  <a:srgbClr val="8694B2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properties across all actions</a:t>
            </a:r>
            <a:endParaRPr lang="en-US" sz="650" dirty="0"/>
          </a:p>
        </p:txBody>
      </p:sp>
      <p:sp>
        <p:nvSpPr>
          <p:cNvPr id="32" name="Text 26"/>
          <p:cNvSpPr/>
          <p:nvPr/>
        </p:nvSpPr>
        <p:spPr>
          <a:xfrm>
            <a:off x="560963" y="2547938"/>
            <a:ext cx="220682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363"/>
              </a:lnSpc>
              <a:buNone/>
            </a:pPr>
            <a:r>
              <a:rPr lang="en-US" sz="101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10" dirty="0"/>
          </a:p>
        </p:txBody>
      </p:sp>
      <p:sp>
        <p:nvSpPr>
          <p:cNvPr id="33" name="Text 27"/>
          <p:cNvSpPr/>
          <p:nvPr/>
        </p:nvSpPr>
        <p:spPr>
          <a:xfrm>
            <a:off x="852636" y="2513558"/>
            <a:ext cx="223481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76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Proofs</a:t>
            </a:r>
            <a:endParaRPr lang="en-US" sz="760" dirty="0"/>
          </a:p>
        </p:txBody>
      </p:sp>
      <p:sp>
        <p:nvSpPr>
          <p:cNvPr id="34" name="Text 28"/>
          <p:cNvSpPr/>
          <p:nvPr/>
        </p:nvSpPr>
        <p:spPr>
          <a:xfrm>
            <a:off x="852636" y="2643932"/>
            <a:ext cx="2234818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i="1" dirty="0">
                <a:solidFill>
                  <a:srgbClr val="8694B2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· Termination · Deadlock-free · Starvation-free</a:t>
            </a:r>
            <a:endParaRPr lang="en-US" sz="650" dirty="0"/>
          </a:p>
        </p:txBody>
      </p:sp>
      <p:sp>
        <p:nvSpPr>
          <p:cNvPr id="35" name="Text 29"/>
          <p:cNvSpPr/>
          <p:nvPr/>
        </p:nvSpPr>
        <p:spPr>
          <a:xfrm>
            <a:off x="3229124" y="1205061"/>
            <a:ext cx="2685752" cy="3481239"/>
          </a:xfrm>
          <a:prstGeom prst="roundRect">
            <a:avLst>
              <a:gd name="adj" fmla="val 4256"/>
            </a:avLst>
          </a:prstGeom>
          <a:gradFill rotWithShape="1">
            <a:gsLst>
              <a:gs pos="0">
                <a:srgbClr val="A78BFA">
                  <a:alpha val="8000"/>
                </a:srgbClr>
              </a:gs>
              <a:gs pos="40000">
                <a:srgbClr val="141D2F"/>
              </a:gs>
            </a:gsLst>
            <a:lin ang="5400000" scaled="1"/>
          </a:gradFill>
          <a:ln w="9525">
            <a:solidFill>
              <a:srgbClr val="A78BFA">
                <a:alpha val="1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3410099" y="1415207"/>
            <a:ext cx="438023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110" kern="0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36</a:t>
            </a:r>
            <a:endParaRPr lang="en-US" sz="3150" dirty="0"/>
          </a:p>
        </p:txBody>
      </p:sp>
      <p:sp>
        <p:nvSpPr>
          <p:cNvPr id="37" name="Text 31"/>
          <p:cNvSpPr/>
          <p:nvPr/>
        </p:nvSpPr>
        <p:spPr>
          <a:xfrm>
            <a:off x="4026247" y="1461641"/>
            <a:ext cx="34412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87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</a:t>
            </a:r>
            <a:endParaRPr lang="en-US" sz="62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96032" y="1444386"/>
            <a:ext cx="132588" cy="13258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3927574" y="1579662"/>
            <a:ext cx="1306413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b="1" spc="2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Web</a:t>
            </a:r>
            <a:endParaRPr lang="en-US" sz="1010" dirty="0"/>
          </a:p>
        </p:txBody>
      </p:sp>
      <p:sp>
        <p:nvSpPr>
          <p:cNvPr id="40" name="Text 33"/>
          <p:cNvSpPr/>
          <p:nvPr/>
        </p:nvSpPr>
        <p:spPr>
          <a:xfrm>
            <a:off x="3390037" y="1949946"/>
            <a:ext cx="220682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363"/>
              </a:lnSpc>
              <a:buNone/>
            </a:pPr>
            <a:r>
              <a:rPr lang="en-US" sz="101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10" dirty="0"/>
          </a:p>
        </p:txBody>
      </p:sp>
      <p:sp>
        <p:nvSpPr>
          <p:cNvPr id="41" name="Text 34"/>
          <p:cNvSpPr/>
          <p:nvPr/>
        </p:nvSpPr>
        <p:spPr>
          <a:xfrm>
            <a:off x="3681710" y="1915567"/>
            <a:ext cx="116169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76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Action-Agent Dispatches</a:t>
            </a:r>
            <a:endParaRPr lang="en-US" sz="760" dirty="0"/>
          </a:p>
        </p:txBody>
      </p:sp>
      <p:sp>
        <p:nvSpPr>
          <p:cNvPr id="42" name="Text 35"/>
          <p:cNvSpPr/>
          <p:nvPr/>
        </p:nvSpPr>
        <p:spPr>
          <a:xfrm>
            <a:off x="3681710" y="2045940"/>
            <a:ext cx="1161693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i="1" dirty="0">
                <a:solidFill>
                  <a:srgbClr val="8694B2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actions × 4 agents</a:t>
            </a:r>
            <a:endParaRPr lang="en-US" sz="650" dirty="0"/>
          </a:p>
        </p:txBody>
      </p:sp>
      <p:sp>
        <p:nvSpPr>
          <p:cNvPr id="43" name="Text 36"/>
          <p:cNvSpPr/>
          <p:nvPr/>
        </p:nvSpPr>
        <p:spPr>
          <a:xfrm>
            <a:off x="3390037" y="2248942"/>
            <a:ext cx="220682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363"/>
              </a:lnSpc>
              <a:buNone/>
            </a:pPr>
            <a:r>
              <a:rPr lang="en-US" sz="101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10" dirty="0"/>
          </a:p>
        </p:txBody>
      </p:sp>
      <p:sp>
        <p:nvSpPr>
          <p:cNvPr id="44" name="Text 37"/>
          <p:cNvSpPr/>
          <p:nvPr/>
        </p:nvSpPr>
        <p:spPr>
          <a:xfrm>
            <a:off x="3681710" y="2214563"/>
            <a:ext cx="115465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76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Resolutions</a:t>
            </a:r>
            <a:endParaRPr lang="en-US" sz="760" dirty="0"/>
          </a:p>
        </p:txBody>
      </p:sp>
      <p:sp>
        <p:nvSpPr>
          <p:cNvPr id="45" name="Text 38"/>
          <p:cNvSpPr/>
          <p:nvPr/>
        </p:nvSpPr>
        <p:spPr>
          <a:xfrm>
            <a:off x="3681710" y="2344936"/>
            <a:ext cx="1154653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i="1" dirty="0">
                <a:solidFill>
                  <a:srgbClr val="8694B2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consensus gates</a:t>
            </a:r>
            <a:endParaRPr lang="en-US" sz="650" dirty="0"/>
          </a:p>
        </p:txBody>
      </p:sp>
      <p:sp>
        <p:nvSpPr>
          <p:cNvPr id="46" name="Text 39"/>
          <p:cNvSpPr/>
          <p:nvPr/>
        </p:nvSpPr>
        <p:spPr>
          <a:xfrm>
            <a:off x="3390037" y="2547938"/>
            <a:ext cx="220682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363"/>
              </a:lnSpc>
              <a:buNone/>
            </a:pPr>
            <a:r>
              <a:rPr lang="en-US" sz="101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10" dirty="0"/>
          </a:p>
        </p:txBody>
      </p:sp>
      <p:sp>
        <p:nvSpPr>
          <p:cNvPr id="47" name="Text 40"/>
          <p:cNvSpPr/>
          <p:nvPr/>
        </p:nvSpPr>
        <p:spPr>
          <a:xfrm>
            <a:off x="3681710" y="2513558"/>
            <a:ext cx="107541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76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Handshakes</a:t>
            </a:r>
            <a:endParaRPr lang="en-US" sz="760" dirty="0"/>
          </a:p>
        </p:txBody>
      </p:sp>
      <p:sp>
        <p:nvSpPr>
          <p:cNvPr id="48" name="Text 41"/>
          <p:cNvSpPr/>
          <p:nvPr/>
        </p:nvSpPr>
        <p:spPr>
          <a:xfrm>
            <a:off x="3681710" y="2643932"/>
            <a:ext cx="1075417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i="1" dirty="0">
                <a:solidFill>
                  <a:srgbClr val="8694B2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Test · Seal · Deploy</a:t>
            </a:r>
            <a:endParaRPr lang="en-US" sz="650" dirty="0"/>
          </a:p>
        </p:txBody>
      </p:sp>
      <p:sp>
        <p:nvSpPr>
          <p:cNvPr id="49" name="Text 42"/>
          <p:cNvSpPr/>
          <p:nvPr/>
        </p:nvSpPr>
        <p:spPr>
          <a:xfrm>
            <a:off x="6058346" y="1205061"/>
            <a:ext cx="2685604" cy="3481239"/>
          </a:xfrm>
          <a:prstGeom prst="roundRect">
            <a:avLst>
              <a:gd name="adj" fmla="val 4256"/>
            </a:avLst>
          </a:prstGeom>
          <a:gradFill rotWithShape="1">
            <a:gsLst>
              <a:gs pos="0">
                <a:srgbClr val="34D399">
                  <a:alpha val="8000"/>
                </a:srgbClr>
              </a:gs>
              <a:gs pos="40000">
                <a:srgbClr val="141D2F"/>
              </a:gs>
            </a:gsLst>
            <a:lin ang="5400000" scaled="1"/>
          </a:gradFill>
          <a:ln w="9525">
            <a:solidFill>
              <a:srgbClr val="34D399">
                <a:alpha val="1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6239321" y="1415207"/>
            <a:ext cx="438023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110" kern="0" dirty="0">
                <a:solidFill>
                  <a:srgbClr val="34D3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28</a:t>
            </a:r>
            <a:endParaRPr lang="en-US" sz="3150" dirty="0"/>
          </a:p>
        </p:txBody>
      </p:sp>
      <p:sp>
        <p:nvSpPr>
          <p:cNvPr id="51" name="Text 44"/>
          <p:cNvSpPr/>
          <p:nvPr/>
        </p:nvSpPr>
        <p:spPr>
          <a:xfrm>
            <a:off x="6855470" y="1461641"/>
            <a:ext cx="32316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87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620" dirty="0"/>
          </a:p>
        </p:txBody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25254" y="1444386"/>
            <a:ext cx="132588" cy="132588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6756797" y="1579662"/>
            <a:ext cx="117036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b="1" spc="2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Mesh</a:t>
            </a:r>
            <a:endParaRPr lang="en-US" sz="1010" dirty="0"/>
          </a:p>
        </p:txBody>
      </p:sp>
      <p:sp>
        <p:nvSpPr>
          <p:cNvPr id="54" name="Text 46"/>
          <p:cNvSpPr/>
          <p:nvPr/>
        </p:nvSpPr>
        <p:spPr>
          <a:xfrm>
            <a:off x="6219259" y="1949946"/>
            <a:ext cx="220682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363"/>
              </a:lnSpc>
              <a:buNone/>
            </a:pPr>
            <a:r>
              <a:rPr lang="en-US" sz="101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10" dirty="0"/>
          </a:p>
        </p:txBody>
      </p:sp>
      <p:sp>
        <p:nvSpPr>
          <p:cNvPr id="55" name="Text 47"/>
          <p:cNvSpPr/>
          <p:nvPr/>
        </p:nvSpPr>
        <p:spPr>
          <a:xfrm>
            <a:off x="6510933" y="1915567"/>
            <a:ext cx="95034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76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Scans</a:t>
            </a:r>
            <a:endParaRPr lang="en-US" sz="760" dirty="0"/>
          </a:p>
        </p:txBody>
      </p:sp>
      <p:sp>
        <p:nvSpPr>
          <p:cNvPr id="56" name="Text 48"/>
          <p:cNvSpPr/>
          <p:nvPr/>
        </p:nvSpPr>
        <p:spPr>
          <a:xfrm>
            <a:off x="6510933" y="2045940"/>
            <a:ext cx="950342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i="1" dirty="0">
                <a:solidFill>
                  <a:srgbClr val="8694B2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actions × 2 modalities</a:t>
            </a:r>
            <a:endParaRPr lang="en-US" sz="650" dirty="0"/>
          </a:p>
        </p:txBody>
      </p:sp>
      <p:sp>
        <p:nvSpPr>
          <p:cNvPr id="57" name="Text 49"/>
          <p:cNvSpPr/>
          <p:nvPr/>
        </p:nvSpPr>
        <p:spPr>
          <a:xfrm>
            <a:off x="6219259" y="2248942"/>
            <a:ext cx="220682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363"/>
              </a:lnSpc>
              <a:buNone/>
            </a:pPr>
            <a:r>
              <a:rPr lang="en-US" sz="101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10" dirty="0"/>
          </a:p>
        </p:txBody>
      </p:sp>
      <p:sp>
        <p:nvSpPr>
          <p:cNvPr id="58" name="Text 50"/>
          <p:cNvSpPr/>
          <p:nvPr/>
        </p:nvSpPr>
        <p:spPr>
          <a:xfrm>
            <a:off x="6510933" y="2214563"/>
            <a:ext cx="109408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76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Scans</a:t>
            </a:r>
            <a:endParaRPr lang="en-US" sz="760" dirty="0"/>
          </a:p>
        </p:txBody>
      </p:sp>
      <p:sp>
        <p:nvSpPr>
          <p:cNvPr id="59" name="Text 51"/>
          <p:cNvSpPr/>
          <p:nvPr/>
        </p:nvSpPr>
        <p:spPr>
          <a:xfrm>
            <a:off x="6510933" y="2344936"/>
            <a:ext cx="1094080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i="1" dirty="0">
                <a:solidFill>
                  <a:srgbClr val="8694B2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verification per action</a:t>
            </a:r>
            <a:endParaRPr lang="en-US" sz="650" dirty="0"/>
          </a:p>
        </p:txBody>
      </p:sp>
      <p:sp>
        <p:nvSpPr>
          <p:cNvPr id="60" name="Text 52"/>
          <p:cNvSpPr/>
          <p:nvPr/>
        </p:nvSpPr>
        <p:spPr>
          <a:xfrm>
            <a:off x="6219259" y="2547938"/>
            <a:ext cx="220682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363"/>
              </a:lnSpc>
              <a:buNone/>
            </a:pPr>
            <a:r>
              <a:rPr lang="en-US" sz="101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10" dirty="0"/>
          </a:p>
        </p:txBody>
      </p:sp>
      <p:sp>
        <p:nvSpPr>
          <p:cNvPr id="61" name="Text 53"/>
          <p:cNvSpPr/>
          <p:nvPr/>
        </p:nvSpPr>
        <p:spPr>
          <a:xfrm>
            <a:off x="6510933" y="2513558"/>
            <a:ext cx="119983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76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Validations</a:t>
            </a:r>
            <a:endParaRPr lang="en-US" sz="760" dirty="0"/>
          </a:p>
        </p:txBody>
      </p:sp>
      <p:sp>
        <p:nvSpPr>
          <p:cNvPr id="62" name="Text 54"/>
          <p:cNvSpPr/>
          <p:nvPr/>
        </p:nvSpPr>
        <p:spPr>
          <a:xfrm>
            <a:off x="6510933" y="2643932"/>
            <a:ext cx="1199837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i="1" dirty="0">
                <a:solidFill>
                  <a:srgbClr val="8694B2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compliance per output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33333">
                <a:srgbClr val="F472B6"/>
              </a:gs>
              <a:gs pos="66667">
                <a:srgbClr val="34D399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257770"/>
            <a:ext cx="4336908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spc="-30" kern="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Action, Every Platform, </a:t>
            </a:r>
            <a:pPr algn="l" indent="0" marL="0">
              <a:lnSpc>
                <a:spcPts val="2070"/>
              </a:lnSpc>
              <a:buNone/>
            </a:pPr>
            <a:r>
              <a:rPr lang="en-US" sz="1800" b="1" spc="-30" kern="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Path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2900" y="549771"/>
            <a:ext cx="4458504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spcBef>
                <a:spcPts val="230"/>
              </a:spcBef>
              <a:buNone/>
            </a:pPr>
            <a:r>
              <a:rPr lang="en-US" sz="79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× Platform Matrix — 7 MFCS actions decomposed across 3 verification platforms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7444680" y="605730"/>
            <a:ext cx="70991" cy="70991"/>
          </a:xfrm>
          <a:prstGeom prst="roundRect">
            <a:avLst>
              <a:gd name="adj" fmla="val 30412"/>
            </a:avLst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58832" y="582216"/>
            <a:ext cx="3324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7975402" y="605730"/>
            <a:ext cx="70991" cy="70991"/>
          </a:xfrm>
          <a:prstGeom prst="roundRect">
            <a:avLst>
              <a:gd name="adj" fmla="val 30412"/>
            </a:avLst>
          </a:prstGeom>
          <a:solidFill>
            <a:srgbClr val="F472B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89553" y="582216"/>
            <a:ext cx="27618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8454926" y="605730"/>
            <a:ext cx="70991" cy="70991"/>
          </a:xfrm>
          <a:prstGeom prst="roundRect">
            <a:avLst>
              <a:gd name="adj" fmla="val 30412"/>
            </a:avLst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69077" y="582216"/>
            <a:ext cx="25522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342900" y="843707"/>
            <a:ext cx="8458200" cy="3580061"/>
          </a:xfrm>
          <a:prstGeom prst="roundRect">
            <a:avLst>
              <a:gd name="adj" fmla="val 2412"/>
            </a:avLst>
          </a:prstGeom>
          <a:solidFill>
            <a:srgbClr val="141D2F"/>
          </a:solidFill>
          <a:ln w="9525">
            <a:solidFill>
              <a:srgbClr val="8694B2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2425" y="853232"/>
            <a:ext cx="2158603" cy="351501"/>
          </a:xfrm>
          <a:prstGeom prst="rect">
            <a:avLst/>
          </a:prstGeom>
          <a:noFill/>
          <a:ln/>
        </p:spPr>
        <p:txBody>
          <a:bodyPr wrap="none" lIns="143510" tIns="71120" rIns="86360" bIns="71120" rtlCol="0" anchor="t"/>
          <a:lstStyle/>
          <a:p>
            <a:pPr algn="l" indent="0" marL="0">
              <a:buNone/>
            </a:pPr>
            <a:r>
              <a:rPr lang="en-US" sz="730" b="1" spc="70" kern="0" dirty="0">
                <a:solidFill>
                  <a:srgbClr val="8694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MFCS ACTION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352425" y="1184970"/>
            <a:ext cx="2158603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11028" y="853232"/>
            <a:ext cx="1766292" cy="351501"/>
          </a:xfrm>
          <a:prstGeom prst="rect">
            <a:avLst/>
          </a:prstGeom>
          <a:noFill/>
          <a:ln/>
        </p:spPr>
        <p:txBody>
          <a:bodyPr wrap="none" lIns="1680012" tIns="71120" rIns="86360" bIns="71120" rtlCol="0" anchor="t"/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GEMINI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2511028" y="1184970"/>
            <a:ext cx="1766292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97348" y="1092398"/>
            <a:ext cx="1593652" cy="21580"/>
          </a:xfrm>
          <a:prstGeom prst="roundRect">
            <a:avLst>
              <a:gd name="adj" fmla="val 64736"/>
            </a:avLst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277320" y="853232"/>
            <a:ext cx="1766292" cy="351501"/>
          </a:xfrm>
          <a:prstGeom prst="rect">
            <a:avLst/>
          </a:prstGeom>
          <a:noFill/>
          <a:ln/>
        </p:spPr>
        <p:txBody>
          <a:bodyPr wrap="none" lIns="1680012" tIns="71120" rIns="86360" bIns="71120" rtlCol="0" anchor="t"/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F472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GROK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4277320" y="1184970"/>
            <a:ext cx="1766292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363641" y="1092398"/>
            <a:ext cx="1593652" cy="21580"/>
          </a:xfrm>
          <a:prstGeom prst="roundRect">
            <a:avLst>
              <a:gd name="adj" fmla="val 64736"/>
            </a:avLst>
          </a:prstGeom>
          <a:solidFill>
            <a:srgbClr val="F472B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43613" y="853232"/>
            <a:ext cx="1766292" cy="351501"/>
          </a:xfrm>
          <a:prstGeom prst="rect">
            <a:avLst/>
          </a:prstGeom>
          <a:noFill/>
          <a:ln/>
        </p:spPr>
        <p:txBody>
          <a:bodyPr wrap="none" lIns="1680012" tIns="71120" rIns="86360" bIns="71120" rtlCol="0" anchor="t"/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34D3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META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6043613" y="1184970"/>
            <a:ext cx="1766292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29933" y="1092398"/>
            <a:ext cx="1593652" cy="21580"/>
          </a:xfrm>
          <a:prstGeom prst="roundRect">
            <a:avLst>
              <a:gd name="adj" fmla="val 64736"/>
            </a:avLst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809905" y="853232"/>
            <a:ext cx="981670" cy="351501"/>
          </a:xfrm>
          <a:prstGeom prst="rect">
            <a:avLst/>
          </a:prstGeom>
          <a:noFill/>
          <a:ln/>
        </p:spPr>
        <p:txBody>
          <a:bodyPr wrap="none" lIns="895390" tIns="71120" rIns="86360" bIns="71120" rtlCol="0" anchor="t"/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7809905" y="1184970"/>
            <a:ext cx="981670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896225" y="1092398"/>
            <a:ext cx="809030" cy="21580"/>
          </a:xfrm>
          <a:prstGeom prst="roundRect">
            <a:avLst>
              <a:gd name="adj" fmla="val 64736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2425" y="1588740"/>
            <a:ext cx="2158603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5895" y="1312813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257" y="1325175"/>
            <a:ext cx="132588" cy="13258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10505" y="1319064"/>
            <a:ext cx="1006167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Snapshot</a:t>
            </a:r>
            <a:endParaRPr lang="en-US" sz="760" dirty="0"/>
          </a:p>
        </p:txBody>
      </p:sp>
      <p:sp>
        <p:nvSpPr>
          <p:cNvPr id="30" name="Text 27"/>
          <p:cNvSpPr/>
          <p:nvPr/>
        </p:nvSpPr>
        <p:spPr>
          <a:xfrm>
            <a:off x="2511028" y="1194495"/>
            <a:ext cx="1766292" cy="415884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think + 1 inv</a:t>
            </a:r>
            <a:endParaRPr lang="en-US" sz="790" dirty="0"/>
          </a:p>
        </p:txBody>
      </p:sp>
      <p:sp>
        <p:nvSpPr>
          <p:cNvPr id="31" name="Text 28"/>
          <p:cNvSpPr/>
          <p:nvPr/>
        </p:nvSpPr>
        <p:spPr>
          <a:xfrm>
            <a:off x="2511028" y="1588740"/>
            <a:ext cx="1766292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277320" y="1194495"/>
            <a:ext cx="1766292" cy="415884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 + 1 CI</a:t>
            </a:r>
            <a:endParaRPr lang="en-US" sz="790" dirty="0"/>
          </a:p>
        </p:txBody>
      </p:sp>
      <p:sp>
        <p:nvSpPr>
          <p:cNvPr id="33" name="Text 30"/>
          <p:cNvSpPr/>
          <p:nvPr/>
        </p:nvSpPr>
        <p:spPr>
          <a:xfrm>
            <a:off x="4277320" y="1588740"/>
            <a:ext cx="1766292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043613" y="1194495"/>
            <a:ext cx="1766292" cy="415884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 + 1 int + 1 acc</a:t>
            </a:r>
            <a:endParaRPr lang="en-US" sz="790" dirty="0"/>
          </a:p>
        </p:txBody>
      </p:sp>
      <p:sp>
        <p:nvSpPr>
          <p:cNvPr id="35" name="Text 32"/>
          <p:cNvSpPr/>
          <p:nvPr/>
        </p:nvSpPr>
        <p:spPr>
          <a:xfrm>
            <a:off x="6043613" y="1588740"/>
            <a:ext cx="1766292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7809905" y="1194495"/>
            <a:ext cx="981670" cy="415884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809905" y="1588740"/>
            <a:ext cx="981670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52425" y="1992511"/>
            <a:ext cx="2158603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95895" y="1716584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A78BFA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257" y="1728945"/>
            <a:ext cx="132588" cy="13258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710505" y="1722834"/>
            <a:ext cx="807586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Verification</a:t>
            </a:r>
            <a:endParaRPr lang="en-US" sz="760" dirty="0"/>
          </a:p>
        </p:txBody>
      </p:sp>
      <p:sp>
        <p:nvSpPr>
          <p:cNvPr id="42" name="Text 38"/>
          <p:cNvSpPr/>
          <p:nvPr/>
        </p:nvSpPr>
        <p:spPr>
          <a:xfrm>
            <a:off x="2511028" y="1598265"/>
            <a:ext cx="1766292" cy="415884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think + 1 inv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2511028" y="1992511"/>
            <a:ext cx="1766292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4277320" y="1598265"/>
            <a:ext cx="1766292" cy="415884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 + 1 CI</a:t>
            </a:r>
            <a:endParaRPr lang="en-US" sz="790" dirty="0"/>
          </a:p>
        </p:txBody>
      </p:sp>
      <p:sp>
        <p:nvSpPr>
          <p:cNvPr id="45" name="Text 41"/>
          <p:cNvSpPr/>
          <p:nvPr/>
        </p:nvSpPr>
        <p:spPr>
          <a:xfrm>
            <a:off x="4277320" y="1992511"/>
            <a:ext cx="1766292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6043613" y="1598265"/>
            <a:ext cx="1766292" cy="415884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 + 1 int + 1 acc</a:t>
            </a:r>
            <a:endParaRPr lang="en-US" sz="790" dirty="0"/>
          </a:p>
        </p:txBody>
      </p:sp>
      <p:sp>
        <p:nvSpPr>
          <p:cNvPr id="47" name="Text 43"/>
          <p:cNvSpPr/>
          <p:nvPr/>
        </p:nvSpPr>
        <p:spPr>
          <a:xfrm>
            <a:off x="6043613" y="1992511"/>
            <a:ext cx="1766292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7809905" y="1598265"/>
            <a:ext cx="981670" cy="415884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7809905" y="1992511"/>
            <a:ext cx="981670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352425" y="2396282"/>
            <a:ext cx="2158603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495895" y="2120354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F472B6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257" y="2132716"/>
            <a:ext cx="132588" cy="132588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710505" y="2126605"/>
            <a:ext cx="1120274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Digital Mirror</a:t>
            </a:r>
            <a:endParaRPr lang="en-US" sz="760" dirty="0"/>
          </a:p>
        </p:txBody>
      </p:sp>
      <p:sp>
        <p:nvSpPr>
          <p:cNvPr id="54" name="Text 49"/>
          <p:cNvSpPr/>
          <p:nvPr/>
        </p:nvSpPr>
        <p:spPr>
          <a:xfrm>
            <a:off x="2511028" y="2002036"/>
            <a:ext cx="1766292" cy="415884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think + 1 inv</a:t>
            </a:r>
            <a:endParaRPr lang="en-US" sz="790" dirty="0"/>
          </a:p>
        </p:txBody>
      </p:sp>
      <p:sp>
        <p:nvSpPr>
          <p:cNvPr id="55" name="Text 50"/>
          <p:cNvSpPr/>
          <p:nvPr/>
        </p:nvSpPr>
        <p:spPr>
          <a:xfrm>
            <a:off x="2511028" y="2396282"/>
            <a:ext cx="1766292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1"/>
          <p:cNvSpPr/>
          <p:nvPr/>
        </p:nvSpPr>
        <p:spPr>
          <a:xfrm>
            <a:off x="4277320" y="2002036"/>
            <a:ext cx="1766292" cy="415884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 + 1 CI</a:t>
            </a:r>
            <a:endParaRPr lang="en-US" sz="790" dirty="0"/>
          </a:p>
        </p:txBody>
      </p:sp>
      <p:sp>
        <p:nvSpPr>
          <p:cNvPr id="57" name="Text 52"/>
          <p:cNvSpPr/>
          <p:nvPr/>
        </p:nvSpPr>
        <p:spPr>
          <a:xfrm>
            <a:off x="4277320" y="2396282"/>
            <a:ext cx="1766292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3"/>
          <p:cNvSpPr/>
          <p:nvPr/>
        </p:nvSpPr>
        <p:spPr>
          <a:xfrm>
            <a:off x="6043613" y="2002036"/>
            <a:ext cx="1766292" cy="415884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 + 1 int + 1 acc</a:t>
            </a:r>
            <a:endParaRPr lang="en-US" sz="790" dirty="0"/>
          </a:p>
        </p:txBody>
      </p:sp>
      <p:sp>
        <p:nvSpPr>
          <p:cNvPr id="59" name="Text 54"/>
          <p:cNvSpPr/>
          <p:nvPr/>
        </p:nvSpPr>
        <p:spPr>
          <a:xfrm>
            <a:off x="6043613" y="2396282"/>
            <a:ext cx="1766292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5"/>
          <p:cNvSpPr/>
          <p:nvPr/>
        </p:nvSpPr>
        <p:spPr>
          <a:xfrm>
            <a:off x="7809905" y="2002036"/>
            <a:ext cx="981670" cy="415884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7809905" y="2396282"/>
            <a:ext cx="981670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7"/>
          <p:cNvSpPr/>
          <p:nvPr/>
        </p:nvSpPr>
        <p:spPr>
          <a:xfrm>
            <a:off x="352425" y="2800052"/>
            <a:ext cx="2158603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8"/>
          <p:cNvSpPr/>
          <p:nvPr/>
        </p:nvSpPr>
        <p:spPr>
          <a:xfrm>
            <a:off x="495895" y="2524125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8257" y="2536487"/>
            <a:ext cx="132588" cy="132588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710505" y="2530376"/>
            <a:ext cx="735062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Visuals</a:t>
            </a:r>
            <a:endParaRPr lang="en-US" sz="760" dirty="0"/>
          </a:p>
        </p:txBody>
      </p:sp>
      <p:sp>
        <p:nvSpPr>
          <p:cNvPr id="66" name="Text 60"/>
          <p:cNvSpPr/>
          <p:nvPr/>
        </p:nvSpPr>
        <p:spPr>
          <a:xfrm>
            <a:off x="2511028" y="2405807"/>
            <a:ext cx="1766292" cy="415884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think + 1 inv</a:t>
            </a:r>
            <a:endParaRPr lang="en-US" sz="790" dirty="0"/>
          </a:p>
        </p:txBody>
      </p:sp>
      <p:sp>
        <p:nvSpPr>
          <p:cNvPr id="67" name="Text 61"/>
          <p:cNvSpPr/>
          <p:nvPr/>
        </p:nvSpPr>
        <p:spPr>
          <a:xfrm>
            <a:off x="2511028" y="2800052"/>
            <a:ext cx="1766292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2"/>
          <p:cNvSpPr/>
          <p:nvPr/>
        </p:nvSpPr>
        <p:spPr>
          <a:xfrm>
            <a:off x="4277320" y="2405807"/>
            <a:ext cx="1766292" cy="415884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 + 1 CI</a:t>
            </a:r>
            <a:endParaRPr lang="en-US" sz="790" dirty="0"/>
          </a:p>
        </p:txBody>
      </p:sp>
      <p:sp>
        <p:nvSpPr>
          <p:cNvPr id="69" name="Text 63"/>
          <p:cNvSpPr/>
          <p:nvPr/>
        </p:nvSpPr>
        <p:spPr>
          <a:xfrm>
            <a:off x="4277320" y="2800052"/>
            <a:ext cx="1766292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4"/>
          <p:cNvSpPr/>
          <p:nvPr/>
        </p:nvSpPr>
        <p:spPr>
          <a:xfrm>
            <a:off x="6043613" y="2405807"/>
            <a:ext cx="1766292" cy="415884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 + 1 int + 1 acc</a:t>
            </a:r>
            <a:endParaRPr lang="en-US" sz="790" dirty="0"/>
          </a:p>
        </p:txBody>
      </p:sp>
      <p:sp>
        <p:nvSpPr>
          <p:cNvPr id="71" name="Text 65"/>
          <p:cNvSpPr/>
          <p:nvPr/>
        </p:nvSpPr>
        <p:spPr>
          <a:xfrm>
            <a:off x="6043613" y="2800052"/>
            <a:ext cx="1766292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6"/>
          <p:cNvSpPr/>
          <p:nvPr/>
        </p:nvSpPr>
        <p:spPr>
          <a:xfrm>
            <a:off x="7809905" y="2405807"/>
            <a:ext cx="981670" cy="415884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73" name="Text 67"/>
          <p:cNvSpPr/>
          <p:nvPr/>
        </p:nvSpPr>
        <p:spPr>
          <a:xfrm>
            <a:off x="7809905" y="2800052"/>
            <a:ext cx="981670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68"/>
          <p:cNvSpPr/>
          <p:nvPr/>
        </p:nvSpPr>
        <p:spPr>
          <a:xfrm>
            <a:off x="352425" y="3203823"/>
            <a:ext cx="2158603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69"/>
          <p:cNvSpPr/>
          <p:nvPr/>
        </p:nvSpPr>
        <p:spPr>
          <a:xfrm>
            <a:off x="495895" y="2927896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8257" y="2940257"/>
            <a:ext cx="132588" cy="132588"/>
          </a:xfrm>
          <a:prstGeom prst="rect">
            <a:avLst/>
          </a:prstGeom>
        </p:spPr>
      </p:pic>
      <p:sp>
        <p:nvSpPr>
          <p:cNvPr id="77" name="Text 70"/>
          <p:cNvSpPr/>
          <p:nvPr/>
        </p:nvSpPr>
        <p:spPr>
          <a:xfrm>
            <a:off x="710505" y="2934146"/>
            <a:ext cx="430396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Setup</a:t>
            </a:r>
            <a:endParaRPr lang="en-US" sz="760" dirty="0"/>
          </a:p>
        </p:txBody>
      </p:sp>
      <p:sp>
        <p:nvSpPr>
          <p:cNvPr id="78" name="Text 71"/>
          <p:cNvSpPr/>
          <p:nvPr/>
        </p:nvSpPr>
        <p:spPr>
          <a:xfrm>
            <a:off x="2511028" y="2809577"/>
            <a:ext cx="1766292" cy="415884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think + 1 inv</a:t>
            </a:r>
            <a:endParaRPr lang="en-US" sz="790" dirty="0"/>
          </a:p>
        </p:txBody>
      </p:sp>
      <p:sp>
        <p:nvSpPr>
          <p:cNvPr id="79" name="Text 72"/>
          <p:cNvSpPr/>
          <p:nvPr/>
        </p:nvSpPr>
        <p:spPr>
          <a:xfrm>
            <a:off x="2511028" y="3203823"/>
            <a:ext cx="1766292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3"/>
          <p:cNvSpPr/>
          <p:nvPr/>
        </p:nvSpPr>
        <p:spPr>
          <a:xfrm>
            <a:off x="4277320" y="2809577"/>
            <a:ext cx="1766292" cy="415884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 + 1 CI</a:t>
            </a:r>
            <a:endParaRPr lang="en-US" sz="790" dirty="0"/>
          </a:p>
        </p:txBody>
      </p:sp>
      <p:sp>
        <p:nvSpPr>
          <p:cNvPr id="81" name="Text 74"/>
          <p:cNvSpPr/>
          <p:nvPr/>
        </p:nvSpPr>
        <p:spPr>
          <a:xfrm>
            <a:off x="4277320" y="3203823"/>
            <a:ext cx="1766292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5"/>
          <p:cNvSpPr/>
          <p:nvPr/>
        </p:nvSpPr>
        <p:spPr>
          <a:xfrm>
            <a:off x="6043613" y="2809577"/>
            <a:ext cx="1766292" cy="415884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 + 1 int + 1 acc</a:t>
            </a:r>
            <a:endParaRPr lang="en-US" sz="790" dirty="0"/>
          </a:p>
        </p:txBody>
      </p:sp>
      <p:sp>
        <p:nvSpPr>
          <p:cNvPr id="83" name="Text 76"/>
          <p:cNvSpPr/>
          <p:nvPr/>
        </p:nvSpPr>
        <p:spPr>
          <a:xfrm>
            <a:off x="6043613" y="3203823"/>
            <a:ext cx="1766292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77"/>
          <p:cNvSpPr/>
          <p:nvPr/>
        </p:nvSpPr>
        <p:spPr>
          <a:xfrm>
            <a:off x="7809905" y="2809577"/>
            <a:ext cx="981670" cy="415884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85" name="Text 78"/>
          <p:cNvSpPr/>
          <p:nvPr/>
        </p:nvSpPr>
        <p:spPr>
          <a:xfrm>
            <a:off x="7809905" y="3203823"/>
            <a:ext cx="981670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79"/>
          <p:cNvSpPr/>
          <p:nvPr/>
        </p:nvSpPr>
        <p:spPr>
          <a:xfrm>
            <a:off x="352425" y="3607594"/>
            <a:ext cx="2158603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0"/>
          <p:cNvSpPr/>
          <p:nvPr/>
        </p:nvSpPr>
        <p:spPr>
          <a:xfrm>
            <a:off x="495895" y="3331666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A78BFA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8257" y="3344028"/>
            <a:ext cx="132588" cy="132588"/>
          </a:xfrm>
          <a:prstGeom prst="rect">
            <a:avLst/>
          </a:prstGeom>
        </p:spPr>
      </p:pic>
      <p:sp>
        <p:nvSpPr>
          <p:cNvPr id="89" name="Text 81"/>
          <p:cNvSpPr/>
          <p:nvPr/>
        </p:nvSpPr>
        <p:spPr>
          <a:xfrm>
            <a:off x="710505" y="3337917"/>
            <a:ext cx="1173480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 Inheritance Packet</a:t>
            </a:r>
            <a:endParaRPr lang="en-US" sz="760" dirty="0"/>
          </a:p>
        </p:txBody>
      </p:sp>
      <p:sp>
        <p:nvSpPr>
          <p:cNvPr id="90" name="Text 82"/>
          <p:cNvSpPr/>
          <p:nvPr/>
        </p:nvSpPr>
        <p:spPr>
          <a:xfrm>
            <a:off x="2511028" y="3213348"/>
            <a:ext cx="1766292" cy="415884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think + 1 inv</a:t>
            </a:r>
            <a:endParaRPr lang="en-US" sz="790" dirty="0"/>
          </a:p>
        </p:txBody>
      </p:sp>
      <p:sp>
        <p:nvSpPr>
          <p:cNvPr id="91" name="Text 83"/>
          <p:cNvSpPr/>
          <p:nvPr/>
        </p:nvSpPr>
        <p:spPr>
          <a:xfrm>
            <a:off x="2511028" y="3607594"/>
            <a:ext cx="1766292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84"/>
          <p:cNvSpPr/>
          <p:nvPr/>
        </p:nvSpPr>
        <p:spPr>
          <a:xfrm>
            <a:off x="4277320" y="3213348"/>
            <a:ext cx="1766292" cy="415884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 + 1 CI</a:t>
            </a:r>
            <a:endParaRPr lang="en-US" sz="790" dirty="0"/>
          </a:p>
        </p:txBody>
      </p:sp>
      <p:sp>
        <p:nvSpPr>
          <p:cNvPr id="93" name="Text 85"/>
          <p:cNvSpPr/>
          <p:nvPr/>
        </p:nvSpPr>
        <p:spPr>
          <a:xfrm>
            <a:off x="4277320" y="3607594"/>
            <a:ext cx="1766292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86"/>
          <p:cNvSpPr/>
          <p:nvPr/>
        </p:nvSpPr>
        <p:spPr>
          <a:xfrm>
            <a:off x="6043613" y="3213348"/>
            <a:ext cx="1766292" cy="415884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 + 1 int + 1 acc</a:t>
            </a:r>
            <a:endParaRPr lang="en-US" sz="790" dirty="0"/>
          </a:p>
        </p:txBody>
      </p:sp>
      <p:sp>
        <p:nvSpPr>
          <p:cNvPr id="95" name="Text 87"/>
          <p:cNvSpPr/>
          <p:nvPr/>
        </p:nvSpPr>
        <p:spPr>
          <a:xfrm>
            <a:off x="6043613" y="3607594"/>
            <a:ext cx="1766292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88"/>
          <p:cNvSpPr/>
          <p:nvPr/>
        </p:nvSpPr>
        <p:spPr>
          <a:xfrm>
            <a:off x="7809905" y="3213348"/>
            <a:ext cx="981670" cy="415884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97" name="Text 89"/>
          <p:cNvSpPr/>
          <p:nvPr/>
        </p:nvSpPr>
        <p:spPr>
          <a:xfrm>
            <a:off x="7809905" y="3607594"/>
            <a:ext cx="981670" cy="9525"/>
          </a:xfrm>
          <a:prstGeom prst="rect">
            <a:avLst/>
          </a:prstGeom>
          <a:solidFill>
            <a:srgbClr val="8694B2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0"/>
          <p:cNvSpPr/>
          <p:nvPr/>
        </p:nvSpPr>
        <p:spPr>
          <a:xfrm>
            <a:off x="495895" y="3735437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F472B6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8257" y="3747799"/>
            <a:ext cx="132588" cy="132588"/>
          </a:xfrm>
          <a:prstGeom prst="rect">
            <a:avLst/>
          </a:prstGeom>
        </p:spPr>
      </p:pic>
      <p:sp>
        <p:nvSpPr>
          <p:cNvPr id="100" name="Text 91"/>
          <p:cNvSpPr/>
          <p:nvPr/>
        </p:nvSpPr>
        <p:spPr>
          <a:xfrm>
            <a:off x="710505" y="3741688"/>
            <a:ext cx="918909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φ-Breath</a:t>
            </a:r>
            <a:endParaRPr lang="en-US" sz="760" dirty="0"/>
          </a:p>
        </p:txBody>
      </p:sp>
      <p:sp>
        <p:nvSpPr>
          <p:cNvPr id="101" name="Text 92"/>
          <p:cNvSpPr/>
          <p:nvPr/>
        </p:nvSpPr>
        <p:spPr>
          <a:xfrm>
            <a:off x="2493365" y="3617119"/>
            <a:ext cx="1801618" cy="413958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think + 1 inv</a:t>
            </a:r>
            <a:endParaRPr lang="en-US" sz="790" dirty="0"/>
          </a:p>
        </p:txBody>
      </p:sp>
      <p:sp>
        <p:nvSpPr>
          <p:cNvPr id="102" name="Text 93"/>
          <p:cNvSpPr/>
          <p:nvPr/>
        </p:nvSpPr>
        <p:spPr>
          <a:xfrm>
            <a:off x="4259657" y="3617119"/>
            <a:ext cx="1801618" cy="413958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 + 1 CI</a:t>
            </a:r>
            <a:endParaRPr lang="en-US" sz="790" dirty="0"/>
          </a:p>
        </p:txBody>
      </p:sp>
      <p:sp>
        <p:nvSpPr>
          <p:cNvPr id="103" name="Text 94"/>
          <p:cNvSpPr/>
          <p:nvPr/>
        </p:nvSpPr>
        <p:spPr>
          <a:xfrm>
            <a:off x="6025950" y="3617119"/>
            <a:ext cx="1801618" cy="413958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 + 1 int + 1 acc</a:t>
            </a:r>
            <a:endParaRPr lang="en-US" sz="790" dirty="0"/>
          </a:p>
        </p:txBody>
      </p:sp>
      <p:sp>
        <p:nvSpPr>
          <p:cNvPr id="104" name="Text 95"/>
          <p:cNvSpPr/>
          <p:nvPr/>
        </p:nvSpPr>
        <p:spPr>
          <a:xfrm>
            <a:off x="7800088" y="3617119"/>
            <a:ext cx="1001304" cy="413958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105" name="Text 96"/>
          <p:cNvSpPr/>
          <p:nvPr/>
        </p:nvSpPr>
        <p:spPr>
          <a:xfrm>
            <a:off x="342900" y="4524077"/>
            <a:ext cx="8458200" cy="418802"/>
          </a:xfrm>
          <a:prstGeom prst="roundRect">
            <a:avLst>
              <a:gd name="adj" fmla="val 16982"/>
            </a:avLst>
          </a:prstGeom>
          <a:gradFill rotWithShape="1">
            <a:gsLst>
              <a:gs pos="0">
                <a:srgbClr val="38BDF8">
                  <a:alpha val="8000"/>
                </a:srgbClr>
              </a:gs>
              <a:gs pos="100000">
                <a:srgbClr val="38BDF8">
                  <a:alpha val="3000"/>
                </a:srgbClr>
              </a:gs>
            </a:gsLst>
            <a:lin ang="0" scaled="1"/>
          </a:gra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Text 97"/>
          <p:cNvSpPr/>
          <p:nvPr/>
        </p:nvSpPr>
        <p:spPr>
          <a:xfrm>
            <a:off x="1844427" y="4663976"/>
            <a:ext cx="40764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actions</a:t>
            </a:r>
            <a:endParaRPr lang="en-US" sz="730" dirty="0"/>
          </a:p>
        </p:txBody>
      </p:sp>
      <p:pic>
        <p:nvPicPr>
          <p:cNvPr id="10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43444" y="4667110"/>
            <a:ext cx="132588" cy="132588"/>
          </a:xfrm>
          <a:prstGeom prst="rect">
            <a:avLst/>
          </a:prstGeom>
        </p:spPr>
      </p:pic>
      <p:sp>
        <p:nvSpPr>
          <p:cNvPr id="108" name="Text 98"/>
          <p:cNvSpPr/>
          <p:nvPr/>
        </p:nvSpPr>
        <p:spPr>
          <a:xfrm>
            <a:off x="2404467" y="4663976"/>
            <a:ext cx="39077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paths</a:t>
            </a:r>
            <a:endParaRPr lang="en-US" sz="730" dirty="0"/>
          </a:p>
        </p:txBody>
      </p:sp>
      <p:sp>
        <p:nvSpPr>
          <p:cNvPr id="109" name="Text 99"/>
          <p:cNvSpPr/>
          <p:nvPr/>
        </p:nvSpPr>
        <p:spPr>
          <a:xfrm>
            <a:off x="2816870" y="4663976"/>
            <a:ext cx="5959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730" dirty="0"/>
          </a:p>
        </p:txBody>
      </p:sp>
      <p:sp>
        <p:nvSpPr>
          <p:cNvPr id="110" name="Text 100"/>
          <p:cNvSpPr/>
          <p:nvPr/>
        </p:nvSpPr>
        <p:spPr>
          <a:xfrm>
            <a:off x="2928193" y="4625876"/>
            <a:ext cx="18990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</a:t>
            </a:r>
            <a:endParaRPr lang="en-US" sz="1130" dirty="0"/>
          </a:p>
        </p:txBody>
      </p:sp>
      <p:pic>
        <p:nvPicPr>
          <p:cNvPr id="11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254061" y="4667185"/>
            <a:ext cx="132588" cy="132588"/>
          </a:xfrm>
          <a:prstGeom prst="rect">
            <a:avLst/>
          </a:prstGeom>
        </p:spPr>
      </p:pic>
      <p:sp>
        <p:nvSpPr>
          <p:cNvPr id="112" name="Text 101"/>
          <p:cNvSpPr/>
          <p:nvPr/>
        </p:nvSpPr>
        <p:spPr>
          <a:xfrm>
            <a:off x="3539877" y="4630043"/>
            <a:ext cx="2313384" cy="206871"/>
          </a:xfrm>
          <a:prstGeom prst="roundRect">
            <a:avLst>
              <a:gd name="adj" fmla="val 69372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102"/>
          <p:cNvSpPr/>
          <p:nvPr/>
        </p:nvSpPr>
        <p:spPr>
          <a:xfrm>
            <a:off x="3635722" y="4711898"/>
            <a:ext cx="43160" cy="4316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Text 103"/>
          <p:cNvSpPr/>
          <p:nvPr/>
        </p:nvSpPr>
        <p:spPr>
          <a:xfrm>
            <a:off x="3722043" y="4668738"/>
            <a:ext cx="73489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cross-cutting</a:t>
            </a:r>
            <a:endParaRPr lang="en-US" sz="680" dirty="0"/>
          </a:p>
        </p:txBody>
      </p:sp>
      <p:sp>
        <p:nvSpPr>
          <p:cNvPr id="115" name="Text 104"/>
          <p:cNvSpPr/>
          <p:nvPr/>
        </p:nvSpPr>
        <p:spPr>
          <a:xfrm>
            <a:off x="4433292" y="4680049"/>
            <a:ext cx="145653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liveness + 4 debate + 4 CI − 7 counted)</a:t>
            </a:r>
            <a:endParaRPr lang="en-US" sz="560" dirty="0"/>
          </a:p>
        </p:txBody>
      </p:sp>
      <p:sp>
        <p:nvSpPr>
          <p:cNvPr id="116" name="Text 105"/>
          <p:cNvSpPr/>
          <p:nvPr/>
        </p:nvSpPr>
        <p:spPr>
          <a:xfrm>
            <a:off x="6024711" y="4637187"/>
            <a:ext cx="82347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1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200" dirty="0"/>
          </a:p>
        </p:txBody>
      </p:sp>
      <p:sp>
        <p:nvSpPr>
          <p:cNvPr id="117" name="Text 106"/>
          <p:cNvSpPr/>
          <p:nvPr/>
        </p:nvSpPr>
        <p:spPr>
          <a:xfrm>
            <a:off x="6271022" y="4604593"/>
            <a:ext cx="30670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96</a:t>
            </a:r>
            <a:endParaRPr lang="en-US" sz="2030" dirty="0"/>
          </a:p>
        </p:txBody>
      </p:sp>
      <p:sp>
        <p:nvSpPr>
          <p:cNvPr id="118" name="Text 107"/>
          <p:cNvSpPr/>
          <p:nvPr/>
        </p:nvSpPr>
        <p:spPr>
          <a:xfrm>
            <a:off x="6600825" y="4709368"/>
            <a:ext cx="76845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PATHS</a:t>
            </a:r>
            <a:endParaRPr lang="en-US" sz="7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8262" y="285750"/>
            <a:ext cx="2231073" cy="206871"/>
          </a:xfrm>
          <a:prstGeom prst="roundRect">
            <a:avLst>
              <a:gd name="adj" fmla="val 69372"/>
            </a:avLst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218668" tIns="29210" rIns="100330" bIns="29210" rtlCol="0" anchor="ctr"/>
          <a:lstStyle/>
          <a:p>
            <a:pPr algn="l" indent="0" marL="0">
              <a:buNone/>
            </a:pPr>
            <a:r>
              <a:rPr lang="en-US" sz="680" b="1" spc="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GUARDIANS × FRONTIER AI</a:t>
            </a:r>
            <a:endParaRPr lang="en-US" sz="68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9382" y="322817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08640" y="549771"/>
            <a:ext cx="4526570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4"/>
              </a:lnSpc>
              <a:buNone/>
            </a:pPr>
            <a:r>
              <a:rPr lang="en-US" sz="2140" spc="-30" kern="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Guardian Gets an </a:t>
            </a:r>
            <a:pPr algn="ctr" indent="0" marL="0">
              <a:lnSpc>
                <a:spcPts val="2354"/>
              </a:lnSpc>
              <a:buNone/>
            </a:pPr>
            <a:r>
              <a:rPr lang="en-US" sz="2140" b="1" spc="-30" kern="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Partner</a:t>
            </a:r>
            <a:endParaRPr lang="en-US" sz="214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6858000" cy="3857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86030" y="429220"/>
            <a:ext cx="1428750" cy="1428750"/>
          </a:xfrm>
          <a:prstGeom prst="ellipse">
            <a:avLst/>
          </a:prstGeom>
          <a:gradFill rotWithShape="1">
            <a:gsLst>
              <a:gs pos="0">
                <a:srgbClr val="38BDF8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285750" y="3571280"/>
            <a:ext cx="1286470" cy="1286470"/>
          </a:xfrm>
          <a:prstGeom prst="ellipse">
            <a:avLst/>
          </a:prstGeom>
          <a:gradFill rotWithShape="1">
            <a:gsLst>
              <a:gs pos="0">
                <a:srgbClr val="818CF8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09575" y="1058763"/>
            <a:ext cx="4081167" cy="21580"/>
          </a:xfrm>
          <a:custGeom>
            <a:avLst/>
            <a:gdLst/>
            <a:ahLst/>
            <a:cxnLst/>
            <a:rect l="l" t="t" r="r" b="b"/>
            <a:pathLst>
              <a:path w="4081167" h="21580">
                <a:moveTo>
                  <a:pt x="114300" y="0"/>
                </a:moveTo>
                <a:lnTo>
                  <a:pt x="3966867" y="0"/>
                </a:lnTo>
                <a:lnTo>
                  <a:pt x="3991553" y="2698"/>
                </a:lnTo>
                <a:lnTo>
                  <a:pt x="4001569" y="5395"/>
                </a:lnTo>
                <a:lnTo>
                  <a:pt x="4009110" y="8093"/>
                </a:lnTo>
                <a:lnTo>
                  <a:pt x="4015346" y="10790"/>
                </a:lnTo>
                <a:lnTo>
                  <a:pt x="4020731" y="13488"/>
                </a:lnTo>
                <a:lnTo>
                  <a:pt x="4025501" y="16185"/>
                </a:lnTo>
                <a:lnTo>
                  <a:pt x="4029796" y="18883"/>
                </a:lnTo>
                <a:lnTo>
                  <a:pt x="4033707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818C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653260" y="1058763"/>
            <a:ext cx="4081167" cy="21580"/>
          </a:xfrm>
          <a:custGeom>
            <a:avLst/>
            <a:gdLst/>
            <a:ahLst/>
            <a:cxnLst/>
            <a:rect l="l" t="t" r="r" b="b"/>
            <a:pathLst>
              <a:path w="4081167" h="21580">
                <a:moveTo>
                  <a:pt x="114300" y="0"/>
                </a:moveTo>
                <a:lnTo>
                  <a:pt x="3966867" y="0"/>
                </a:lnTo>
                <a:lnTo>
                  <a:pt x="3991553" y="2698"/>
                </a:lnTo>
                <a:lnTo>
                  <a:pt x="4001569" y="5395"/>
                </a:lnTo>
                <a:lnTo>
                  <a:pt x="4009110" y="8093"/>
                </a:lnTo>
                <a:lnTo>
                  <a:pt x="4015346" y="10790"/>
                </a:lnTo>
                <a:lnTo>
                  <a:pt x="4020731" y="13488"/>
                </a:lnTo>
                <a:lnTo>
                  <a:pt x="4025501" y="16185"/>
                </a:lnTo>
                <a:lnTo>
                  <a:pt x="4029796" y="18883"/>
                </a:lnTo>
                <a:lnTo>
                  <a:pt x="4033707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F472B6"/>
              </a:gs>
              <a:gs pos="100000">
                <a:srgbClr val="FB923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09575" y="3048744"/>
            <a:ext cx="4081167" cy="21580"/>
          </a:xfrm>
          <a:custGeom>
            <a:avLst/>
            <a:gdLst/>
            <a:ahLst/>
            <a:cxnLst/>
            <a:rect l="l" t="t" r="r" b="b"/>
            <a:pathLst>
              <a:path w="4081167" h="21580">
                <a:moveTo>
                  <a:pt x="114300" y="0"/>
                </a:moveTo>
                <a:lnTo>
                  <a:pt x="3966867" y="0"/>
                </a:lnTo>
                <a:lnTo>
                  <a:pt x="3991553" y="2698"/>
                </a:lnTo>
                <a:lnTo>
                  <a:pt x="4001569" y="5395"/>
                </a:lnTo>
                <a:lnTo>
                  <a:pt x="4009110" y="8093"/>
                </a:lnTo>
                <a:lnTo>
                  <a:pt x="4015346" y="10790"/>
                </a:lnTo>
                <a:lnTo>
                  <a:pt x="4020731" y="13488"/>
                </a:lnTo>
                <a:lnTo>
                  <a:pt x="4025501" y="16185"/>
                </a:lnTo>
                <a:lnTo>
                  <a:pt x="4029796" y="18883"/>
                </a:lnTo>
                <a:lnTo>
                  <a:pt x="4033707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34D399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653260" y="3048744"/>
            <a:ext cx="4081167" cy="21580"/>
          </a:xfrm>
          <a:custGeom>
            <a:avLst/>
            <a:gdLst/>
            <a:ahLst/>
            <a:cxnLst/>
            <a:rect l="l" t="t" r="r" b="b"/>
            <a:pathLst>
              <a:path w="4081167" h="21580">
                <a:moveTo>
                  <a:pt x="114300" y="0"/>
                </a:moveTo>
                <a:lnTo>
                  <a:pt x="3966867" y="0"/>
                </a:lnTo>
                <a:lnTo>
                  <a:pt x="3991553" y="2698"/>
                </a:lnTo>
                <a:lnTo>
                  <a:pt x="4001569" y="5395"/>
                </a:lnTo>
                <a:lnTo>
                  <a:pt x="4009110" y="8093"/>
                </a:lnTo>
                <a:lnTo>
                  <a:pt x="4015346" y="10790"/>
                </a:lnTo>
                <a:lnTo>
                  <a:pt x="4020731" y="13488"/>
                </a:lnTo>
                <a:lnTo>
                  <a:pt x="4025501" y="16185"/>
                </a:lnTo>
                <a:lnTo>
                  <a:pt x="4029796" y="18883"/>
                </a:lnTo>
                <a:lnTo>
                  <a:pt x="4033707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FBBF24"/>
              </a:gs>
              <a:gs pos="100000">
                <a:srgbClr val="F9731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00050" y="1049238"/>
            <a:ext cx="4100215" cy="1846511"/>
          </a:xfrm>
          <a:prstGeom prst="roundRect">
            <a:avLst>
              <a:gd name="adj" fmla="val 6190"/>
            </a:avLst>
          </a:prstGeom>
          <a:solidFill>
            <a:srgbClr val="141D2F"/>
          </a:solidFill>
          <a:ln w="9525">
            <a:solidFill>
              <a:srgbClr val="38BDF8">
                <a:alpha val="8000"/>
              </a:srgbClr>
            </a:solidFill>
          </a:ln>
          <a:effectLst>
            <a:outerShdw sx="100000" sy="100000" kx="0" ky="0" algn="bl" rotWithShape="0" blurRad="285750" dist="50800" dir="16200000">
              <a:srgbClr val="818cf8">
                <a:alpha val="1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81025" y="1265932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532" y="1342439"/>
            <a:ext cx="132588" cy="132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7085" y="1259384"/>
            <a:ext cx="129429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7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GUARDIAN</a:t>
            </a:r>
            <a:endParaRPr lang="en-US" sz="730" dirty="0"/>
          </a:p>
        </p:txBody>
      </p:sp>
      <p:sp>
        <p:nvSpPr>
          <p:cNvPr id="16" name="Text 11"/>
          <p:cNvSpPr/>
          <p:nvPr/>
        </p:nvSpPr>
        <p:spPr>
          <a:xfrm>
            <a:off x="967085" y="1398389"/>
            <a:ext cx="129429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8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Gemini 3.1 Pro</a:t>
            </a:r>
            <a:endParaRPr lang="en-US" sz="730" dirty="0"/>
          </a:p>
        </p:txBody>
      </p:sp>
      <p:sp>
        <p:nvSpPr>
          <p:cNvPr id="17" name="Text 12"/>
          <p:cNvSpPr/>
          <p:nvPr/>
        </p:nvSpPr>
        <p:spPr>
          <a:xfrm>
            <a:off x="665857" y="1629370"/>
            <a:ext cx="2161967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SHA-256 manifests for every artifact</a:t>
            </a:r>
            <a:endParaRPr lang="en-US" sz="760" dirty="0"/>
          </a:p>
        </p:txBody>
      </p:sp>
      <p:sp>
        <p:nvSpPr>
          <p:cNvPr id="18" name="Text 13"/>
          <p:cNvSpPr/>
          <p:nvPr/>
        </p:nvSpPr>
        <p:spPr>
          <a:xfrm>
            <a:off x="581025" y="1672530"/>
            <a:ext cx="35421" cy="35421"/>
          </a:xfrm>
          <a:prstGeom prst="ellipse">
            <a:avLst/>
          </a:prstGeom>
          <a:solidFill>
            <a:srgbClr val="818C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65857" y="1807666"/>
            <a:ext cx="1811134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TLA+ safety invariants formally</a:t>
            </a:r>
            <a:endParaRPr lang="en-US" sz="760" dirty="0"/>
          </a:p>
        </p:txBody>
      </p:sp>
      <p:sp>
        <p:nvSpPr>
          <p:cNvPr id="20" name="Text 15"/>
          <p:cNvSpPr/>
          <p:nvPr/>
        </p:nvSpPr>
        <p:spPr>
          <a:xfrm>
            <a:off x="581025" y="1850827"/>
            <a:ext cx="35421" cy="35421"/>
          </a:xfrm>
          <a:prstGeom prst="ellipse">
            <a:avLst/>
          </a:prstGeom>
          <a:solidFill>
            <a:srgbClr val="818C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65857" y="1985963"/>
            <a:ext cx="2034108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set to HIGH for proof-critical paths</a:t>
            </a:r>
            <a:endParaRPr lang="en-US" sz="760" dirty="0"/>
          </a:p>
        </p:txBody>
      </p:sp>
      <p:sp>
        <p:nvSpPr>
          <p:cNvPr id="22" name="Text 17"/>
          <p:cNvSpPr/>
          <p:nvPr/>
        </p:nvSpPr>
        <p:spPr>
          <a:xfrm>
            <a:off x="581025" y="2029123"/>
            <a:ext cx="35421" cy="35421"/>
          </a:xfrm>
          <a:prstGeom prst="ellipse">
            <a:avLst/>
          </a:prstGeom>
          <a:solidFill>
            <a:srgbClr val="818C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65857" y="2164259"/>
            <a:ext cx="2181776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output: pass/fail with full proof trace</a:t>
            </a:r>
            <a:endParaRPr lang="en-US" sz="760" dirty="0"/>
          </a:p>
        </p:txBody>
      </p:sp>
      <p:sp>
        <p:nvSpPr>
          <p:cNvPr id="24" name="Text 19"/>
          <p:cNvSpPr/>
          <p:nvPr/>
        </p:nvSpPr>
        <p:spPr>
          <a:xfrm>
            <a:off x="581025" y="2207419"/>
            <a:ext cx="35421" cy="35421"/>
          </a:xfrm>
          <a:prstGeom prst="ellipse">
            <a:avLst/>
          </a:prstGeom>
          <a:solidFill>
            <a:srgbClr val="818C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643735" y="1049238"/>
            <a:ext cx="4100215" cy="1846511"/>
          </a:xfrm>
          <a:prstGeom prst="roundRect">
            <a:avLst>
              <a:gd name="adj" fmla="val 6190"/>
            </a:avLst>
          </a:prstGeom>
          <a:solidFill>
            <a:srgbClr val="141D2F"/>
          </a:solidFill>
          <a:ln w="9525">
            <a:solidFill>
              <a:srgbClr val="38BDF8">
                <a:alpha val="8000"/>
              </a:srgbClr>
            </a:solidFill>
          </a:ln>
          <a:effectLst>
            <a:outerShdw sx="100000" sy="100000" kx="0" ky="0" algn="bl" rotWithShape="0" blurRad="285750" dist="50800" dir="16200000">
              <a:srgbClr val="f472b6">
                <a:alpha val="1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824710" y="1265932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F472B6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01217" y="1342439"/>
            <a:ext cx="132588" cy="1325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10770" y="1259384"/>
            <a:ext cx="137353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7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COMPANION</a:t>
            </a:r>
            <a:endParaRPr lang="en-US" sz="730" dirty="0"/>
          </a:p>
        </p:txBody>
      </p:sp>
      <p:sp>
        <p:nvSpPr>
          <p:cNvPr id="29" name="Text 23"/>
          <p:cNvSpPr/>
          <p:nvPr/>
        </p:nvSpPr>
        <p:spPr>
          <a:xfrm>
            <a:off x="5210770" y="1398389"/>
            <a:ext cx="137353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8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Grok 4.20</a:t>
            </a:r>
            <a:endParaRPr lang="en-US" sz="730" dirty="0"/>
          </a:p>
        </p:txBody>
      </p:sp>
      <p:sp>
        <p:nvSpPr>
          <p:cNvPr id="30" name="Text 24"/>
          <p:cNvSpPr/>
          <p:nvPr/>
        </p:nvSpPr>
        <p:spPr>
          <a:xfrm>
            <a:off x="4909542" y="1629370"/>
            <a:ext cx="2122840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parallel reviewer agents run simultaneously</a:t>
            </a:r>
            <a:endParaRPr lang="en-US" sz="760" dirty="0"/>
          </a:p>
        </p:txBody>
      </p:sp>
      <p:sp>
        <p:nvSpPr>
          <p:cNvPr id="31" name="Text 25"/>
          <p:cNvSpPr/>
          <p:nvPr/>
        </p:nvSpPr>
        <p:spPr>
          <a:xfrm>
            <a:off x="4824710" y="1672530"/>
            <a:ext cx="35421" cy="35421"/>
          </a:xfrm>
          <a:prstGeom prst="ellipse">
            <a:avLst/>
          </a:prstGeom>
          <a:solidFill>
            <a:srgbClr val="F472B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909542" y="1807666"/>
            <a:ext cx="2297356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· Accessibility · Visual · Narrative reviewers</a:t>
            </a:r>
            <a:endParaRPr lang="en-US" sz="760" dirty="0"/>
          </a:p>
        </p:txBody>
      </p:sp>
      <p:sp>
        <p:nvSpPr>
          <p:cNvPr id="33" name="Text 27"/>
          <p:cNvSpPr/>
          <p:nvPr/>
        </p:nvSpPr>
        <p:spPr>
          <a:xfrm>
            <a:off x="4824710" y="1850827"/>
            <a:ext cx="35421" cy="35421"/>
          </a:xfrm>
          <a:prstGeom prst="ellipse">
            <a:avLst/>
          </a:prstGeom>
          <a:solidFill>
            <a:srgbClr val="F472B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4909542" y="1985963"/>
            <a:ext cx="1704395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debate findings adversarially</a:t>
            </a:r>
            <a:endParaRPr lang="en-US" sz="760" dirty="0"/>
          </a:p>
        </p:txBody>
      </p:sp>
      <p:sp>
        <p:nvSpPr>
          <p:cNvPr id="35" name="Text 29"/>
          <p:cNvSpPr/>
          <p:nvPr/>
        </p:nvSpPr>
        <p:spPr>
          <a:xfrm>
            <a:off x="4824710" y="2029123"/>
            <a:ext cx="35421" cy="35421"/>
          </a:xfrm>
          <a:prstGeom prst="ellipse">
            <a:avLst/>
          </a:prstGeom>
          <a:solidFill>
            <a:srgbClr val="F472B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4909542" y="2164259"/>
            <a:ext cx="1969606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single unified review consensus</a:t>
            </a:r>
            <a:endParaRPr lang="en-US" sz="760" dirty="0"/>
          </a:p>
        </p:txBody>
      </p:sp>
      <p:sp>
        <p:nvSpPr>
          <p:cNvPr id="37" name="Text 31"/>
          <p:cNvSpPr/>
          <p:nvPr/>
        </p:nvSpPr>
        <p:spPr>
          <a:xfrm>
            <a:off x="4824710" y="2207419"/>
            <a:ext cx="35421" cy="35421"/>
          </a:xfrm>
          <a:prstGeom prst="ellipse">
            <a:avLst/>
          </a:prstGeom>
          <a:solidFill>
            <a:srgbClr val="F472B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400050" y="3039219"/>
            <a:ext cx="4100215" cy="1846511"/>
          </a:xfrm>
          <a:prstGeom prst="roundRect">
            <a:avLst>
              <a:gd name="adj" fmla="val 6190"/>
            </a:avLst>
          </a:prstGeom>
          <a:solidFill>
            <a:srgbClr val="141D2F"/>
          </a:solidFill>
          <a:ln w="9525">
            <a:solidFill>
              <a:srgbClr val="38BDF8">
                <a:alpha val="8000"/>
              </a:srgbClr>
            </a:solidFill>
          </a:ln>
          <a:effectLst>
            <a:outerShdw sx="100000" sy="100000" kx="0" ky="0" algn="bl" rotWithShape="0" blurRad="285750" dist="50800" dir="16200000">
              <a:srgbClr val="34d399">
                <a:alpha val="1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581025" y="3255913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7532" y="3332419"/>
            <a:ext cx="132588" cy="13258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7085" y="3249364"/>
            <a:ext cx="137975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7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SENTINEL</a:t>
            </a:r>
            <a:endParaRPr lang="en-US" sz="730" dirty="0"/>
          </a:p>
        </p:txBody>
      </p:sp>
      <p:sp>
        <p:nvSpPr>
          <p:cNvPr id="42" name="Text 35"/>
          <p:cNvSpPr/>
          <p:nvPr/>
        </p:nvSpPr>
        <p:spPr>
          <a:xfrm>
            <a:off x="967085" y="3388370"/>
            <a:ext cx="137975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8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Meta Llama 4</a:t>
            </a:r>
            <a:endParaRPr lang="en-US" sz="730" dirty="0"/>
          </a:p>
        </p:txBody>
      </p:sp>
      <p:sp>
        <p:nvSpPr>
          <p:cNvPr id="43" name="Text 36"/>
          <p:cNvSpPr/>
          <p:nvPr/>
        </p:nvSpPr>
        <p:spPr>
          <a:xfrm>
            <a:off x="665857" y="3619351"/>
            <a:ext cx="2069634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fusion vision inspects SVGs &amp; renders</a:t>
            </a:r>
            <a:endParaRPr lang="en-US" sz="760" dirty="0"/>
          </a:p>
        </p:txBody>
      </p:sp>
      <p:sp>
        <p:nvSpPr>
          <p:cNvPr id="44" name="Text 37"/>
          <p:cNvSpPr/>
          <p:nvPr/>
        </p:nvSpPr>
        <p:spPr>
          <a:xfrm>
            <a:off x="581025" y="3662511"/>
            <a:ext cx="35421" cy="35421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665857" y="3797647"/>
            <a:ext cx="1944067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font rendering fidelity pixel-level</a:t>
            </a:r>
            <a:endParaRPr lang="en-US" sz="760" dirty="0"/>
          </a:p>
        </p:txBody>
      </p:sp>
      <p:sp>
        <p:nvSpPr>
          <p:cNvPr id="46" name="Text 39"/>
          <p:cNvSpPr/>
          <p:nvPr/>
        </p:nvSpPr>
        <p:spPr>
          <a:xfrm>
            <a:off x="581025" y="3840807"/>
            <a:ext cx="35421" cy="35421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665857" y="3975943"/>
            <a:ext cx="1892826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10M context ingests full manifests</a:t>
            </a:r>
            <a:endParaRPr lang="en-US" sz="760" dirty="0"/>
          </a:p>
        </p:txBody>
      </p:sp>
      <p:sp>
        <p:nvSpPr>
          <p:cNvPr id="48" name="Text 41"/>
          <p:cNvSpPr/>
          <p:nvPr/>
        </p:nvSpPr>
        <p:spPr>
          <a:xfrm>
            <a:off x="581025" y="4019104"/>
            <a:ext cx="35421" cy="35421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665857" y="4154239"/>
            <a:ext cx="1940138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Self-hostable for air-gapped deployments</a:t>
            </a:r>
            <a:endParaRPr lang="en-US" sz="760" dirty="0"/>
          </a:p>
        </p:txBody>
      </p:sp>
      <p:sp>
        <p:nvSpPr>
          <p:cNvPr id="50" name="Text 43"/>
          <p:cNvSpPr/>
          <p:nvPr/>
        </p:nvSpPr>
        <p:spPr>
          <a:xfrm>
            <a:off x="581025" y="4197400"/>
            <a:ext cx="35421" cy="35421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4643735" y="3039219"/>
            <a:ext cx="4100215" cy="1846511"/>
          </a:xfrm>
          <a:prstGeom prst="roundRect">
            <a:avLst>
              <a:gd name="adj" fmla="val 6190"/>
            </a:avLst>
          </a:prstGeom>
          <a:solidFill>
            <a:srgbClr val="141D2F"/>
          </a:solidFill>
          <a:ln w="9525">
            <a:solidFill>
              <a:srgbClr val="38BDF8">
                <a:alpha val="8000"/>
              </a:srgbClr>
            </a:solidFill>
          </a:ln>
          <a:effectLst>
            <a:outerShdw sx="100000" sy="100000" kx="0" ky="0" algn="bl" rotWithShape="0" blurRad="285750" dist="50800" dir="16200000">
              <a:srgbClr val="fbbf24">
                <a:alpha val="1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5"/>
          <p:cNvSpPr/>
          <p:nvPr/>
        </p:nvSpPr>
        <p:spPr>
          <a:xfrm>
            <a:off x="4824710" y="3255913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FBBF24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01217" y="3332419"/>
            <a:ext cx="132588" cy="132588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5210770" y="3249364"/>
            <a:ext cx="130199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7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Φ-BREATH NARRATOR</a:t>
            </a:r>
            <a:endParaRPr lang="en-US" sz="730" dirty="0"/>
          </a:p>
        </p:txBody>
      </p:sp>
      <p:sp>
        <p:nvSpPr>
          <p:cNvPr id="55" name="Text 47"/>
          <p:cNvSpPr/>
          <p:nvPr/>
        </p:nvSpPr>
        <p:spPr>
          <a:xfrm>
            <a:off x="5210770" y="3388370"/>
            <a:ext cx="130199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8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Grok TTS</a:t>
            </a:r>
            <a:endParaRPr lang="en-US" sz="730" dirty="0"/>
          </a:p>
        </p:txBody>
      </p:sp>
      <p:sp>
        <p:nvSpPr>
          <p:cNvPr id="56" name="Text 48"/>
          <p:cNvSpPr/>
          <p:nvPr/>
        </p:nvSpPr>
        <p:spPr>
          <a:xfrm>
            <a:off x="4909542" y="3619351"/>
            <a:ext cx="2340903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expressive voices with pause/whisper/emphasis</a:t>
            </a:r>
            <a:endParaRPr lang="en-US" sz="760" dirty="0"/>
          </a:p>
        </p:txBody>
      </p:sp>
      <p:sp>
        <p:nvSpPr>
          <p:cNvPr id="57" name="Text 49"/>
          <p:cNvSpPr/>
          <p:nvPr/>
        </p:nvSpPr>
        <p:spPr>
          <a:xfrm>
            <a:off x="4824710" y="3662511"/>
            <a:ext cx="35421" cy="35421"/>
          </a:xfrm>
          <a:prstGeom prst="ellipse">
            <a:avLst/>
          </a:prstGeom>
          <a:solidFill>
            <a:srgbClr val="FBBF2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0"/>
          <p:cNvSpPr/>
          <p:nvPr/>
        </p:nvSpPr>
        <p:spPr>
          <a:xfrm>
            <a:off x="4909542" y="3797647"/>
            <a:ext cx="2005132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guardian gets a distinct vocal identity</a:t>
            </a:r>
            <a:endParaRPr lang="en-US" sz="760" dirty="0"/>
          </a:p>
        </p:txBody>
      </p:sp>
      <p:sp>
        <p:nvSpPr>
          <p:cNvPr id="59" name="Text 51"/>
          <p:cNvSpPr/>
          <p:nvPr/>
        </p:nvSpPr>
        <p:spPr>
          <a:xfrm>
            <a:off x="4824710" y="3840807"/>
            <a:ext cx="35421" cy="35421"/>
          </a:xfrm>
          <a:prstGeom prst="ellipse">
            <a:avLst/>
          </a:prstGeom>
          <a:solidFill>
            <a:srgbClr val="FBBF2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2"/>
          <p:cNvSpPr/>
          <p:nvPr/>
        </p:nvSpPr>
        <p:spPr>
          <a:xfrm>
            <a:off x="4909542" y="3975943"/>
            <a:ext cx="2246605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Expressive SSML-like tags for nuanced delivery</a:t>
            </a:r>
            <a:endParaRPr lang="en-US" sz="760" dirty="0"/>
          </a:p>
        </p:txBody>
      </p:sp>
      <p:sp>
        <p:nvSpPr>
          <p:cNvPr id="61" name="Text 53"/>
          <p:cNvSpPr/>
          <p:nvPr/>
        </p:nvSpPr>
        <p:spPr>
          <a:xfrm>
            <a:off x="4824710" y="4019104"/>
            <a:ext cx="35421" cy="35421"/>
          </a:xfrm>
          <a:prstGeom prst="ellipse">
            <a:avLst/>
          </a:prstGeom>
          <a:solidFill>
            <a:srgbClr val="FBBF2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4"/>
          <p:cNvSpPr/>
          <p:nvPr/>
        </p:nvSpPr>
        <p:spPr>
          <a:xfrm>
            <a:off x="4909542" y="4154239"/>
            <a:ext cx="2079456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narration during φ-Breath simulations</a:t>
            </a:r>
            <a:endParaRPr lang="en-US" sz="760" dirty="0"/>
          </a:p>
        </p:txBody>
      </p:sp>
      <p:sp>
        <p:nvSpPr>
          <p:cNvPr id="63" name="Text 55"/>
          <p:cNvSpPr/>
          <p:nvPr/>
        </p:nvSpPr>
        <p:spPr>
          <a:xfrm>
            <a:off x="4824710" y="4197400"/>
            <a:ext cx="35421" cy="35421"/>
          </a:xfrm>
          <a:prstGeom prst="ellipse">
            <a:avLst/>
          </a:prstGeom>
          <a:solidFill>
            <a:srgbClr val="FBBF2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85765" y="0"/>
            <a:ext cx="3572470" cy="571500"/>
          </a:xfrm>
          <a:prstGeom prst="rect">
            <a:avLst/>
          </a:prstGeom>
          <a:gradFill rotWithShape="1">
            <a:gsLst>
              <a:gs pos="0">
                <a:srgbClr val="38BDF8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3260" y="975940"/>
            <a:ext cx="7457480" cy="13841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33333">
                <a:srgbClr val="A78BFA"/>
              </a:gs>
              <a:gs pos="66667">
                <a:srgbClr val="F472B6"/>
              </a:gs>
              <a:gs pos="100000">
                <a:srgbClr val="34D39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9220" y="1140916"/>
            <a:ext cx="1985665" cy="3563987"/>
          </a:xfrm>
          <a:prstGeom prst="roundRect">
            <a:avLst>
              <a:gd name="adj" fmla="val 5053"/>
            </a:avLst>
          </a:prstGeom>
          <a:solidFill>
            <a:srgbClr val="141D2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3520" y="1269057"/>
            <a:ext cx="1792206" cy="149870"/>
          </a:xfrm>
          <a:prstGeom prst="roundRect">
            <a:avLst>
              <a:gd name="adj" fmla="val 95757"/>
            </a:avLst>
          </a:prstGeom>
          <a:solidFill>
            <a:srgbClr val="38BDF8">
              <a:alpha val="15000"/>
            </a:srgbClr>
          </a:solidFill>
          <a:ln/>
        </p:spPr>
        <p:txBody>
          <a:bodyPr wrap="none" lIns="71120" tIns="21590" rIns="71120" bIns="21590" rtlCol="0" anchor="t"/>
          <a:lstStyle/>
          <a:p>
            <a:pPr algn="l" indent="0" marL="0">
              <a:buNone/>
            </a:pPr>
            <a:r>
              <a:rPr lang="en-US" sz="560" b="1" spc="7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FOUNDATION</a:t>
            </a:r>
            <a:endParaRPr lang="en-US" sz="560" dirty="0"/>
          </a:p>
        </p:txBody>
      </p:sp>
      <p:sp>
        <p:nvSpPr>
          <p:cNvPr id="6" name="Text 4"/>
          <p:cNvSpPr/>
          <p:nvPr/>
        </p:nvSpPr>
        <p:spPr>
          <a:xfrm>
            <a:off x="543520" y="1476077"/>
            <a:ext cx="1932771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Verification Layer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543520" y="1633240"/>
            <a:ext cx="193277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643830" y="1822252"/>
            <a:ext cx="182243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TLA+ spec via custom tools endpoint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43830" y="1977330"/>
            <a:ext cx="182243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Thinking-level router for verification depth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643830" y="2132409"/>
            <a:ext cx="182243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verification reports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43830" y="2287488"/>
            <a:ext cx="182243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Spine paths live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43520" y="4354413"/>
            <a:ext cx="797272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32 </a:t>
            </a:r>
            <a:pPr algn="l" indent="0" marL="0">
              <a:lnSpc>
                <a:spcPts val="1860"/>
              </a:lnSpc>
              <a:buNone/>
            </a:pPr>
            <a:r>
              <a:rPr lang="en-US" sz="620" spc="50" kern="0" dirty="0">
                <a:solidFill>
                  <a:srgbClr val="8694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PATHS LIVE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2529185" y="1140916"/>
            <a:ext cx="1985665" cy="3563987"/>
          </a:xfrm>
          <a:prstGeom prst="roundRect">
            <a:avLst>
              <a:gd name="adj" fmla="val 5053"/>
            </a:avLst>
          </a:prstGeom>
          <a:solidFill>
            <a:srgbClr val="141D2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43485" y="1269057"/>
            <a:ext cx="1792206" cy="149870"/>
          </a:xfrm>
          <a:prstGeom prst="roundRect">
            <a:avLst>
              <a:gd name="adj" fmla="val 95757"/>
            </a:avLst>
          </a:prstGeom>
          <a:solidFill>
            <a:srgbClr val="A78BFA">
              <a:alpha val="15000"/>
            </a:srgbClr>
          </a:solidFill>
          <a:ln/>
        </p:spPr>
        <p:txBody>
          <a:bodyPr wrap="none" lIns="71120" tIns="21590" rIns="71120" bIns="21590" rtlCol="0" anchor="t"/>
          <a:lstStyle/>
          <a:p>
            <a:pPr algn="l" indent="0" marL="0">
              <a:buNone/>
            </a:pPr>
            <a:r>
              <a:rPr lang="en-US" sz="560" b="1" spc="7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PERCEPTION</a:t>
            </a:r>
            <a:endParaRPr lang="en-US" sz="560" dirty="0"/>
          </a:p>
        </p:txBody>
      </p:sp>
      <p:sp>
        <p:nvSpPr>
          <p:cNvPr id="15" name="Text 13"/>
          <p:cNvSpPr/>
          <p:nvPr/>
        </p:nvSpPr>
        <p:spPr>
          <a:xfrm>
            <a:off x="2643485" y="1476077"/>
            <a:ext cx="1932771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Perception Pipeline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2643485" y="1633240"/>
            <a:ext cx="193277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2743795" y="1822252"/>
            <a:ext cx="182243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self-hosted H100 inference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743795" y="1977330"/>
            <a:ext cx="182243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 API multimodal inspection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743795" y="2132409"/>
            <a:ext cx="182243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+ accessibility validation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743795" y="2287488"/>
            <a:ext cx="182243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Mesh paths live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643485" y="4354413"/>
            <a:ext cx="797272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28 </a:t>
            </a:r>
            <a:pPr algn="l" indent="0" marL="0">
              <a:lnSpc>
                <a:spcPts val="1860"/>
              </a:lnSpc>
              <a:buNone/>
            </a:pPr>
            <a:r>
              <a:rPr lang="en-US" sz="620" spc="50" kern="0" dirty="0">
                <a:solidFill>
                  <a:srgbClr val="8694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PATHS LIVE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4629150" y="1140916"/>
            <a:ext cx="1985665" cy="3563987"/>
          </a:xfrm>
          <a:prstGeom prst="roundRect">
            <a:avLst>
              <a:gd name="adj" fmla="val 5053"/>
            </a:avLst>
          </a:prstGeom>
          <a:solidFill>
            <a:srgbClr val="141D2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43450" y="1269057"/>
            <a:ext cx="1792206" cy="149870"/>
          </a:xfrm>
          <a:prstGeom prst="roundRect">
            <a:avLst>
              <a:gd name="adj" fmla="val 95757"/>
            </a:avLst>
          </a:prstGeom>
          <a:solidFill>
            <a:srgbClr val="F472B6">
              <a:alpha val="15000"/>
            </a:srgbClr>
          </a:solidFill>
          <a:ln/>
        </p:spPr>
        <p:txBody>
          <a:bodyPr wrap="none" lIns="71120" tIns="21590" rIns="71120" bIns="21590" rtlCol="0" anchor="t"/>
          <a:lstStyle/>
          <a:p>
            <a:pPr algn="l" indent="0" marL="0">
              <a:buNone/>
            </a:pPr>
            <a:r>
              <a:rPr lang="en-US" sz="560" b="1" spc="7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ORCHESTRATION</a:t>
            </a:r>
            <a:endParaRPr lang="en-US" sz="560" dirty="0"/>
          </a:p>
        </p:txBody>
      </p:sp>
      <p:sp>
        <p:nvSpPr>
          <p:cNvPr id="24" name="Text 22"/>
          <p:cNvSpPr/>
          <p:nvPr/>
        </p:nvSpPr>
        <p:spPr>
          <a:xfrm>
            <a:off x="4743450" y="1476077"/>
            <a:ext cx="1932771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Multi-Agent CI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4743450" y="1633240"/>
            <a:ext cx="193277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4843760" y="1822252"/>
            <a:ext cx="182243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4-agent dispatch for 7 actions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843760" y="1977330"/>
            <a:ext cx="182243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consensus reviews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843760" y="2132409"/>
            <a:ext cx="182243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guardian voices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843760" y="2287488"/>
            <a:ext cx="182243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handshake protocol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743450" y="4354413"/>
            <a:ext cx="797272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dirty="0">
                <a:solidFill>
                  <a:srgbClr val="F472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36 </a:t>
            </a:r>
            <a:pPr algn="l" indent="0" marL="0">
              <a:lnSpc>
                <a:spcPts val="1860"/>
              </a:lnSpc>
              <a:buNone/>
            </a:pPr>
            <a:r>
              <a:rPr lang="en-US" sz="620" spc="50" kern="0" dirty="0">
                <a:solidFill>
                  <a:srgbClr val="8694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PATHS LIVE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6729115" y="1140916"/>
            <a:ext cx="1985665" cy="3563987"/>
          </a:xfrm>
          <a:prstGeom prst="roundRect">
            <a:avLst>
              <a:gd name="adj" fmla="val 5053"/>
            </a:avLst>
          </a:prstGeom>
          <a:solidFill>
            <a:srgbClr val="141D2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43415" y="1269057"/>
            <a:ext cx="1792206" cy="149870"/>
          </a:xfrm>
          <a:prstGeom prst="roundRect">
            <a:avLst>
              <a:gd name="adj" fmla="val 95757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none" lIns="71120" tIns="21590" rIns="71120" bIns="21590" rtlCol="0" anchor="t"/>
          <a:lstStyle/>
          <a:p>
            <a:pPr algn="l" indent="0" marL="0">
              <a:buNone/>
            </a:pPr>
            <a:r>
              <a:rPr lang="en-US" sz="560" b="1" spc="7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LIVING MIRROR</a:t>
            </a:r>
            <a:endParaRPr lang="en-US" sz="560" dirty="0"/>
          </a:p>
        </p:txBody>
      </p:sp>
      <p:sp>
        <p:nvSpPr>
          <p:cNvPr id="33" name="Text 31"/>
          <p:cNvSpPr/>
          <p:nvPr/>
        </p:nvSpPr>
        <p:spPr>
          <a:xfrm>
            <a:off x="6843415" y="1476077"/>
            <a:ext cx="1932771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96-Path System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6843415" y="1633240"/>
            <a:ext cx="193277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6943725" y="1822252"/>
            <a:ext cx="182243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guardians AI-powered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943725" y="1977330"/>
            <a:ext cx="182243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φ-Breath narration integrated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943725" y="2132409"/>
            <a:ext cx="182243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automated cycle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6943725" y="2287488"/>
            <a:ext cx="182243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Mirror breathes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843415" y="4354413"/>
            <a:ext cx="797272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dirty="0">
                <a:solidFill>
                  <a:srgbClr val="34D3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96 </a:t>
            </a:r>
            <a:pPr algn="l" indent="0" marL="0">
              <a:lnSpc>
                <a:spcPts val="1860"/>
              </a:lnSpc>
              <a:buNone/>
            </a:pPr>
            <a:r>
              <a:rPr lang="en-US" sz="620" spc="50" kern="0" dirty="0">
                <a:solidFill>
                  <a:srgbClr val="8694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PATHS LIVE</a:t>
            </a:r>
            <a:endParaRPr lang="en-US" sz="1240" dirty="0"/>
          </a:p>
        </p:txBody>
      </p:sp>
      <p:sp>
        <p:nvSpPr>
          <p:cNvPr id="40" name="Text 38"/>
          <p:cNvSpPr/>
          <p:nvPr/>
        </p:nvSpPr>
        <p:spPr>
          <a:xfrm>
            <a:off x="-80010" y="4775895"/>
            <a:ext cx="930402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5"/>
              </a:lnSpc>
              <a:buNone/>
            </a:pPr>
            <a:r>
              <a:rPr lang="en-US" sz="730" i="1" spc="30" kern="0" dirty="0">
                <a:solidFill>
                  <a:srgbClr val="E8EDF5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Digital Mirror breathes."</a:t>
            </a:r>
            <a:endParaRPr lang="en-US" sz="73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42938" cy="642938"/>
          </a:xfrm>
          <a:prstGeom prst="rect">
            <a:avLst/>
          </a:prstGeom>
        </p:spPr>
      </p:pic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1063" y="4500563"/>
            <a:ext cx="642938" cy="642938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429220" y="1140916"/>
            <a:ext cx="1985667" cy="21580"/>
          </a:xfrm>
          <a:custGeom>
            <a:avLst/>
            <a:gdLst/>
            <a:ahLst/>
            <a:cxnLst/>
            <a:rect l="l" t="t" r="r" b="b"/>
            <a:pathLst>
              <a:path w="1985667" h="21580">
                <a:moveTo>
                  <a:pt x="100330" y="0"/>
                </a:moveTo>
                <a:lnTo>
                  <a:pt x="1885338" y="0"/>
                </a:lnTo>
                <a:lnTo>
                  <a:pt x="1908446" y="2698"/>
                </a:lnTo>
                <a:lnTo>
                  <a:pt x="1917794" y="5395"/>
                </a:lnTo>
                <a:lnTo>
                  <a:pt x="1924813" y="8093"/>
                </a:lnTo>
                <a:lnTo>
                  <a:pt x="1930600" y="10790"/>
                </a:lnTo>
                <a:lnTo>
                  <a:pt x="1935582" y="13488"/>
                </a:lnTo>
                <a:lnTo>
                  <a:pt x="1939979" y="16185"/>
                </a:lnTo>
                <a:lnTo>
                  <a:pt x="1943924" y="18883"/>
                </a:lnTo>
                <a:lnTo>
                  <a:pt x="1947503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2529185" y="1140916"/>
            <a:ext cx="1985667" cy="21580"/>
          </a:xfrm>
          <a:custGeom>
            <a:avLst/>
            <a:gdLst/>
            <a:ahLst/>
            <a:cxnLst/>
            <a:rect l="l" t="t" r="r" b="b"/>
            <a:pathLst>
              <a:path w="1985667" h="21580">
                <a:moveTo>
                  <a:pt x="100330" y="0"/>
                </a:moveTo>
                <a:lnTo>
                  <a:pt x="1885338" y="0"/>
                </a:lnTo>
                <a:lnTo>
                  <a:pt x="1908446" y="2698"/>
                </a:lnTo>
                <a:lnTo>
                  <a:pt x="1917794" y="5395"/>
                </a:lnTo>
                <a:lnTo>
                  <a:pt x="1924813" y="8093"/>
                </a:lnTo>
                <a:lnTo>
                  <a:pt x="1930600" y="10790"/>
                </a:lnTo>
                <a:lnTo>
                  <a:pt x="1935582" y="13488"/>
                </a:lnTo>
                <a:lnTo>
                  <a:pt x="1939979" y="16185"/>
                </a:lnTo>
                <a:lnTo>
                  <a:pt x="1943924" y="18883"/>
                </a:lnTo>
                <a:lnTo>
                  <a:pt x="1947503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solidFill>
            <a:srgbClr val="A78BF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4629150" y="1140916"/>
            <a:ext cx="1985667" cy="21580"/>
          </a:xfrm>
          <a:custGeom>
            <a:avLst/>
            <a:gdLst/>
            <a:ahLst/>
            <a:cxnLst/>
            <a:rect l="l" t="t" r="r" b="b"/>
            <a:pathLst>
              <a:path w="1985667" h="21580">
                <a:moveTo>
                  <a:pt x="100330" y="0"/>
                </a:moveTo>
                <a:lnTo>
                  <a:pt x="1885338" y="0"/>
                </a:lnTo>
                <a:lnTo>
                  <a:pt x="1908446" y="2698"/>
                </a:lnTo>
                <a:lnTo>
                  <a:pt x="1917794" y="5395"/>
                </a:lnTo>
                <a:lnTo>
                  <a:pt x="1924813" y="8093"/>
                </a:lnTo>
                <a:lnTo>
                  <a:pt x="1930600" y="10790"/>
                </a:lnTo>
                <a:lnTo>
                  <a:pt x="1935582" y="13488"/>
                </a:lnTo>
                <a:lnTo>
                  <a:pt x="1939979" y="16185"/>
                </a:lnTo>
                <a:lnTo>
                  <a:pt x="1943924" y="18883"/>
                </a:lnTo>
                <a:lnTo>
                  <a:pt x="1947503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solidFill>
            <a:srgbClr val="F472B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6729115" y="1140916"/>
            <a:ext cx="1985667" cy="21580"/>
          </a:xfrm>
          <a:custGeom>
            <a:avLst/>
            <a:gdLst/>
            <a:ahLst/>
            <a:cxnLst/>
            <a:rect l="l" t="t" r="r" b="b"/>
            <a:pathLst>
              <a:path w="1985667" h="21580">
                <a:moveTo>
                  <a:pt x="100330" y="0"/>
                </a:moveTo>
                <a:lnTo>
                  <a:pt x="1885338" y="0"/>
                </a:lnTo>
                <a:lnTo>
                  <a:pt x="1908446" y="2698"/>
                </a:lnTo>
                <a:lnTo>
                  <a:pt x="1917794" y="5395"/>
                </a:lnTo>
                <a:lnTo>
                  <a:pt x="1924813" y="8093"/>
                </a:lnTo>
                <a:lnTo>
                  <a:pt x="1930600" y="10790"/>
                </a:lnTo>
                <a:lnTo>
                  <a:pt x="1935582" y="13488"/>
                </a:lnTo>
                <a:lnTo>
                  <a:pt x="1939979" y="16185"/>
                </a:lnTo>
                <a:lnTo>
                  <a:pt x="1943924" y="18883"/>
                </a:lnTo>
                <a:lnTo>
                  <a:pt x="1947503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33333">
                <a:srgbClr val="A78BFA"/>
              </a:gs>
              <a:gs pos="66667">
                <a:srgbClr val="F472B6"/>
              </a:gs>
              <a:gs pos="100000">
                <a:srgbClr val="34D39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543520" y="1865432"/>
            <a:ext cx="35421" cy="35421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543520" y="2020510"/>
            <a:ext cx="35421" cy="35421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543520" y="2175589"/>
            <a:ext cx="35421" cy="35421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543520" y="2330668"/>
            <a:ext cx="35421" cy="35421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2643485" y="1865432"/>
            <a:ext cx="35421" cy="35421"/>
          </a:xfrm>
          <a:prstGeom prst="ellipse">
            <a:avLst/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2643485" y="2020510"/>
            <a:ext cx="35421" cy="35421"/>
          </a:xfrm>
          <a:prstGeom prst="ellipse">
            <a:avLst/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2643485" y="2175589"/>
            <a:ext cx="35421" cy="35421"/>
          </a:xfrm>
          <a:prstGeom prst="ellipse">
            <a:avLst/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2643485" y="2330668"/>
            <a:ext cx="35421" cy="35421"/>
          </a:xfrm>
          <a:prstGeom prst="ellipse">
            <a:avLst/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4743450" y="1865432"/>
            <a:ext cx="35421" cy="35421"/>
          </a:xfrm>
          <a:prstGeom prst="ellipse">
            <a:avLst/>
          </a:prstGeom>
          <a:solidFill>
            <a:srgbClr val="F472B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4743450" y="2020510"/>
            <a:ext cx="35421" cy="35421"/>
          </a:xfrm>
          <a:prstGeom prst="ellipse">
            <a:avLst/>
          </a:prstGeom>
          <a:solidFill>
            <a:srgbClr val="F472B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4743450" y="2175589"/>
            <a:ext cx="35421" cy="35421"/>
          </a:xfrm>
          <a:prstGeom prst="ellipse">
            <a:avLst/>
          </a:prstGeom>
          <a:solidFill>
            <a:srgbClr val="F472B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4743450" y="2330668"/>
            <a:ext cx="35421" cy="35421"/>
          </a:xfrm>
          <a:prstGeom prst="ellipse">
            <a:avLst/>
          </a:prstGeom>
          <a:solidFill>
            <a:srgbClr val="F472B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6843415" y="1865432"/>
            <a:ext cx="35421" cy="35421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6843415" y="2020510"/>
            <a:ext cx="35421" cy="35421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6843415" y="2175589"/>
            <a:ext cx="35421" cy="35421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6843415" y="2330668"/>
            <a:ext cx="35421" cy="35421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9"/>
          <p:cNvSpPr/>
          <p:nvPr/>
        </p:nvSpPr>
        <p:spPr>
          <a:xfrm>
            <a:off x="-80010" y="285750"/>
            <a:ext cx="930402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spcAft>
                <a:spcPts val="340"/>
              </a:spcAft>
              <a:buNone/>
            </a:pPr>
            <a:r>
              <a:rPr lang="en-US" sz="620" b="1" spc="17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INTEGRATION ROADMAP</a:t>
            </a:r>
            <a:endParaRPr lang="en-US" sz="620" dirty="0"/>
          </a:p>
        </p:txBody>
      </p:sp>
      <p:sp>
        <p:nvSpPr>
          <p:cNvPr id="64" name="Text 60"/>
          <p:cNvSpPr/>
          <p:nvPr/>
        </p:nvSpPr>
        <p:spPr>
          <a:xfrm>
            <a:off x="46863" y="446931"/>
            <a:ext cx="9050274" cy="363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65"/>
              </a:lnSpc>
              <a:buNone/>
            </a:pPr>
            <a:r>
              <a:rPr lang="en-US" sz="1910" spc="-30" kern="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Blueprint to </a:t>
            </a:r>
            <a:pPr algn="ctr" indent="0" marL="0">
              <a:lnSpc>
                <a:spcPts val="2865"/>
              </a:lnSpc>
              <a:buNone/>
            </a:pPr>
            <a:r>
              <a:rPr lang="en-US" sz="1910" b="1" spc="-30" kern="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Breathing System</a:t>
            </a:r>
            <a:endParaRPr lang="en-US" sz="1910" dirty="0"/>
          </a:p>
        </p:txBody>
      </p:sp>
      <p:sp>
        <p:nvSpPr>
          <p:cNvPr id="65" name="Text 61"/>
          <p:cNvSpPr/>
          <p:nvPr/>
        </p:nvSpPr>
        <p:spPr>
          <a:xfrm>
            <a:off x="758130" y="932706"/>
            <a:ext cx="100310" cy="100310"/>
          </a:xfrm>
          <a:prstGeom prst="ellipse">
            <a:avLst/>
          </a:prstGeom>
          <a:solidFill>
            <a:srgbClr val="0B1120"/>
          </a:solidFill>
          <a:ln w="9525">
            <a:solidFill>
              <a:srgbClr val="38BDF8"/>
            </a:solidFill>
          </a:ln>
          <a:effectLst>
            <a:outerShdw sx="100000" sy="100000" kx="0" ky="0" algn="bl" rotWithShape="0" blurRad="71120" dist="50800" dir="16200000">
              <a:srgbClr val="38bdf8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2"/>
          <p:cNvSpPr/>
          <p:nvPr/>
        </p:nvSpPr>
        <p:spPr>
          <a:xfrm>
            <a:off x="3267224" y="932706"/>
            <a:ext cx="100310" cy="100310"/>
          </a:xfrm>
          <a:prstGeom prst="ellipse">
            <a:avLst/>
          </a:prstGeom>
          <a:solidFill>
            <a:srgbClr val="0B1120"/>
          </a:solidFill>
          <a:ln w="9525">
            <a:solidFill>
              <a:srgbClr val="A78BFA"/>
            </a:solidFill>
          </a:ln>
          <a:effectLst>
            <a:outerShdw sx="100000" sy="100000" kx="0" ky="0" algn="bl" rotWithShape="0" blurRad="71120" dist="50800" dir="16200000">
              <a:srgbClr val="a78bfa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5776466" y="932706"/>
            <a:ext cx="100310" cy="100310"/>
          </a:xfrm>
          <a:prstGeom prst="ellipse">
            <a:avLst/>
          </a:prstGeom>
          <a:solidFill>
            <a:srgbClr val="0B1120"/>
          </a:solidFill>
          <a:ln w="9525">
            <a:solidFill>
              <a:srgbClr val="F472B6"/>
            </a:solidFill>
          </a:ln>
          <a:effectLst>
            <a:outerShdw sx="100000" sy="100000" kx="0" ky="0" algn="bl" rotWithShape="0" blurRad="71120" dist="50800" dir="16200000">
              <a:srgbClr val="f472b6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4"/>
          <p:cNvSpPr/>
          <p:nvPr/>
        </p:nvSpPr>
        <p:spPr>
          <a:xfrm>
            <a:off x="8285559" y="932706"/>
            <a:ext cx="100310" cy="100310"/>
          </a:xfrm>
          <a:prstGeom prst="ellipse">
            <a:avLst/>
          </a:prstGeom>
          <a:solidFill>
            <a:srgbClr val="34D399"/>
          </a:solidFill>
          <a:ln w="9525">
            <a:solidFill>
              <a:srgbClr val="34D399"/>
            </a:solidFill>
          </a:ln>
          <a:effectLst>
            <a:outerShdw sx="100000" sy="100000" kx="0" ky="0" algn="bl" rotWithShape="0" blurRad="100330" dist="50800" dir="16200000">
              <a:srgbClr val="34d399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5516" y="306735"/>
            <a:ext cx="1869627" cy="206871"/>
          </a:xfrm>
          <a:prstGeom prst="roundRect">
            <a:avLst>
              <a:gd name="adj" fmla="val 69372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232638" tIns="29210" rIns="100330" bIns="29210" rtlCol="0" anchor="ctr"/>
          <a:lstStyle/>
          <a:p>
            <a:pPr algn="l" indent="0" marL="0">
              <a:buNone/>
            </a:pPr>
            <a:r>
              <a:rPr lang="en-US" sz="680" b="1" spc="8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PROPOSAL</a:t>
            </a:r>
            <a:endParaRPr lang="en-US" sz="68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36637" y="343802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013" y="585341"/>
            <a:ext cx="8927973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10"/>
              </a:lnSpc>
              <a:spcBef>
                <a:spcPts val="560"/>
              </a:spcBef>
              <a:buNone/>
            </a:pPr>
            <a:r>
              <a:rPr lang="en-US" sz="2140" spc="-30" kern="0" dirty="0">
                <a:gradFill rotWithShape="1">
                  <a:gsLst>
                    <a:gs pos="0">
                      <a:srgbClr val="E8EDF5"/>
                    </a:gs>
                    <a:gs pos="100000">
                      <a:srgbClr val="38BDF8"/>
                    </a:gs>
                  </a:gsLst>
                  <a:lin ang="0" scaled="1"/>
                </a:gra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Partnership Framework</a:t>
            </a:r>
            <a:endParaRPr lang="en-US" sz="2140" dirty="0"/>
          </a:p>
        </p:txBody>
      </p:sp>
      <p:sp>
        <p:nvSpPr>
          <p:cNvPr id="5" name="Text 2"/>
          <p:cNvSpPr/>
          <p:nvPr/>
        </p:nvSpPr>
        <p:spPr>
          <a:xfrm>
            <a:off x="400050" y="1193602"/>
            <a:ext cx="4086225" cy="3256806"/>
          </a:xfrm>
          <a:prstGeom prst="roundRect">
            <a:avLst>
              <a:gd name="adj" fmla="val 3510"/>
            </a:avLst>
          </a:prstGeom>
          <a:solidFill>
            <a:srgbClr val="141D2F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543" y="1404500"/>
            <a:ext cx="132588" cy="132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788" y="1374577"/>
            <a:ext cx="1237327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MFCS Offers</a:t>
            </a:r>
            <a:endParaRPr lang="en-US" sz="101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7035" y="1695152"/>
            <a:ext cx="143470" cy="14347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1496" y="1681311"/>
            <a:ext cx="3749472" cy="151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verified TLA+-backed control surface with 7 mechanized actions</a:t>
            </a:r>
            <a:endParaRPr lang="en-US" sz="82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7035" y="1938784"/>
            <a:ext cx="143470" cy="1434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1496" y="1924943"/>
            <a:ext cx="3568080" cy="151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Digital Mirror with SHA-256 integrity &amp; accessibility compliance</a:t>
            </a:r>
            <a:endParaRPr lang="en-US" sz="82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7035" y="2182416"/>
            <a:ext cx="143470" cy="14347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81496" y="2168575"/>
            <a:ext cx="2760003" cy="151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guardian framework for system-level safety</a:t>
            </a:r>
            <a:endParaRPr lang="en-US" sz="82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7035" y="2426047"/>
            <a:ext cx="143470" cy="14347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81496" y="2412206"/>
            <a:ext cx="1602894" cy="151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96-path integration architecture</a:t>
            </a:r>
            <a:endParaRPr lang="en-US" sz="82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7035" y="2669679"/>
            <a:ext cx="143470" cy="14347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81496" y="2655838"/>
            <a:ext cx="2806497" cy="151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 architect — Mohammad Saad Younus</a:t>
            </a:r>
            <a:endParaRPr lang="en-US" sz="820" dirty="0"/>
          </a:p>
        </p:txBody>
      </p:sp>
      <p:sp>
        <p:nvSpPr>
          <p:cNvPr id="18" name="Text 9"/>
          <p:cNvSpPr/>
          <p:nvPr/>
        </p:nvSpPr>
        <p:spPr>
          <a:xfrm>
            <a:off x="4657725" y="1193602"/>
            <a:ext cx="4086225" cy="3256806"/>
          </a:xfrm>
          <a:prstGeom prst="roundRect">
            <a:avLst>
              <a:gd name="adj" fmla="val 3510"/>
            </a:avLst>
          </a:prstGeom>
          <a:solidFill>
            <a:srgbClr val="141D2F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12218" y="1404500"/>
            <a:ext cx="132588" cy="13258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4989463" y="1374577"/>
            <a:ext cx="1195745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C08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Propose</a:t>
            </a:r>
            <a:endParaRPr lang="en-US" sz="1010" dirty="0"/>
          </a:p>
        </p:txBody>
      </p:sp>
      <p:sp>
        <p:nvSpPr>
          <p:cNvPr id="21" name="Text 11"/>
          <p:cNvSpPr/>
          <p:nvPr/>
        </p:nvSpPr>
        <p:spPr>
          <a:xfrm>
            <a:off x="4824710" y="1681311"/>
            <a:ext cx="3752255" cy="511845"/>
          </a:xfrm>
          <a:prstGeom prst="roundRect">
            <a:avLst>
              <a:gd name="adj" fmla="val 13895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lIns="100330" tIns="86360" rIns="100330" bIns="86360" rtlCol="0" anchor="t"/>
          <a:lstStyle/>
          <a:p>
            <a:pPr algn="l" indent="0" marL="0">
              <a:buNone/>
            </a:pPr>
            <a:r>
              <a:rPr lang="en-US" sz="840" b="1" spc="20" kern="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Meta</a:t>
            </a:r>
            <a:pPr algn="l" indent="0" marL="0">
              <a:buNone/>
            </a:pPr>
            <a:endParaRPr lang="en-US" sz="84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fine-tuning for perception · Muse Spark access</a:t>
            </a:r>
            <a:endParaRPr lang="en-US" sz="840" dirty="0"/>
          </a:p>
        </p:txBody>
      </p:sp>
      <p:sp>
        <p:nvSpPr>
          <p:cNvPr id="22" name="Text 12"/>
          <p:cNvSpPr/>
          <p:nvPr/>
        </p:nvSpPr>
        <p:spPr>
          <a:xfrm>
            <a:off x="4824710" y="1681311"/>
            <a:ext cx="19050" cy="496937"/>
          </a:xfrm>
          <a:custGeom>
            <a:avLst/>
            <a:gdLst/>
            <a:ahLst/>
            <a:cxnLst/>
            <a:rect l="l" t="t" r="r" b="b"/>
            <a:pathLst>
              <a:path w="19050" h="496937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74261"/>
                </a:lnTo>
                <a:lnTo>
                  <a:pt x="16669" y="471568"/>
                </a:lnTo>
                <a:lnTo>
                  <a:pt x="14288" y="468574"/>
                </a:lnTo>
                <a:lnTo>
                  <a:pt x="11906" y="465210"/>
                </a:lnTo>
                <a:lnTo>
                  <a:pt x="9525" y="461371"/>
                </a:lnTo>
                <a:lnTo>
                  <a:pt x="7144" y="456883"/>
                </a:lnTo>
                <a:lnTo>
                  <a:pt x="4763" y="451405"/>
                </a:lnTo>
                <a:lnTo>
                  <a:pt x="2381" y="444066"/>
                </a:lnTo>
                <a:lnTo>
                  <a:pt x="0" y="425817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3"/>
          <p:cNvSpPr/>
          <p:nvPr/>
        </p:nvSpPr>
        <p:spPr>
          <a:xfrm>
            <a:off x="4824710" y="2249239"/>
            <a:ext cx="3752255" cy="511845"/>
          </a:xfrm>
          <a:prstGeom prst="roundRect">
            <a:avLst>
              <a:gd name="adj" fmla="val 13895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lIns="100330" tIns="86360" rIns="100330" bIns="86360" rtlCol="0" anchor="t"/>
          <a:lstStyle/>
          <a:p>
            <a:pPr algn="l" indent="0" marL="0">
              <a:buNone/>
            </a:pPr>
            <a:r>
              <a:rPr lang="en-US" sz="840" b="1" spc="20" kern="0" dirty="0">
                <a:solidFill>
                  <a:srgbClr val="818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xAI</a:t>
            </a:r>
            <a:pPr algn="l" indent="0" marL="0">
              <a:buNone/>
            </a:pPr>
            <a:endParaRPr lang="en-US" sz="84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API with SSO + audit · Grok TTS voice customization</a:t>
            </a:r>
            <a:endParaRPr lang="en-US" sz="840" dirty="0"/>
          </a:p>
        </p:txBody>
      </p:sp>
      <p:sp>
        <p:nvSpPr>
          <p:cNvPr id="24" name="Text 14"/>
          <p:cNvSpPr/>
          <p:nvPr/>
        </p:nvSpPr>
        <p:spPr>
          <a:xfrm>
            <a:off x="4824710" y="2249239"/>
            <a:ext cx="19050" cy="496937"/>
          </a:xfrm>
          <a:custGeom>
            <a:avLst/>
            <a:gdLst/>
            <a:ahLst/>
            <a:cxnLst/>
            <a:rect l="l" t="t" r="r" b="b"/>
            <a:pathLst>
              <a:path w="19050" h="496937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74261"/>
                </a:lnTo>
                <a:lnTo>
                  <a:pt x="16669" y="471568"/>
                </a:lnTo>
                <a:lnTo>
                  <a:pt x="14288" y="468574"/>
                </a:lnTo>
                <a:lnTo>
                  <a:pt x="11906" y="465210"/>
                </a:lnTo>
                <a:lnTo>
                  <a:pt x="9525" y="461371"/>
                </a:lnTo>
                <a:lnTo>
                  <a:pt x="7144" y="456883"/>
                </a:lnTo>
                <a:lnTo>
                  <a:pt x="4763" y="451405"/>
                </a:lnTo>
                <a:lnTo>
                  <a:pt x="2381" y="444066"/>
                </a:lnTo>
                <a:lnTo>
                  <a:pt x="0" y="425817"/>
                </a:lnTo>
                <a:close/>
              </a:path>
            </a:pathLst>
          </a:custGeom>
          <a:solidFill>
            <a:srgbClr val="818C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5"/>
          <p:cNvSpPr/>
          <p:nvPr/>
        </p:nvSpPr>
        <p:spPr>
          <a:xfrm>
            <a:off x="4824710" y="2817168"/>
            <a:ext cx="3752255" cy="511845"/>
          </a:xfrm>
          <a:prstGeom prst="roundRect">
            <a:avLst>
              <a:gd name="adj" fmla="val 13895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lIns="100330" tIns="86360" rIns="100330" bIns="86360" rtlCol="0" anchor="t"/>
          <a:lstStyle/>
          <a:p>
            <a:pPr algn="l" indent="0" marL="0">
              <a:buNone/>
            </a:pPr>
            <a:r>
              <a:rPr lang="en-US" sz="840" b="1" spc="20" kern="0" dirty="0">
                <a:solidFill>
                  <a:srgbClr val="C08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Google</a:t>
            </a:r>
            <a:pPr algn="l" indent="0" marL="0">
              <a:buNone/>
            </a:pPr>
            <a:endParaRPr lang="en-US" sz="84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custom tools partnership · Provisioned throughput · API credits</a:t>
            </a:r>
            <a:endParaRPr lang="en-US" sz="840" dirty="0"/>
          </a:p>
        </p:txBody>
      </p:sp>
      <p:sp>
        <p:nvSpPr>
          <p:cNvPr id="26" name="Text 16"/>
          <p:cNvSpPr/>
          <p:nvPr/>
        </p:nvSpPr>
        <p:spPr>
          <a:xfrm>
            <a:off x="4824710" y="2817168"/>
            <a:ext cx="19050" cy="496937"/>
          </a:xfrm>
          <a:custGeom>
            <a:avLst/>
            <a:gdLst/>
            <a:ahLst/>
            <a:cxnLst/>
            <a:rect l="l" t="t" r="r" b="b"/>
            <a:pathLst>
              <a:path w="19050" h="496937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74261"/>
                </a:lnTo>
                <a:lnTo>
                  <a:pt x="16669" y="471568"/>
                </a:lnTo>
                <a:lnTo>
                  <a:pt x="14288" y="468574"/>
                </a:lnTo>
                <a:lnTo>
                  <a:pt x="11906" y="465210"/>
                </a:lnTo>
                <a:lnTo>
                  <a:pt x="9525" y="461371"/>
                </a:lnTo>
                <a:lnTo>
                  <a:pt x="7144" y="456883"/>
                </a:lnTo>
                <a:lnTo>
                  <a:pt x="4763" y="451405"/>
                </a:lnTo>
                <a:lnTo>
                  <a:pt x="2381" y="444066"/>
                </a:lnTo>
                <a:lnTo>
                  <a:pt x="0" y="425817"/>
                </a:lnTo>
                <a:close/>
              </a:path>
            </a:pathLst>
          </a:custGeom>
          <a:solidFill>
            <a:srgbClr val="C084FC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17"/>
          <p:cNvSpPr/>
          <p:nvPr/>
        </p:nvSpPr>
        <p:spPr>
          <a:xfrm>
            <a:off x="400050" y="4593878"/>
            <a:ext cx="8343900" cy="321022"/>
          </a:xfrm>
          <a:prstGeom prst="roundRect">
            <a:avLst>
              <a:gd name="adj" fmla="val 26902"/>
            </a:avLst>
          </a:prstGeom>
          <a:gradFill rotWithShape="1">
            <a:gsLst>
              <a:gs pos="0">
                <a:srgbClr val="38BDF8">
                  <a:alpha val="8000"/>
                </a:srgbClr>
              </a:gs>
              <a:gs pos="100000">
                <a:srgbClr val="C084FC">
                  <a:alpha val="8000"/>
                </a:srgbClr>
              </a:gs>
            </a:gsLst>
            <a:lin ang="0" scaled="1"/>
          </a:gra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29777" y="4688020"/>
            <a:ext cx="132588" cy="13258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3230463" y="4674394"/>
            <a:ext cx="134243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Saad Younus</a:t>
            </a:r>
            <a:endParaRPr lang="en-US" sz="840" dirty="0"/>
          </a:p>
        </p:txBody>
      </p:sp>
      <p:sp>
        <p:nvSpPr>
          <p:cNvPr id="30" name="Text 19"/>
          <p:cNvSpPr/>
          <p:nvPr/>
        </p:nvSpPr>
        <p:spPr>
          <a:xfrm>
            <a:off x="4537174" y="4679156"/>
            <a:ext cx="11017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90" dirty="0"/>
          </a:p>
        </p:txBody>
      </p:sp>
      <p:sp>
        <p:nvSpPr>
          <p:cNvPr id="31" name="Text 20"/>
          <p:cNvSpPr/>
          <p:nvPr/>
        </p:nvSpPr>
        <p:spPr>
          <a:xfrm>
            <a:off x="4723656" y="4674394"/>
            <a:ext cx="150957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mosaadyounus@gmail.com</a:t>
            </a:r>
            <a:endParaRPr lang="en-US" sz="840" dirty="0"/>
          </a:p>
        </p:txBody>
      </p:sp>
      <p:sp>
        <p:nvSpPr>
          <p:cNvPr id="32" name="Text 21"/>
          <p:cNvSpPr/>
          <p:nvPr/>
        </p:nvSpPr>
        <p:spPr>
          <a:xfrm>
            <a:off x="409575" y="1203127"/>
            <a:ext cx="4067175" cy="21580"/>
          </a:xfrm>
          <a:custGeom>
            <a:avLst/>
            <a:gdLst/>
            <a:ahLst/>
            <a:cxnLst/>
            <a:rect l="l" t="t" r="r" b="b"/>
            <a:pathLst>
              <a:path w="4067175" h="21580">
                <a:moveTo>
                  <a:pt x="114300" y="0"/>
                </a:moveTo>
                <a:lnTo>
                  <a:pt x="3952875" y="0"/>
                </a:lnTo>
                <a:lnTo>
                  <a:pt x="3977560" y="2698"/>
                </a:lnTo>
                <a:lnTo>
                  <a:pt x="3987576" y="5395"/>
                </a:lnTo>
                <a:lnTo>
                  <a:pt x="3995118" y="8093"/>
                </a:lnTo>
                <a:lnTo>
                  <a:pt x="4001354" y="10790"/>
                </a:lnTo>
                <a:lnTo>
                  <a:pt x="4006739" y="13488"/>
                </a:lnTo>
                <a:lnTo>
                  <a:pt x="4011509" y="16185"/>
                </a:lnTo>
                <a:lnTo>
                  <a:pt x="4015803" y="18883"/>
                </a:lnTo>
                <a:lnTo>
                  <a:pt x="401971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818C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2"/>
          <p:cNvSpPr/>
          <p:nvPr/>
        </p:nvSpPr>
        <p:spPr>
          <a:xfrm>
            <a:off x="4667250" y="1203127"/>
            <a:ext cx="4067175" cy="21580"/>
          </a:xfrm>
          <a:custGeom>
            <a:avLst/>
            <a:gdLst/>
            <a:ahLst/>
            <a:cxnLst/>
            <a:rect l="l" t="t" r="r" b="b"/>
            <a:pathLst>
              <a:path w="4067175" h="21580">
                <a:moveTo>
                  <a:pt x="114300" y="0"/>
                </a:moveTo>
                <a:lnTo>
                  <a:pt x="3952875" y="0"/>
                </a:lnTo>
                <a:lnTo>
                  <a:pt x="3977560" y="2698"/>
                </a:lnTo>
                <a:lnTo>
                  <a:pt x="3987576" y="5395"/>
                </a:lnTo>
                <a:lnTo>
                  <a:pt x="3995118" y="8093"/>
                </a:lnTo>
                <a:lnTo>
                  <a:pt x="4001354" y="10790"/>
                </a:lnTo>
                <a:lnTo>
                  <a:pt x="4006739" y="13488"/>
                </a:lnTo>
                <a:lnTo>
                  <a:pt x="4011509" y="16185"/>
                </a:lnTo>
                <a:lnTo>
                  <a:pt x="4015803" y="18883"/>
                </a:lnTo>
                <a:lnTo>
                  <a:pt x="401971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818CF8"/>
              </a:gs>
              <a:gs pos="100000">
                <a:srgbClr val="C084F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3"/>
          <p:cNvSpPr/>
          <p:nvPr/>
        </p:nvSpPr>
        <p:spPr>
          <a:xfrm>
            <a:off x="4414540" y="2664470"/>
            <a:ext cx="314920" cy="314920"/>
          </a:xfrm>
          <a:prstGeom prst="ellipse">
            <a:avLst/>
          </a:prstGeom>
          <a:gradFill rotWithShape="1">
            <a:gsLst>
              <a:gs pos="0">
                <a:srgbClr val="38BDF8"/>
              </a:gs>
              <a:gs pos="100000">
                <a:srgbClr val="818CF8"/>
              </a:gs>
            </a:gsLst>
            <a:lin ang="2700000" scaled="1"/>
          </a:gradFill>
          <a:ln/>
          <a:effectLst>
            <a:outerShdw sx="100000" sy="100000" kx="0" ky="0" algn="bl" rotWithShape="0" blurRad="143510" dist="50800" dir="16200000">
              <a:srgbClr val="38bdf8">
                <a:alpha val="3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05632" y="2755562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7390" y="0"/>
            <a:ext cx="4786610" cy="33578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0250"/>
            <a:ext cx="3429000" cy="3143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9220" y="342900"/>
            <a:ext cx="120785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ARCHITECTURE</a:t>
            </a:r>
            <a:endParaRPr lang="en-US" sz="620" dirty="0"/>
          </a:p>
        </p:txBody>
      </p:sp>
      <p:sp>
        <p:nvSpPr>
          <p:cNvPr id="5" name="Text 1"/>
          <p:cNvSpPr/>
          <p:nvPr/>
        </p:nvSpPr>
        <p:spPr>
          <a:xfrm>
            <a:off x="1598265" y="342900"/>
            <a:ext cx="864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20" dirty="0"/>
          </a:p>
        </p:txBody>
      </p:sp>
      <p:sp>
        <p:nvSpPr>
          <p:cNvPr id="6" name="Text 2"/>
          <p:cNvSpPr/>
          <p:nvPr/>
        </p:nvSpPr>
        <p:spPr>
          <a:xfrm>
            <a:off x="1747838" y="342900"/>
            <a:ext cx="111192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PATHS AT SCALE</a:t>
            </a:r>
            <a:endParaRPr lang="en-US" sz="620" dirty="0"/>
          </a:p>
        </p:txBody>
      </p:sp>
      <p:sp>
        <p:nvSpPr>
          <p:cNvPr id="7" name="Text 3"/>
          <p:cNvSpPr/>
          <p:nvPr/>
        </p:nvSpPr>
        <p:spPr>
          <a:xfrm>
            <a:off x="429220" y="504081"/>
            <a:ext cx="8865549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61"/>
              </a:lnSpc>
              <a:buNone/>
            </a:pPr>
            <a:r>
              <a:rPr lang="en-US" sz="2140" b="1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96 Paths Cost Per Cycle</a:t>
            </a:r>
            <a:endParaRPr lang="en-US" sz="2140" dirty="0"/>
          </a:p>
        </p:txBody>
      </p:sp>
      <p:sp>
        <p:nvSpPr>
          <p:cNvPr id="8" name="Text 4"/>
          <p:cNvSpPr/>
          <p:nvPr/>
        </p:nvSpPr>
        <p:spPr>
          <a:xfrm>
            <a:off x="429220" y="1017091"/>
            <a:ext cx="2666107" cy="2622352"/>
          </a:xfrm>
          <a:prstGeom prst="roundRect">
            <a:avLst>
              <a:gd name="adj" fmla="val 4359"/>
            </a:avLst>
          </a:prstGeom>
          <a:solidFill>
            <a:srgbClr val="141D2F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873" y="1207005"/>
            <a:ext cx="132588" cy="132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7959" y="1198066"/>
            <a:ext cx="128938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SPINE</a:t>
            </a:r>
            <a:endParaRPr lang="en-US" sz="790" dirty="0"/>
          </a:p>
        </p:txBody>
      </p:sp>
      <p:sp>
        <p:nvSpPr>
          <p:cNvPr id="11" name="Text 6"/>
          <p:cNvSpPr/>
          <p:nvPr/>
        </p:nvSpPr>
        <p:spPr>
          <a:xfrm>
            <a:off x="639366" y="1448842"/>
            <a:ext cx="516285" cy="164857"/>
          </a:xfrm>
          <a:prstGeom prst="roundRect">
            <a:avLst>
              <a:gd name="adj" fmla="val 43140"/>
            </a:avLst>
          </a:prstGeom>
          <a:solidFill>
            <a:srgbClr val="38BDF8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PATHS</a:t>
            </a:r>
            <a:endParaRPr lang="en-US" sz="560" dirty="0"/>
          </a:p>
        </p:txBody>
      </p:sp>
      <p:sp>
        <p:nvSpPr>
          <p:cNvPr id="12" name="Text 7"/>
          <p:cNvSpPr/>
          <p:nvPr/>
        </p:nvSpPr>
        <p:spPr>
          <a:xfrm>
            <a:off x="1212800" y="1448842"/>
            <a:ext cx="428625" cy="164857"/>
          </a:xfrm>
          <a:prstGeom prst="roundRect">
            <a:avLst>
              <a:gd name="adj" fmla="val 43140"/>
            </a:avLst>
          </a:prstGeom>
          <a:solidFill>
            <a:srgbClr val="38BDF8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560" dirty="0"/>
          </a:p>
        </p:txBody>
      </p:sp>
      <p:sp>
        <p:nvSpPr>
          <p:cNvPr id="13" name="Text 8"/>
          <p:cNvSpPr/>
          <p:nvPr/>
        </p:nvSpPr>
        <p:spPr>
          <a:xfrm>
            <a:off x="639366" y="1669703"/>
            <a:ext cx="247039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~50K input + ~5K output per path</a:t>
            </a:r>
            <a:endParaRPr lang="en-US" sz="730" dirty="0"/>
          </a:p>
        </p:txBody>
      </p:sp>
      <p:sp>
        <p:nvSpPr>
          <p:cNvPr id="14" name="Text 9"/>
          <p:cNvSpPr/>
          <p:nvPr/>
        </p:nvSpPr>
        <p:spPr>
          <a:xfrm>
            <a:off x="639366" y="1895029"/>
            <a:ext cx="2290733" cy="252413"/>
          </a:xfrm>
          <a:prstGeom prst="roundRect">
            <a:avLst>
              <a:gd name="adj" fmla="val 22641"/>
            </a:avLst>
          </a:prstGeom>
          <a:solidFill>
            <a:srgbClr val="000000">
              <a:alpha val="25000"/>
            </a:srgbClr>
          </a:solidFill>
          <a:ln/>
        </p:spPr>
        <p:txBody>
          <a:bodyPr wrap="none" lIns="86360" tIns="57150" rIns="86360" bIns="5715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869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× ($0.10 + $0.06)</a:t>
            </a:r>
            <a:endParaRPr lang="en-US" sz="680" dirty="0"/>
          </a:p>
        </p:txBody>
      </p:sp>
      <p:sp>
        <p:nvSpPr>
          <p:cNvPr id="15" name="Text 10"/>
          <p:cNvSpPr/>
          <p:nvPr/>
        </p:nvSpPr>
        <p:spPr>
          <a:xfrm>
            <a:off x="639366" y="3200698"/>
            <a:ext cx="240302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$5.12</a:t>
            </a:r>
            <a:pPr algn="l" indent="0" marL="0">
              <a:lnSpc>
                <a:spcPts val="2030"/>
              </a:lnSpc>
              <a:buNone/>
            </a:pPr>
            <a:r>
              <a:rPr lang="en-US" sz="790" dirty="0">
                <a:solidFill>
                  <a:srgbClr val="8694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/cycle</a:t>
            </a:r>
            <a:endParaRPr lang="en-US" sz="2030" dirty="0"/>
          </a:p>
        </p:txBody>
      </p:sp>
      <p:sp>
        <p:nvSpPr>
          <p:cNvPr id="16" name="Text 11"/>
          <p:cNvSpPr/>
          <p:nvPr/>
        </p:nvSpPr>
        <p:spPr>
          <a:xfrm>
            <a:off x="3238798" y="1017091"/>
            <a:ext cx="2666256" cy="2622352"/>
          </a:xfrm>
          <a:prstGeom prst="roundRect">
            <a:avLst>
              <a:gd name="adj" fmla="val 4359"/>
            </a:avLst>
          </a:prstGeom>
          <a:solidFill>
            <a:srgbClr val="141D2F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36450" y="1207005"/>
            <a:ext cx="132588" cy="132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27537" y="1198066"/>
            <a:ext cx="139056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WEB</a:t>
            </a:r>
            <a:endParaRPr lang="en-US" sz="790" dirty="0"/>
          </a:p>
        </p:txBody>
      </p:sp>
      <p:sp>
        <p:nvSpPr>
          <p:cNvPr id="19" name="Text 13"/>
          <p:cNvSpPr/>
          <p:nvPr/>
        </p:nvSpPr>
        <p:spPr>
          <a:xfrm>
            <a:off x="3448943" y="1448842"/>
            <a:ext cx="516285" cy="164857"/>
          </a:xfrm>
          <a:prstGeom prst="roundRect">
            <a:avLst>
              <a:gd name="adj" fmla="val 43140"/>
            </a:avLst>
          </a:prstGeom>
          <a:solidFill>
            <a:srgbClr val="FBBF24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PATHS</a:t>
            </a:r>
            <a:endParaRPr lang="en-US" sz="560" dirty="0"/>
          </a:p>
        </p:txBody>
      </p:sp>
      <p:sp>
        <p:nvSpPr>
          <p:cNvPr id="20" name="Text 14"/>
          <p:cNvSpPr/>
          <p:nvPr/>
        </p:nvSpPr>
        <p:spPr>
          <a:xfrm>
            <a:off x="4022378" y="1448842"/>
            <a:ext cx="377726" cy="164857"/>
          </a:xfrm>
          <a:prstGeom prst="roundRect">
            <a:avLst>
              <a:gd name="adj" fmla="val 43140"/>
            </a:avLst>
          </a:prstGeom>
          <a:solidFill>
            <a:srgbClr val="FBBF24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</a:t>
            </a:r>
            <a:endParaRPr lang="en-US" sz="560" dirty="0"/>
          </a:p>
        </p:txBody>
      </p:sp>
      <p:sp>
        <p:nvSpPr>
          <p:cNvPr id="21" name="Text 15"/>
          <p:cNvSpPr/>
          <p:nvPr/>
        </p:nvSpPr>
        <p:spPr>
          <a:xfrm>
            <a:off x="3448943" y="1669703"/>
            <a:ext cx="247056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~30K input + ~10K output per path</a:t>
            </a:r>
            <a:endParaRPr lang="en-US" sz="730" dirty="0"/>
          </a:p>
        </p:txBody>
      </p:sp>
      <p:sp>
        <p:nvSpPr>
          <p:cNvPr id="22" name="Text 16"/>
          <p:cNvSpPr/>
          <p:nvPr/>
        </p:nvSpPr>
        <p:spPr>
          <a:xfrm>
            <a:off x="3448943" y="1895029"/>
            <a:ext cx="2245965" cy="402241"/>
          </a:xfrm>
          <a:prstGeom prst="roundRect">
            <a:avLst>
              <a:gd name="adj" fmla="val 14208"/>
            </a:avLst>
          </a:prstGeom>
          <a:solidFill>
            <a:srgbClr val="000000">
              <a:alpha val="25000"/>
            </a:srgbClr>
          </a:solidFill>
          <a:ln/>
        </p:spPr>
        <p:txBody>
          <a:bodyPr wrap="square" lIns="86360" tIns="57150" rIns="86360" bIns="5715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869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Fast: 36 × ($0.006 + $0.005)</a:t>
            </a:r>
            <a:pPr algn="l" indent="0" marL="0">
              <a:buNone/>
            </a:pP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Reasoning: 36 × ($0.06 + $0.06)</a:t>
            </a:r>
            <a:endParaRPr lang="en-US" sz="680" dirty="0"/>
          </a:p>
        </p:txBody>
      </p:sp>
      <p:sp>
        <p:nvSpPr>
          <p:cNvPr id="23" name="Text 17"/>
          <p:cNvSpPr/>
          <p:nvPr/>
        </p:nvSpPr>
        <p:spPr>
          <a:xfrm>
            <a:off x="3448943" y="3200698"/>
            <a:ext cx="68985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b="1" dirty="0">
                <a:solidFill>
                  <a:srgbClr val="FBBF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$0.40</a:t>
            </a:r>
            <a:endParaRPr lang="en-US" sz="2030" dirty="0"/>
          </a:p>
        </p:txBody>
      </p:sp>
      <p:sp>
        <p:nvSpPr>
          <p:cNvPr id="24" name="Text 18"/>
          <p:cNvSpPr/>
          <p:nvPr/>
        </p:nvSpPr>
        <p:spPr>
          <a:xfrm>
            <a:off x="4179987" y="3305473"/>
            <a:ext cx="9200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790" dirty="0"/>
          </a:p>
        </p:txBody>
      </p:sp>
      <p:sp>
        <p:nvSpPr>
          <p:cNvPr id="25" name="Text 19"/>
          <p:cNvSpPr/>
          <p:nvPr/>
        </p:nvSpPr>
        <p:spPr>
          <a:xfrm>
            <a:off x="4349948" y="3200698"/>
            <a:ext cx="963917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$4.32</a:t>
            </a:r>
            <a:pPr algn="l" indent="0" marL="0">
              <a:lnSpc>
                <a:spcPts val="2030"/>
              </a:lnSpc>
              <a:buNone/>
            </a:pPr>
            <a:r>
              <a:rPr lang="en-US" sz="790" dirty="0">
                <a:solidFill>
                  <a:srgbClr val="8694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/cycle</a:t>
            </a:r>
            <a:endParaRPr lang="en-US" sz="2030" dirty="0"/>
          </a:p>
        </p:txBody>
      </p:sp>
      <p:sp>
        <p:nvSpPr>
          <p:cNvPr id="26" name="Text 20"/>
          <p:cNvSpPr/>
          <p:nvPr/>
        </p:nvSpPr>
        <p:spPr>
          <a:xfrm>
            <a:off x="6048524" y="1017091"/>
            <a:ext cx="2666256" cy="2622352"/>
          </a:xfrm>
          <a:prstGeom prst="roundRect">
            <a:avLst>
              <a:gd name="adj" fmla="val 4359"/>
            </a:avLst>
          </a:prstGeom>
          <a:solidFill>
            <a:srgbClr val="141D2F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6177" y="1207005"/>
            <a:ext cx="132588" cy="132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37263" y="1198066"/>
            <a:ext cx="119770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MESH</a:t>
            </a:r>
            <a:endParaRPr lang="en-US" sz="790" dirty="0"/>
          </a:p>
        </p:txBody>
      </p:sp>
      <p:sp>
        <p:nvSpPr>
          <p:cNvPr id="29" name="Text 22"/>
          <p:cNvSpPr/>
          <p:nvPr/>
        </p:nvSpPr>
        <p:spPr>
          <a:xfrm>
            <a:off x="6258669" y="1448842"/>
            <a:ext cx="516285" cy="164857"/>
          </a:xfrm>
          <a:prstGeom prst="roundRect">
            <a:avLst>
              <a:gd name="adj" fmla="val 43140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PATHS</a:t>
            </a:r>
            <a:endParaRPr lang="en-US" sz="560" dirty="0"/>
          </a:p>
        </p:txBody>
      </p:sp>
      <p:sp>
        <p:nvSpPr>
          <p:cNvPr id="30" name="Text 23"/>
          <p:cNvSpPr/>
          <p:nvPr/>
        </p:nvSpPr>
        <p:spPr>
          <a:xfrm>
            <a:off x="6832104" y="1448842"/>
            <a:ext cx="660350" cy="164857"/>
          </a:xfrm>
          <a:prstGeom prst="roundRect">
            <a:avLst>
              <a:gd name="adj" fmla="val 43140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SCOUT</a:t>
            </a:r>
            <a:endParaRPr lang="en-US" sz="560" dirty="0"/>
          </a:p>
        </p:txBody>
      </p:sp>
      <p:sp>
        <p:nvSpPr>
          <p:cNvPr id="31" name="Text 24"/>
          <p:cNvSpPr/>
          <p:nvPr/>
        </p:nvSpPr>
        <p:spPr>
          <a:xfrm>
            <a:off x="6258669" y="1669703"/>
            <a:ext cx="247056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 input + ~5K output per path</a:t>
            </a:r>
            <a:endParaRPr lang="en-US" sz="730" dirty="0"/>
          </a:p>
        </p:txBody>
      </p:sp>
      <p:sp>
        <p:nvSpPr>
          <p:cNvPr id="32" name="Text 25"/>
          <p:cNvSpPr/>
          <p:nvPr/>
        </p:nvSpPr>
        <p:spPr>
          <a:xfrm>
            <a:off x="6258669" y="1895029"/>
            <a:ext cx="2290885" cy="252413"/>
          </a:xfrm>
          <a:prstGeom prst="roundRect">
            <a:avLst>
              <a:gd name="adj" fmla="val 22641"/>
            </a:avLst>
          </a:prstGeom>
          <a:solidFill>
            <a:srgbClr val="000000">
              <a:alpha val="25000"/>
            </a:srgbClr>
          </a:solidFill>
          <a:ln/>
        </p:spPr>
        <p:txBody>
          <a:bodyPr wrap="none" lIns="86360" tIns="57150" rIns="86360" bIns="5715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869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× ($0.008 + $0.0015)</a:t>
            </a:r>
            <a:endParaRPr lang="en-US" sz="680" dirty="0"/>
          </a:p>
        </p:txBody>
      </p:sp>
      <p:sp>
        <p:nvSpPr>
          <p:cNvPr id="33" name="Text 26"/>
          <p:cNvSpPr/>
          <p:nvPr/>
        </p:nvSpPr>
        <p:spPr>
          <a:xfrm>
            <a:off x="6258669" y="3053507"/>
            <a:ext cx="240318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dirty="0">
                <a:solidFill>
                  <a:srgbClr val="34D3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$0.27</a:t>
            </a:r>
            <a:pPr algn="l" indent="0" marL="0">
              <a:lnSpc>
                <a:spcPts val="2030"/>
              </a:lnSpc>
              <a:buNone/>
            </a:pPr>
            <a:r>
              <a:rPr lang="en-US" sz="790" dirty="0">
                <a:solidFill>
                  <a:srgbClr val="8694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/cycle</a:t>
            </a:r>
            <a:endParaRPr lang="en-US" sz="2030" dirty="0"/>
          </a:p>
        </p:txBody>
      </p:sp>
      <p:sp>
        <p:nvSpPr>
          <p:cNvPr id="34" name="Text 27"/>
          <p:cNvSpPr/>
          <p:nvPr/>
        </p:nvSpPr>
        <p:spPr>
          <a:xfrm>
            <a:off x="6258669" y="3370808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429220" y="3782913"/>
            <a:ext cx="8285559" cy="616446"/>
          </a:xfrm>
          <a:prstGeom prst="roundRect">
            <a:avLst>
              <a:gd name="adj" fmla="val 18542"/>
            </a:avLst>
          </a:prstGeom>
          <a:gradFill rotWithShape="1">
            <a:gsLst>
              <a:gs pos="0">
                <a:srgbClr val="38BDF8">
                  <a:alpha val="12000"/>
                </a:srgbClr>
              </a:gs>
              <a:gs pos="100000">
                <a:srgbClr val="8B5CF6">
                  <a:alpha val="12000"/>
                </a:srgbClr>
              </a:gs>
            </a:gsLst>
            <a:lin ang="2700000" scaled="1"/>
          </a:gra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696516" y="4021634"/>
            <a:ext cx="172125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88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96-PATH CYCLE TOTAL</a:t>
            </a:r>
            <a:endParaRPr lang="en-US" sz="73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21631" y="4024842"/>
            <a:ext cx="1636515" cy="1325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916216" y="3935909"/>
            <a:ext cx="802282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36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$5.79</a:t>
            </a:r>
            <a:endParaRPr lang="en-US" sz="2360" dirty="0"/>
          </a:p>
        </p:txBody>
      </p:sp>
      <p:sp>
        <p:nvSpPr>
          <p:cNvPr id="39" name="Text 31"/>
          <p:cNvSpPr/>
          <p:nvPr/>
        </p:nvSpPr>
        <p:spPr>
          <a:xfrm>
            <a:off x="6709172" y="4078784"/>
            <a:ext cx="17762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790" dirty="0"/>
          </a:p>
        </p:txBody>
      </p:sp>
      <p:sp>
        <p:nvSpPr>
          <p:cNvPr id="40" name="Text 32"/>
          <p:cNvSpPr/>
          <p:nvPr/>
        </p:nvSpPr>
        <p:spPr>
          <a:xfrm>
            <a:off x="6970961" y="4031159"/>
            <a:ext cx="157654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30" dirty="0"/>
          </a:p>
        </p:txBody>
      </p:sp>
      <p:sp>
        <p:nvSpPr>
          <p:cNvPr id="41" name="Text 33"/>
          <p:cNvSpPr/>
          <p:nvPr/>
        </p:nvSpPr>
        <p:spPr>
          <a:xfrm>
            <a:off x="7214592" y="3935909"/>
            <a:ext cx="802282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36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$9.71</a:t>
            </a:r>
            <a:endParaRPr lang="en-US" sz="2360" dirty="0"/>
          </a:p>
        </p:txBody>
      </p:sp>
      <p:sp>
        <p:nvSpPr>
          <p:cNvPr id="42" name="Text 34"/>
          <p:cNvSpPr/>
          <p:nvPr/>
        </p:nvSpPr>
        <p:spPr>
          <a:xfrm>
            <a:off x="8007548" y="4078784"/>
            <a:ext cx="48393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790" dirty="0"/>
          </a:p>
        </p:txBody>
      </p:sp>
      <p:sp>
        <p:nvSpPr>
          <p:cNvPr id="43" name="Text 35"/>
          <p:cNvSpPr/>
          <p:nvPr/>
        </p:nvSpPr>
        <p:spPr>
          <a:xfrm>
            <a:off x="429220" y="4513659"/>
            <a:ext cx="8451271" cy="344091"/>
          </a:xfrm>
          <a:prstGeom prst="rect">
            <a:avLst/>
          </a:prstGeom>
          <a:solidFill>
            <a:srgbClr val="38BDF8">
              <a:alpha val="8000"/>
            </a:srgbClr>
          </a:solidFill>
          <a:ln/>
        </p:spPr>
        <p:txBody>
          <a:bodyPr wrap="none" lIns="143510" tIns="86360" rIns="143510" bIns="8636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"Full formal verification of a 7-action system for under $10."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429220" y="4513659"/>
            <a:ext cx="19050" cy="344091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7"/>
          <p:cNvSpPr/>
          <p:nvPr/>
        </p:nvSpPr>
        <p:spPr>
          <a:xfrm>
            <a:off x="438745" y="1026616"/>
            <a:ext cx="2647055" cy="21580"/>
          </a:xfrm>
          <a:custGeom>
            <a:avLst/>
            <a:gdLst/>
            <a:ahLst/>
            <a:cxnLst/>
            <a:rect l="l" t="t" r="r" b="b"/>
            <a:pathLst>
              <a:path w="2647055" h="21580">
                <a:moveTo>
                  <a:pt x="114300" y="0"/>
                </a:moveTo>
                <a:lnTo>
                  <a:pt x="2532755" y="0"/>
                </a:lnTo>
                <a:lnTo>
                  <a:pt x="2557440" y="2698"/>
                </a:lnTo>
                <a:lnTo>
                  <a:pt x="2567456" y="5395"/>
                </a:lnTo>
                <a:lnTo>
                  <a:pt x="2574998" y="8093"/>
                </a:lnTo>
                <a:lnTo>
                  <a:pt x="2581233" y="10790"/>
                </a:lnTo>
                <a:lnTo>
                  <a:pt x="2586619" y="13488"/>
                </a:lnTo>
                <a:lnTo>
                  <a:pt x="2591389" y="16185"/>
                </a:lnTo>
                <a:lnTo>
                  <a:pt x="2595683" y="18883"/>
                </a:lnTo>
                <a:lnTo>
                  <a:pt x="259959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0EA5E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3248323" y="1026616"/>
            <a:ext cx="2647207" cy="21580"/>
          </a:xfrm>
          <a:custGeom>
            <a:avLst/>
            <a:gdLst/>
            <a:ahLst/>
            <a:cxnLst/>
            <a:rect l="l" t="t" r="r" b="b"/>
            <a:pathLst>
              <a:path w="2647207" h="21580">
                <a:moveTo>
                  <a:pt x="114300" y="0"/>
                </a:moveTo>
                <a:lnTo>
                  <a:pt x="2532907" y="0"/>
                </a:lnTo>
                <a:lnTo>
                  <a:pt x="2557593" y="2698"/>
                </a:lnTo>
                <a:lnTo>
                  <a:pt x="2567609" y="5395"/>
                </a:lnTo>
                <a:lnTo>
                  <a:pt x="2575150" y="8093"/>
                </a:lnTo>
                <a:lnTo>
                  <a:pt x="2581386" y="10790"/>
                </a:lnTo>
                <a:lnTo>
                  <a:pt x="2586771" y="13488"/>
                </a:lnTo>
                <a:lnTo>
                  <a:pt x="2591541" y="16185"/>
                </a:lnTo>
                <a:lnTo>
                  <a:pt x="2595836" y="18883"/>
                </a:lnTo>
                <a:lnTo>
                  <a:pt x="2599746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FBBF24"/>
              </a:gs>
              <a:gs pos="100000">
                <a:srgbClr val="F59E0B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6058049" y="1026616"/>
            <a:ext cx="2647207" cy="21580"/>
          </a:xfrm>
          <a:custGeom>
            <a:avLst/>
            <a:gdLst/>
            <a:ahLst/>
            <a:cxnLst/>
            <a:rect l="l" t="t" r="r" b="b"/>
            <a:pathLst>
              <a:path w="2647207" h="21580">
                <a:moveTo>
                  <a:pt x="114300" y="0"/>
                </a:moveTo>
                <a:lnTo>
                  <a:pt x="2532907" y="0"/>
                </a:lnTo>
                <a:lnTo>
                  <a:pt x="2557593" y="2698"/>
                </a:lnTo>
                <a:lnTo>
                  <a:pt x="2567609" y="5395"/>
                </a:lnTo>
                <a:lnTo>
                  <a:pt x="2575150" y="8093"/>
                </a:lnTo>
                <a:lnTo>
                  <a:pt x="2581386" y="10790"/>
                </a:lnTo>
                <a:lnTo>
                  <a:pt x="2586771" y="13488"/>
                </a:lnTo>
                <a:lnTo>
                  <a:pt x="2591541" y="16185"/>
                </a:lnTo>
                <a:lnTo>
                  <a:pt x="2595836" y="18883"/>
                </a:lnTo>
                <a:lnTo>
                  <a:pt x="2599746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34D399"/>
              </a:gs>
              <a:gs pos="100000">
                <a:srgbClr val="10B981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0050" y="257770"/>
            <a:ext cx="150465" cy="150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665" y="268188"/>
            <a:ext cx="99634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MIRROR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1613743" y="329208"/>
            <a:ext cx="7130207" cy="7590"/>
          </a:xfrm>
          <a:prstGeom prst="rect">
            <a:avLst/>
          </a:prstGeom>
          <a:gradFill rotWithShape="1">
            <a:gsLst>
              <a:gs pos="0">
                <a:srgbClr val="38BDF8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00050" y="451396"/>
            <a:ext cx="8927973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35"/>
              </a:lnSpc>
              <a:buNone/>
            </a:pPr>
            <a:r>
              <a:rPr lang="en-US" sz="2030" spc="-30" kern="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Breathing Artifact Stack</a:t>
            </a:r>
            <a:endParaRPr lang="en-US" sz="2030" dirty="0"/>
          </a:p>
        </p:txBody>
      </p:sp>
      <p:sp>
        <p:nvSpPr>
          <p:cNvPr id="6" name="Text 3"/>
          <p:cNvSpPr/>
          <p:nvPr/>
        </p:nvSpPr>
        <p:spPr>
          <a:xfrm>
            <a:off x="400050" y="790873"/>
            <a:ext cx="917829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40"/>
              </a:spcBef>
              <a:buNone/>
            </a:pPr>
            <a:r>
              <a:rPr lang="en-US" sz="84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Package Architecture — 5 layers that make every delivery a living, self-validating artifact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571500" y="4309914"/>
            <a:ext cx="8172450" cy="833586"/>
          </a:xfrm>
          <a:prstGeom prst="rect">
            <a:avLst/>
          </a:prstGeom>
          <a:gradFill rotWithShape="1">
            <a:gsLst>
              <a:gs pos="0">
                <a:srgbClr val="0F1B30"/>
              </a:gs>
              <a:gs pos="100000">
                <a:srgbClr val="141D2F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1500" y="4309914"/>
            <a:ext cx="19050" cy="833586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91170" y="4630638"/>
            <a:ext cx="257770" cy="283547"/>
          </a:xfrm>
          <a:prstGeom prst="ellipse">
            <a:avLst/>
          </a:prstGeom>
          <a:solidFill>
            <a:srgbClr val="64748B">
              <a:alpha val="20000"/>
            </a:srgbClr>
          </a:solidFill>
          <a:ln w="9525">
            <a:solidFill>
              <a:srgbClr val="64748B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4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6613" y="4690021"/>
            <a:ext cx="139005" cy="1390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63291" y="4673798"/>
            <a:ext cx="133539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80" kern="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ARTIFACT LAYER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863602" y="4624388"/>
            <a:ext cx="4676495" cy="283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archive: SVGs, TLA+ specs, accessibility files, font embeddings, SHA-256 manifest. </a:t>
            </a:r>
            <a:pPr algn="l" indent="0" marL="0">
              <a:lnSpc>
                <a:spcPts val="1064"/>
              </a:lnSpc>
              <a:buNone/>
            </a:pPr>
            <a:r>
              <a:rPr lang="en-US" sz="76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dependencies.</a:t>
            </a:r>
            <a:endParaRPr lang="en-US" sz="760" dirty="0"/>
          </a:p>
        </p:txBody>
      </p:sp>
      <p:sp>
        <p:nvSpPr>
          <p:cNvPr id="13" name="Text 9"/>
          <p:cNvSpPr/>
          <p:nvPr/>
        </p:nvSpPr>
        <p:spPr>
          <a:xfrm>
            <a:off x="7534721" y="4656088"/>
            <a:ext cx="1028780" cy="206871"/>
          </a:xfrm>
          <a:prstGeom prst="roundRect">
            <a:avLst>
              <a:gd name="adj" fmla="val 20873"/>
            </a:avLst>
          </a:prstGeom>
          <a:solidFill>
            <a:srgbClr val="94A3B8">
              <a:alpha val="6000"/>
            </a:srgbClr>
          </a:solidFill>
          <a:ln w="9525">
            <a:solidFill>
              <a:srgbClr val="94A3B8">
                <a:alpha val="20000"/>
              </a:srgbClr>
            </a:solidFill>
          </a:ln>
        </p:spPr>
        <p:txBody>
          <a:bodyPr wrap="none" lIns="194280" tIns="29210" rIns="86360" bIns="2921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.zip</a:t>
            </a:r>
            <a:endParaRPr lang="en-US" sz="68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6643" y="4693155"/>
            <a:ext cx="132588" cy="132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1500" y="3488978"/>
            <a:ext cx="8172450" cy="820936"/>
          </a:xfrm>
          <a:prstGeom prst="rect">
            <a:avLst/>
          </a:prstGeom>
          <a:gradFill rotWithShape="1">
            <a:gsLst>
              <a:gs pos="0">
                <a:srgbClr val="111F38"/>
              </a:gs>
              <a:gs pos="100000">
                <a:srgbClr val="162846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571500" y="3488978"/>
            <a:ext cx="19050" cy="820936"/>
          </a:xfrm>
          <a:prstGeom prst="rect">
            <a:avLst/>
          </a:prstGeom>
          <a:solidFill>
            <a:srgbClr val="A78B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791170" y="3770561"/>
            <a:ext cx="257770" cy="283547"/>
          </a:xfrm>
          <a:prstGeom prst="ellipse">
            <a:avLst/>
          </a:prstGeom>
          <a:solidFill>
            <a:srgbClr val="A78BFA">
              <a:alpha val="15000"/>
            </a:srgbClr>
          </a:solidFill>
          <a:ln w="9525">
            <a:solidFill>
              <a:srgbClr val="A78BF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4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6613" y="3829943"/>
            <a:ext cx="139005" cy="13900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63291" y="3813721"/>
            <a:ext cx="14457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80" kern="0" dirty="0">
                <a:solidFill>
                  <a:srgbClr val="C4B5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PERCEPTION LAYER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2963912" y="3816102"/>
            <a:ext cx="984605" cy="166688"/>
          </a:xfrm>
          <a:prstGeom prst="roundRect">
            <a:avLst>
              <a:gd name="adj" fmla="val 17524"/>
            </a:avLst>
          </a:prstGeom>
          <a:solidFill>
            <a:srgbClr val="FFFFFF">
              <a:alpha val="5000"/>
            </a:srgbClr>
          </a:solidFill>
          <a:ln/>
        </p:spPr>
        <p:txBody>
          <a:bodyPr wrap="none" lIns="71120" tIns="13970" rIns="71120" bIns="13970" rtlCol="0" anchor="t"/>
          <a:lstStyle/>
          <a:p>
            <a:pPr algn="l" indent="0" marL="0"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 4 Scout</a:t>
            </a:r>
            <a:endParaRPr lang="en-US" sz="730" dirty="0"/>
          </a:p>
        </p:txBody>
      </p:sp>
      <p:sp>
        <p:nvSpPr>
          <p:cNvPr id="21" name="Text 15"/>
          <p:cNvSpPr/>
          <p:nvPr/>
        </p:nvSpPr>
        <p:spPr>
          <a:xfrm>
            <a:off x="4043511" y="3764310"/>
            <a:ext cx="3487713" cy="283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context ingests full manifest; vision inspects every SVG artifact for correctness.</a:t>
            </a:r>
            <a:endParaRPr lang="en-US" sz="760" dirty="0"/>
          </a:p>
        </p:txBody>
      </p:sp>
      <p:sp>
        <p:nvSpPr>
          <p:cNvPr id="22" name="Text 16"/>
          <p:cNvSpPr/>
          <p:nvPr/>
        </p:nvSpPr>
        <p:spPr>
          <a:xfrm>
            <a:off x="7549158" y="3796010"/>
            <a:ext cx="1014055" cy="206871"/>
          </a:xfrm>
          <a:prstGeom prst="roundRect">
            <a:avLst>
              <a:gd name="adj" fmla="val 20873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25000"/>
              </a:srgbClr>
            </a:solidFill>
          </a:ln>
        </p:spPr>
        <p:txBody>
          <a:bodyPr wrap="none" lIns="194280" tIns="29210" rIns="86360" bIns="2921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Report</a:t>
            </a:r>
            <a:endParaRPr lang="en-US" sz="68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11079" y="3833077"/>
            <a:ext cx="132588" cy="132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1170" y="4302323"/>
            <a:ext cx="7952780" cy="7590"/>
          </a:xfrm>
          <a:prstGeom prst="rect">
            <a:avLst/>
          </a:prstGeom>
          <a:gradFill rotWithShape="1">
            <a:gsLst>
              <a:gs pos="0">
                <a:srgbClr val="FFFFFF">
                  <a:alpha val="6000"/>
                </a:srgbClr>
              </a:gs>
              <a:gs pos="100000">
                <a:srgbClr val="FFFFFF">
                  <a:alpha val="2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571500" y="2668042"/>
            <a:ext cx="8172450" cy="820936"/>
          </a:xfrm>
          <a:prstGeom prst="rect">
            <a:avLst/>
          </a:prstGeom>
          <a:gradFill rotWithShape="1">
            <a:gsLst>
              <a:gs pos="0">
                <a:srgbClr val="12233D"/>
              </a:gs>
              <a:gs pos="100000">
                <a:srgbClr val="182F50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571500" y="2668042"/>
            <a:ext cx="19050" cy="820936"/>
          </a:xfrm>
          <a:prstGeom prst="rect">
            <a:avLst/>
          </a:prstGeom>
          <a:solidFill>
            <a:srgbClr val="34D39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791170" y="2949625"/>
            <a:ext cx="257770" cy="283547"/>
          </a:xfrm>
          <a:prstGeom prst="ellipse">
            <a:avLst/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4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36613" y="3009007"/>
            <a:ext cx="139005" cy="13900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63291" y="2992785"/>
            <a:ext cx="15285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80" kern="0" dirty="0">
                <a:solidFill>
                  <a:srgbClr val="6EE7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VERIFICATION LAYER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3039219" y="2995166"/>
            <a:ext cx="774659" cy="166688"/>
          </a:xfrm>
          <a:prstGeom prst="roundRect">
            <a:avLst>
              <a:gd name="adj" fmla="val 17524"/>
            </a:avLst>
          </a:prstGeom>
          <a:solidFill>
            <a:srgbClr val="FFFFFF">
              <a:alpha val="5000"/>
            </a:srgbClr>
          </a:solidFill>
          <a:ln/>
        </p:spPr>
        <p:txBody>
          <a:bodyPr wrap="none" lIns="71120" tIns="13970" rIns="71120" bIns="13970" rtlCol="0" anchor="t"/>
          <a:lstStyle/>
          <a:p>
            <a:pPr algn="l" indent="0" marL="0"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Pro</a:t>
            </a:r>
            <a:endParaRPr lang="en-US" sz="730" dirty="0"/>
          </a:p>
        </p:txBody>
      </p:sp>
      <p:sp>
        <p:nvSpPr>
          <p:cNvPr id="31" name="Text 23"/>
          <p:cNvSpPr/>
          <p:nvPr/>
        </p:nvSpPr>
        <p:spPr>
          <a:xfrm>
            <a:off x="3912989" y="2943374"/>
            <a:ext cx="3479212" cy="283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 endpoint reads TLA+ specs; runs invariants at 3 thinking levels with proof traces.</a:t>
            </a:r>
            <a:endParaRPr lang="en-US" sz="760" dirty="0"/>
          </a:p>
        </p:txBody>
      </p:sp>
      <p:sp>
        <p:nvSpPr>
          <p:cNvPr id="32" name="Text 24"/>
          <p:cNvSpPr/>
          <p:nvPr/>
        </p:nvSpPr>
        <p:spPr>
          <a:xfrm>
            <a:off x="7410301" y="2975074"/>
            <a:ext cx="1155689" cy="206871"/>
          </a:xfrm>
          <a:prstGeom prst="roundRect">
            <a:avLst>
              <a:gd name="adj" fmla="val 20873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>
                <a:alpha val="25000"/>
              </a:srgbClr>
            </a:solidFill>
          </a:ln>
        </p:spPr>
        <p:txBody>
          <a:bodyPr wrap="none" lIns="194280" tIns="29210" rIns="86360" bIns="2921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Certificate</a:t>
            </a:r>
            <a:endParaRPr lang="en-US" sz="68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72223" y="3012141"/>
            <a:ext cx="132588" cy="13258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91170" y="3481388"/>
            <a:ext cx="7952780" cy="7590"/>
          </a:xfrm>
          <a:prstGeom prst="rect">
            <a:avLst/>
          </a:prstGeom>
          <a:gradFill rotWithShape="1">
            <a:gsLst>
              <a:gs pos="0">
                <a:srgbClr val="FFFFFF">
                  <a:alpha val="6000"/>
                </a:srgbClr>
              </a:gs>
              <a:gs pos="100000">
                <a:srgbClr val="FFFFFF">
                  <a:alpha val="2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6"/>
          <p:cNvSpPr/>
          <p:nvPr/>
        </p:nvSpPr>
        <p:spPr>
          <a:xfrm>
            <a:off x="571500" y="1847106"/>
            <a:ext cx="8172450" cy="820936"/>
          </a:xfrm>
          <a:prstGeom prst="rect">
            <a:avLst/>
          </a:prstGeom>
          <a:gradFill rotWithShape="1">
            <a:gsLst>
              <a:gs pos="0">
                <a:srgbClr val="14274A"/>
              </a:gs>
              <a:gs pos="100000">
                <a:srgbClr val="1B3458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7"/>
          <p:cNvSpPr/>
          <p:nvPr/>
        </p:nvSpPr>
        <p:spPr>
          <a:xfrm>
            <a:off x="571500" y="1847106"/>
            <a:ext cx="19050" cy="820936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8"/>
          <p:cNvSpPr/>
          <p:nvPr/>
        </p:nvSpPr>
        <p:spPr>
          <a:xfrm>
            <a:off x="791170" y="2128689"/>
            <a:ext cx="257770" cy="283547"/>
          </a:xfrm>
          <a:prstGeom prst="ellipse">
            <a:avLst/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4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36613" y="2188071"/>
            <a:ext cx="139005" cy="139005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563291" y="2171849"/>
            <a:ext cx="174925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80" kern="0" dirty="0">
                <a:solidFill>
                  <a:srgbClr val="FDBA7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ORCHESTRATION LAYER</a:t>
            </a:r>
            <a:endParaRPr lang="en-US" sz="900" dirty="0"/>
          </a:p>
        </p:txBody>
      </p:sp>
      <p:sp>
        <p:nvSpPr>
          <p:cNvPr id="40" name="Text 30"/>
          <p:cNvSpPr/>
          <p:nvPr/>
        </p:nvSpPr>
        <p:spPr>
          <a:xfrm>
            <a:off x="3239839" y="2174230"/>
            <a:ext cx="1010867" cy="166688"/>
          </a:xfrm>
          <a:prstGeom prst="roundRect">
            <a:avLst>
              <a:gd name="adj" fmla="val 17524"/>
            </a:avLst>
          </a:prstGeom>
          <a:solidFill>
            <a:srgbClr val="FFFFFF">
              <a:alpha val="5000"/>
            </a:srgbClr>
          </a:solidFill>
          <a:ln/>
        </p:spPr>
        <p:txBody>
          <a:bodyPr wrap="none" lIns="71120" tIns="13970" rIns="71120" bIns="13970" rtlCol="0" anchor="t"/>
          <a:lstStyle/>
          <a:p>
            <a:pPr algn="l" indent="0" marL="0">
              <a:buNone/>
            </a:pPr>
            <a:r>
              <a:rPr lang="en-US" sz="73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4.20 · 4 Agents</a:t>
            </a:r>
            <a:endParaRPr lang="en-US" sz="730" dirty="0"/>
          </a:p>
        </p:txBody>
      </p:sp>
      <p:sp>
        <p:nvSpPr>
          <p:cNvPr id="41" name="Text 31"/>
          <p:cNvSpPr/>
          <p:nvPr/>
        </p:nvSpPr>
        <p:spPr>
          <a:xfrm>
            <a:off x="4345186" y="2122438"/>
            <a:ext cx="3011957" cy="283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debate Perception + Verification reports, reach consensus. Grok TTS narrates as </a:t>
            </a:r>
            <a:pPr algn="l" indent="0" marL="0">
              <a:lnSpc>
                <a:spcPts val="1064"/>
              </a:lnSpc>
              <a:buNone/>
            </a:pPr>
            <a:r>
              <a:rPr lang="en-US" sz="76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φ-Breath</a:t>
            </a:r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60" dirty="0"/>
          </a:p>
        </p:txBody>
      </p:sp>
      <p:sp>
        <p:nvSpPr>
          <p:cNvPr id="42" name="Text 32"/>
          <p:cNvSpPr/>
          <p:nvPr/>
        </p:nvSpPr>
        <p:spPr>
          <a:xfrm>
            <a:off x="7384405" y="2154138"/>
            <a:ext cx="1182103" cy="206871"/>
          </a:xfrm>
          <a:prstGeom prst="roundRect">
            <a:avLst>
              <a:gd name="adj" fmla="val 20873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6">
                <a:alpha val="25000"/>
              </a:srgbClr>
            </a:solidFill>
          </a:ln>
        </p:spPr>
        <p:txBody>
          <a:bodyPr wrap="none" lIns="194280" tIns="29210" rIns="86360" bIns="2921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Review + CI ✓</a:t>
            </a:r>
            <a:endParaRPr lang="en-US" sz="680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46327" y="2191205"/>
            <a:ext cx="132588" cy="13258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91170" y="2660452"/>
            <a:ext cx="7952780" cy="7590"/>
          </a:xfrm>
          <a:prstGeom prst="rect">
            <a:avLst/>
          </a:prstGeom>
          <a:gradFill rotWithShape="1">
            <a:gsLst>
              <a:gs pos="0">
                <a:srgbClr val="FFFFFF">
                  <a:alpha val="6000"/>
                </a:srgbClr>
              </a:gs>
              <a:gs pos="100000">
                <a:srgbClr val="FFFFFF">
                  <a:alpha val="2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4"/>
          <p:cNvSpPr/>
          <p:nvPr/>
        </p:nvSpPr>
        <p:spPr>
          <a:xfrm>
            <a:off x="571500" y="1065163"/>
            <a:ext cx="8172450" cy="781943"/>
          </a:xfrm>
          <a:prstGeom prst="roundRect">
            <a:avLst>
              <a:gd name="adj" fmla="val 7309"/>
            </a:avLst>
          </a:prstGeom>
          <a:gradFill rotWithShape="1">
            <a:gsLst>
              <a:gs pos="0">
                <a:srgbClr val="162B52"/>
              </a:gs>
              <a:gs pos="100000">
                <a:srgbClr val="1E3A63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5"/>
          <p:cNvSpPr/>
          <p:nvPr/>
        </p:nvSpPr>
        <p:spPr>
          <a:xfrm>
            <a:off x="571500" y="1065163"/>
            <a:ext cx="19050" cy="781943"/>
          </a:xfrm>
          <a:custGeom>
            <a:avLst/>
            <a:gdLst/>
            <a:ahLst/>
            <a:cxnLst/>
            <a:rect l="l" t="t" r="r" b="b"/>
            <a:pathLst>
              <a:path w="19050" h="781943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767390"/>
                </a:lnTo>
                <a:lnTo>
                  <a:pt x="16669" y="765134"/>
                </a:lnTo>
                <a:lnTo>
                  <a:pt x="14288" y="762594"/>
                </a:lnTo>
                <a:lnTo>
                  <a:pt x="11906" y="759709"/>
                </a:lnTo>
                <a:lnTo>
                  <a:pt x="9525" y="756384"/>
                </a:lnTo>
                <a:lnTo>
                  <a:pt x="7144" y="752461"/>
                </a:lnTo>
                <a:lnTo>
                  <a:pt x="4763" y="747633"/>
                </a:lnTo>
                <a:lnTo>
                  <a:pt x="2381" y="741118"/>
                </a:lnTo>
                <a:lnTo>
                  <a:pt x="0" y="724793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6"/>
          <p:cNvSpPr/>
          <p:nvPr/>
        </p:nvSpPr>
        <p:spPr>
          <a:xfrm>
            <a:off x="791170" y="1327249"/>
            <a:ext cx="257770" cy="257770"/>
          </a:xfrm>
          <a:prstGeom prst="ellipse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37"/>
          <p:cNvSpPr/>
          <p:nvPr/>
        </p:nvSpPr>
        <p:spPr>
          <a:xfrm>
            <a:off x="891480" y="1427559"/>
            <a:ext cx="57150" cy="57150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86360" dist="50800" dir="16200000">
              <a:srgbClr val="38bdf8">
                <a:alpha val="6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30809" y="1380827"/>
            <a:ext cx="150465" cy="150465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1563291" y="1364754"/>
            <a:ext cx="133539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b="1" spc="80" kern="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LIVING MIRROR</a:t>
            </a:r>
            <a:endParaRPr lang="en-US" sz="960" dirty="0"/>
          </a:p>
        </p:txBody>
      </p:sp>
      <p:sp>
        <p:nvSpPr>
          <p:cNvPr id="51" name="Text 39"/>
          <p:cNvSpPr/>
          <p:nvPr/>
        </p:nvSpPr>
        <p:spPr>
          <a:xfrm>
            <a:off x="2863602" y="1315789"/>
            <a:ext cx="3907756" cy="294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6"/>
              </a:lnSpc>
              <a:buNone/>
            </a:pPr>
            <a:r>
              <a:rPr lang="en-US" sz="79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verified, perceived, narrated. Reviewers receive a </a:t>
            </a:r>
            <a:pPr algn="l" indent="0" marL="0">
              <a:lnSpc>
                <a:spcPts val="1106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self-validating package</a:t>
            </a:r>
            <a:pPr algn="l" indent="0" marL="0">
              <a:lnSpc>
                <a:spcPts val="1106"/>
              </a:lnSpc>
              <a:buNone/>
            </a:pPr>
            <a:r>
              <a:rPr lang="en-US" sz="79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artifact knows itself.</a:t>
            </a:r>
            <a:endParaRPr lang="en-US" sz="790" dirty="0"/>
          </a:p>
        </p:txBody>
      </p:sp>
      <p:sp>
        <p:nvSpPr>
          <p:cNvPr id="52" name="Text 40"/>
          <p:cNvSpPr/>
          <p:nvPr/>
        </p:nvSpPr>
        <p:spPr>
          <a:xfrm>
            <a:off x="6781056" y="1365945"/>
            <a:ext cx="505718" cy="198254"/>
          </a:xfrm>
          <a:prstGeom prst="roundRect">
            <a:avLst>
              <a:gd name="adj" fmla="val 72387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620" dirty="0"/>
          </a:p>
        </p:txBody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821918" y="1389692"/>
            <a:ext cx="132588" cy="132588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7343924" y="1365945"/>
            <a:ext cx="592931" cy="198254"/>
          </a:xfrm>
          <a:prstGeom prst="roundRect">
            <a:avLst>
              <a:gd name="adj" fmla="val 72387"/>
            </a:avLst>
          </a:prstGeom>
          <a:solidFill>
            <a:srgbClr val="A78BFA">
              <a:alpha val="12000"/>
            </a:srgbClr>
          </a:solidFill>
          <a:ln w="9525">
            <a:solidFill>
              <a:srgbClr val="A78BFA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</a:t>
            </a:r>
            <a:endParaRPr lang="en-US" sz="620" dirty="0"/>
          </a:p>
        </p:txBody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384786" y="1389692"/>
            <a:ext cx="132588" cy="132588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7994005" y="1365945"/>
            <a:ext cx="549325" cy="198254"/>
          </a:xfrm>
          <a:prstGeom prst="roundRect">
            <a:avLst>
              <a:gd name="adj" fmla="val 72387"/>
            </a:avLst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Narrated</a:t>
            </a:r>
            <a:endParaRPr lang="en-US" sz="620" dirty="0"/>
          </a:p>
        </p:txBody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034867" y="1389692"/>
            <a:ext cx="132588" cy="132588"/>
          </a:xfrm>
          <a:prstGeom prst="rect">
            <a:avLst/>
          </a:prstGeom>
        </p:spPr>
      </p:pic>
      <p:sp>
        <p:nvSpPr>
          <p:cNvPr id="58" name="Text 43"/>
          <p:cNvSpPr/>
          <p:nvPr/>
        </p:nvSpPr>
        <p:spPr>
          <a:xfrm rot="5400000">
            <a:off x="-49560" y="1515963"/>
            <a:ext cx="66777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170" kern="0" dirty="0">
                <a:solidFill>
                  <a:srgbClr val="38BDF8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560" dirty="0"/>
          </a:p>
        </p:txBody>
      </p:sp>
      <p:pic>
        <p:nvPicPr>
          <p:cNvPr id="59" name="Image 13" descr="preencoded.png">    </p:cNvPr>
          <p:cNvPicPr>
            <a:picLocks noChangeAspect="1"/>
          </p:cNvPicPr>
          <p:nvPr/>
        </p:nvPicPr>
        <p:blipFill>
          <a:blip r:embed="rId27">
            <a:alphaModFix amt="70000"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1595" y="1465668"/>
            <a:ext cx="132588" cy="132588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130969" y="1569541"/>
            <a:ext cx="13841" cy="3573959"/>
          </a:xfrm>
          <a:prstGeom prst="rect">
            <a:avLst/>
          </a:prstGeom>
          <a:gradFill rotWithShape="1">
            <a:gsLst>
              <a:gs pos="0">
                <a:srgbClr val="38BDF8">
                  <a:alpha val="8000"/>
                </a:srgbClr>
              </a:gs>
              <a:gs pos="100000">
                <a:srgbClr val="38BDF8">
                  <a:alpha val="3500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F87171"/>
              </a:gs>
              <a:gs pos="50000">
                <a:srgbClr val="F87171"/>
              </a:gs>
              <a:gs pos="50000">
                <a:srgbClr val="34D399"/>
              </a:gs>
              <a:gs pos="100000">
                <a:srgbClr val="34D39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60747"/>
            <a:ext cx="342900" cy="342900"/>
          </a:xfrm>
          <a:prstGeom prst="roundRect">
            <a:avLst>
              <a:gd name="adj" fmla="val 25185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147" y="362694"/>
            <a:ext cx="139005" cy="1390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0620"/>
            <a:ext cx="3248143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3"/>
              </a:lnSpc>
              <a:buNone/>
            </a:pPr>
            <a:r>
              <a:rPr lang="en-US" sz="203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Failure Modes </a:t>
            </a:r>
            <a:pPr algn="l" indent="0" marL="0">
              <a:lnSpc>
                <a:spcPts val="2233"/>
              </a:lnSpc>
              <a:buNone/>
            </a:pPr>
            <a:r>
              <a:rPr lang="en-US" sz="203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</a:t>
            </a:r>
            <a:pPr algn="l" indent="0" marL="0">
              <a:lnSpc>
                <a:spcPts val="2233"/>
              </a:lnSpc>
              <a:buNone/>
            </a:pPr>
            <a:r>
              <a:rPr lang="en-US" sz="203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Fallbacks</a:t>
            </a:r>
            <a:endParaRPr lang="en-US" sz="2030" dirty="0"/>
          </a:p>
        </p:txBody>
      </p:sp>
      <p:sp>
        <p:nvSpPr>
          <p:cNvPr id="6" name="Text 3"/>
          <p:cNvSpPr/>
          <p:nvPr/>
        </p:nvSpPr>
        <p:spPr>
          <a:xfrm>
            <a:off x="914400" y="513308"/>
            <a:ext cx="333921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spcBef>
                <a:spcPts val="230"/>
              </a:spcBef>
              <a:buNone/>
            </a:pPr>
            <a:r>
              <a:rPr lang="en-US" sz="790" spc="6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 AND REDUNDANCY</a:t>
            </a:r>
            <a:endParaRPr lang="en-US" sz="790" dirty="0"/>
          </a:p>
        </p:txBody>
      </p:sp>
      <p:sp>
        <p:nvSpPr>
          <p:cNvPr id="7" name="Text 4"/>
          <p:cNvSpPr/>
          <p:nvPr/>
        </p:nvSpPr>
        <p:spPr>
          <a:xfrm>
            <a:off x="4572000" y="786110"/>
            <a:ext cx="7590" cy="4000649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38BDF8">
                  <a:alpha val="15000"/>
                </a:srgbClr>
              </a:gs>
              <a:gs pos="80000">
                <a:srgbClr val="38BDF8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1064865"/>
            <a:ext cx="3858220" cy="9525"/>
          </a:xfrm>
          <a:prstGeom prst="rect">
            <a:avLst/>
          </a:prstGeom>
          <a:solidFill>
            <a:srgbClr val="F87171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707" y="816034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794" y="786110"/>
            <a:ext cx="121358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b="1" spc="30" kern="0" dirty="0">
                <a:solidFill>
                  <a:srgbClr val="F871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FAILURE MODES</a:t>
            </a:r>
            <a:endParaRPr lang="en-US" sz="1010" dirty="0"/>
          </a:p>
        </p:txBody>
      </p:sp>
      <p:sp>
        <p:nvSpPr>
          <p:cNvPr id="11" name="Text 7"/>
          <p:cNvSpPr/>
          <p:nvPr/>
        </p:nvSpPr>
        <p:spPr>
          <a:xfrm>
            <a:off x="457200" y="1202531"/>
            <a:ext cx="3858220" cy="500955"/>
          </a:xfrm>
          <a:prstGeom prst="roundRect">
            <a:avLst>
              <a:gd name="adj" fmla="val 14197"/>
            </a:avLst>
          </a:prstGeom>
          <a:solidFill>
            <a:srgbClr val="F87171">
              <a:alpha val="8000"/>
            </a:srgbClr>
          </a:solidFill>
          <a:ln w="9525">
            <a:solidFill>
              <a:srgbClr val="F87171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81025" y="1305967"/>
            <a:ext cx="185291" cy="203820"/>
          </a:xfrm>
          <a:prstGeom prst="ellipse">
            <a:avLst/>
          </a:prstGeom>
          <a:solidFill>
            <a:srgbClr val="F87171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13" name="Text 9"/>
          <p:cNvSpPr/>
          <p:nvPr/>
        </p:nvSpPr>
        <p:spPr>
          <a:xfrm>
            <a:off x="866626" y="1298377"/>
            <a:ext cx="3391469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limits or outages</a:t>
            </a:r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any single platform disrupting pipeline continuity</a:t>
            </a:r>
            <a:endParaRPr lang="en-US" sz="840" dirty="0"/>
          </a:p>
        </p:txBody>
      </p:sp>
      <p:sp>
        <p:nvSpPr>
          <p:cNvPr id="14" name="Text 10"/>
          <p:cNvSpPr/>
          <p:nvPr/>
        </p:nvSpPr>
        <p:spPr>
          <a:xfrm>
            <a:off x="457200" y="1774478"/>
            <a:ext cx="3858220" cy="500955"/>
          </a:xfrm>
          <a:prstGeom prst="roundRect">
            <a:avLst>
              <a:gd name="adj" fmla="val 14197"/>
            </a:avLst>
          </a:prstGeom>
          <a:solidFill>
            <a:srgbClr val="F87171">
              <a:alpha val="8000"/>
            </a:srgbClr>
          </a:solidFill>
          <a:ln w="9525">
            <a:solidFill>
              <a:srgbClr val="F87171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81025" y="1877913"/>
            <a:ext cx="185291" cy="203820"/>
          </a:xfrm>
          <a:prstGeom prst="ellipse">
            <a:avLst/>
          </a:prstGeom>
          <a:solidFill>
            <a:srgbClr val="F87171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16" name="Text 12"/>
          <p:cNvSpPr/>
          <p:nvPr/>
        </p:nvSpPr>
        <p:spPr>
          <a:xfrm>
            <a:off x="866626" y="1870323"/>
            <a:ext cx="3391469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HIGH thinking timeout</a:t>
            </a:r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complex mathematical proofs exceeding time budget</a:t>
            </a:r>
            <a:endParaRPr lang="en-US" sz="840" dirty="0"/>
          </a:p>
        </p:txBody>
      </p:sp>
      <p:sp>
        <p:nvSpPr>
          <p:cNvPr id="17" name="Text 13"/>
          <p:cNvSpPr/>
          <p:nvPr/>
        </p:nvSpPr>
        <p:spPr>
          <a:xfrm>
            <a:off x="457200" y="2346424"/>
            <a:ext cx="3858220" cy="500955"/>
          </a:xfrm>
          <a:prstGeom prst="roundRect">
            <a:avLst>
              <a:gd name="adj" fmla="val 14197"/>
            </a:avLst>
          </a:prstGeom>
          <a:solidFill>
            <a:srgbClr val="F87171">
              <a:alpha val="8000"/>
            </a:srgbClr>
          </a:solidFill>
          <a:ln w="9525">
            <a:solidFill>
              <a:srgbClr val="F87171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81025" y="2449860"/>
            <a:ext cx="185291" cy="203820"/>
          </a:xfrm>
          <a:prstGeom prst="ellipse">
            <a:avLst/>
          </a:prstGeom>
          <a:solidFill>
            <a:srgbClr val="F87171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19" name="Text 15"/>
          <p:cNvSpPr/>
          <p:nvPr/>
        </p:nvSpPr>
        <p:spPr>
          <a:xfrm>
            <a:off x="866626" y="2442270"/>
            <a:ext cx="3391469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debate deadlock</a:t>
            </a:r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agents fail to reach consensus on ambiguous cases</a:t>
            </a:r>
            <a:endParaRPr lang="en-US" sz="840" dirty="0"/>
          </a:p>
        </p:txBody>
      </p:sp>
      <p:sp>
        <p:nvSpPr>
          <p:cNvPr id="20" name="Text 16"/>
          <p:cNvSpPr/>
          <p:nvPr/>
        </p:nvSpPr>
        <p:spPr>
          <a:xfrm>
            <a:off x="457200" y="2918371"/>
            <a:ext cx="3858220" cy="500955"/>
          </a:xfrm>
          <a:prstGeom prst="roundRect">
            <a:avLst>
              <a:gd name="adj" fmla="val 14197"/>
            </a:avLst>
          </a:prstGeom>
          <a:solidFill>
            <a:srgbClr val="F87171">
              <a:alpha val="8000"/>
            </a:srgbClr>
          </a:solidFill>
          <a:ln w="9525">
            <a:solidFill>
              <a:srgbClr val="F87171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81025" y="3021806"/>
            <a:ext cx="185291" cy="203820"/>
          </a:xfrm>
          <a:prstGeom prst="ellipse">
            <a:avLst/>
          </a:prstGeom>
          <a:solidFill>
            <a:srgbClr val="F87171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30" dirty="0"/>
          </a:p>
        </p:txBody>
      </p:sp>
      <p:sp>
        <p:nvSpPr>
          <p:cNvPr id="22" name="Text 18"/>
          <p:cNvSpPr/>
          <p:nvPr/>
        </p:nvSpPr>
        <p:spPr>
          <a:xfrm>
            <a:off x="866626" y="3014216"/>
            <a:ext cx="3391469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vision misreads artifacts</a:t>
            </a:r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false positive detection on valid content</a:t>
            </a:r>
            <a:endParaRPr lang="en-US" sz="840" dirty="0"/>
          </a:p>
        </p:txBody>
      </p:sp>
      <p:sp>
        <p:nvSpPr>
          <p:cNvPr id="23" name="Text 19"/>
          <p:cNvSpPr/>
          <p:nvPr/>
        </p:nvSpPr>
        <p:spPr>
          <a:xfrm>
            <a:off x="457200" y="3490317"/>
            <a:ext cx="3858220" cy="384572"/>
          </a:xfrm>
          <a:prstGeom prst="roundRect">
            <a:avLst>
              <a:gd name="adj" fmla="val 18493"/>
            </a:avLst>
          </a:prstGeom>
          <a:solidFill>
            <a:srgbClr val="F87171">
              <a:alpha val="8000"/>
            </a:srgbClr>
          </a:solidFill>
          <a:ln w="9525">
            <a:solidFill>
              <a:srgbClr val="F87171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81025" y="3593753"/>
            <a:ext cx="185291" cy="203820"/>
          </a:xfrm>
          <a:prstGeom prst="ellipse">
            <a:avLst/>
          </a:prstGeom>
          <a:solidFill>
            <a:srgbClr val="F87171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30" dirty="0"/>
          </a:p>
        </p:txBody>
      </p:sp>
      <p:sp>
        <p:nvSpPr>
          <p:cNvPr id="25" name="Text 21"/>
          <p:cNvSpPr/>
          <p:nvPr/>
        </p:nvSpPr>
        <p:spPr>
          <a:xfrm>
            <a:off x="866626" y="3586163"/>
            <a:ext cx="3642077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overrun</a:t>
            </a:r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high-frequency verification cycles consuming budget</a:t>
            </a:r>
            <a:endParaRPr lang="en-US" sz="840" dirty="0"/>
          </a:p>
        </p:txBody>
      </p:sp>
      <p:sp>
        <p:nvSpPr>
          <p:cNvPr id="26" name="Text 22"/>
          <p:cNvSpPr/>
          <p:nvPr/>
        </p:nvSpPr>
        <p:spPr>
          <a:xfrm>
            <a:off x="4828580" y="1064865"/>
            <a:ext cx="3858220" cy="9525"/>
          </a:xfrm>
          <a:prstGeom prst="rect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6087" y="816034"/>
            <a:ext cx="132588" cy="132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007173" y="786110"/>
            <a:ext cx="162695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b="1" spc="30" kern="0" dirty="0">
                <a:solidFill>
                  <a:srgbClr val="34D3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FALLBACK STRATEGY</a:t>
            </a:r>
            <a:endParaRPr lang="en-US" sz="1010" dirty="0"/>
          </a:p>
        </p:txBody>
      </p:sp>
      <p:sp>
        <p:nvSpPr>
          <p:cNvPr id="29" name="Text 24"/>
          <p:cNvSpPr/>
          <p:nvPr/>
        </p:nvSpPr>
        <p:spPr>
          <a:xfrm>
            <a:off x="4828580" y="1202531"/>
            <a:ext cx="3858220" cy="500955"/>
          </a:xfrm>
          <a:prstGeom prst="roundRect">
            <a:avLst>
              <a:gd name="adj" fmla="val 14197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952405" y="1305967"/>
            <a:ext cx="185291" cy="20382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31" name="Text 26"/>
          <p:cNvSpPr/>
          <p:nvPr/>
        </p:nvSpPr>
        <p:spPr>
          <a:xfrm>
            <a:off x="5238006" y="1298377"/>
            <a:ext cx="3391469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independence</a:t>
            </a:r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Meta self-hosted eliminates API dependency; Grok fast model as degraded fallback</a:t>
            </a:r>
            <a:endParaRPr lang="en-US" sz="840" dirty="0"/>
          </a:p>
        </p:txBody>
      </p:sp>
      <p:sp>
        <p:nvSpPr>
          <p:cNvPr id="32" name="Text 27"/>
          <p:cNvSpPr/>
          <p:nvPr/>
        </p:nvSpPr>
        <p:spPr>
          <a:xfrm>
            <a:off x="4828580" y="1774478"/>
            <a:ext cx="3858220" cy="500955"/>
          </a:xfrm>
          <a:prstGeom prst="roundRect">
            <a:avLst>
              <a:gd name="adj" fmla="val 14197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4952405" y="1877913"/>
            <a:ext cx="185291" cy="20382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34" name="Text 29"/>
          <p:cNvSpPr/>
          <p:nvPr/>
        </p:nvSpPr>
        <p:spPr>
          <a:xfrm>
            <a:off x="5238006" y="1870323"/>
            <a:ext cx="3391469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Thinking-level cascade</a:t>
            </a:r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start Low, escalate to Med, then High only when needed</a:t>
            </a:r>
            <a:endParaRPr lang="en-US" sz="840" dirty="0"/>
          </a:p>
        </p:txBody>
      </p:sp>
      <p:sp>
        <p:nvSpPr>
          <p:cNvPr id="35" name="Text 30"/>
          <p:cNvSpPr/>
          <p:nvPr/>
        </p:nvSpPr>
        <p:spPr>
          <a:xfrm>
            <a:off x="4828580" y="2346424"/>
            <a:ext cx="3858220" cy="500955"/>
          </a:xfrm>
          <a:prstGeom prst="roundRect">
            <a:avLst>
              <a:gd name="adj" fmla="val 14197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4952405" y="2449860"/>
            <a:ext cx="185291" cy="20382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37" name="Text 32"/>
          <p:cNvSpPr/>
          <p:nvPr/>
        </p:nvSpPr>
        <p:spPr>
          <a:xfrm>
            <a:off x="5238006" y="2442270"/>
            <a:ext cx="3391469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override</a:t>
            </a:r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3/4 agent agreement forces consensus, breaking deadlock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4828580" y="2918371"/>
            <a:ext cx="3858220" cy="500955"/>
          </a:xfrm>
          <a:prstGeom prst="roundRect">
            <a:avLst>
              <a:gd name="adj" fmla="val 14197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4952405" y="3021806"/>
            <a:ext cx="185291" cy="20382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30" dirty="0"/>
          </a:p>
        </p:txBody>
      </p:sp>
      <p:sp>
        <p:nvSpPr>
          <p:cNvPr id="40" name="Text 35"/>
          <p:cNvSpPr/>
          <p:nvPr/>
        </p:nvSpPr>
        <p:spPr>
          <a:xfrm>
            <a:off x="5238006" y="3014216"/>
            <a:ext cx="3391469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Dual-modality confirmation</a:t>
            </a:r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text scan must agree with vision scan before flagging</a:t>
            </a:r>
            <a:endParaRPr lang="en-US" sz="840" dirty="0"/>
          </a:p>
        </p:txBody>
      </p:sp>
      <p:sp>
        <p:nvSpPr>
          <p:cNvPr id="41" name="Text 36"/>
          <p:cNvSpPr/>
          <p:nvPr/>
        </p:nvSpPr>
        <p:spPr>
          <a:xfrm>
            <a:off x="4828580" y="3490317"/>
            <a:ext cx="3858220" cy="500955"/>
          </a:xfrm>
          <a:prstGeom prst="roundRect">
            <a:avLst>
              <a:gd name="adj" fmla="val 14197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4952405" y="3593753"/>
            <a:ext cx="185291" cy="20382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30" dirty="0"/>
          </a:p>
        </p:txBody>
      </p:sp>
      <p:sp>
        <p:nvSpPr>
          <p:cNvPr id="43" name="Text 38"/>
          <p:cNvSpPr/>
          <p:nvPr/>
        </p:nvSpPr>
        <p:spPr>
          <a:xfrm>
            <a:off x="5238006" y="3586163"/>
            <a:ext cx="3391469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scheduling</a:t>
            </a:r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full 96-path cycles on release events only, not continuously</a:t>
            </a:r>
            <a:endParaRPr lang="en-US" sz="840" dirty="0"/>
          </a:p>
        </p:txBody>
      </p:sp>
      <p:sp>
        <p:nvSpPr>
          <p:cNvPr id="44" name="Text 39"/>
          <p:cNvSpPr/>
          <p:nvPr/>
        </p:nvSpPr>
        <p:spPr>
          <a:xfrm>
            <a:off x="457200" y="4898678"/>
            <a:ext cx="2789188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3332708" y="4833045"/>
            <a:ext cx="272644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mode has a tested, automated fallback path</a:t>
            </a:r>
            <a:endParaRPr lang="en-US" sz="730" dirty="0"/>
          </a:p>
        </p:txBody>
      </p:sp>
      <p:sp>
        <p:nvSpPr>
          <p:cNvPr id="46" name="Text 41"/>
          <p:cNvSpPr/>
          <p:nvPr/>
        </p:nvSpPr>
        <p:spPr>
          <a:xfrm>
            <a:off x="5897612" y="4898678"/>
            <a:ext cx="2789188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4443115" y="2442865"/>
            <a:ext cx="257770" cy="257770"/>
          </a:xfrm>
          <a:prstGeom prst="ellipse">
            <a:avLst/>
          </a:prstGeom>
          <a:solidFill>
            <a:srgbClr val="141D2F"/>
          </a:solidFill>
          <a:ln w="9525">
            <a:solidFill>
              <a:srgbClr val="38BDF8"/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05706" y="2505456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7272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970" y="429220"/>
            <a:ext cx="5000030" cy="47142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390" y="0"/>
            <a:ext cx="728722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857625" y="0"/>
            <a:ext cx="142875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3857625" y="5129659"/>
            <a:ext cx="142875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3999830" y="776288"/>
            <a:ext cx="114433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5"/>
              </a:lnSpc>
              <a:spcAft>
                <a:spcPts val="560"/>
              </a:spcAft>
              <a:buNone/>
            </a:pPr>
            <a:r>
              <a:rPr lang="en-US" sz="1010" i="1" dirty="0">
                <a:solidFill>
                  <a:srgbClr val="38BDF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بِسْمِ ٱللَّهِ ٱلرَّحْمَـٰنِ ٱلرَّحِيمِ</a:t>
            </a:r>
            <a:endParaRPr lang="en-US" sz="1010" dirty="0"/>
          </a:p>
        </p:txBody>
      </p:sp>
      <p:sp>
        <p:nvSpPr>
          <p:cNvPr id="8" name="Text 3"/>
          <p:cNvSpPr/>
          <p:nvPr/>
        </p:nvSpPr>
        <p:spPr>
          <a:xfrm>
            <a:off x="2564687" y="1039713"/>
            <a:ext cx="4014627" cy="79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978"/>
              </a:lnSpc>
              <a:spcAft>
                <a:spcPts val="680"/>
              </a:spcAft>
              <a:buNone/>
            </a:pPr>
            <a:r>
              <a:rPr lang="en-US" sz="2590" spc="-30" kern="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Platforms.</a:t>
            </a:r>
            <a:pPr algn="ctr" indent="0" marL="0">
              <a:lnSpc>
                <a:spcPts val="2978"/>
              </a:lnSpc>
              <a:spcAft>
                <a:spcPts val="680"/>
              </a:spcAft>
              <a:buNone/>
            </a:pPr>
            <a:r>
              <a:rPr lang="en-US" sz="2590" spc="-30" kern="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pPr algn="ctr" indent="0" marL="0">
              <a:lnSpc>
                <a:spcPts val="2978"/>
              </a:lnSpc>
              <a:spcAft>
                <a:spcPts val="680"/>
              </a:spcAft>
              <a:buNone/>
            </a:pPr>
            <a:r>
              <a:rPr lang="en-US" sz="2590" spc="-30" kern="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96 Paths.</a:t>
            </a:r>
            <a:br/>
            <a:pPr algn="ctr" indent="0" marL="0">
              <a:lnSpc>
                <a:spcPts val="2978"/>
              </a:lnSpc>
              <a:spcAft>
                <a:spcPts val="680"/>
              </a:spcAft>
              <a:buNone/>
            </a:pPr>
            <a:r>
              <a:rPr lang="en-US" sz="2590" spc="-30" kern="0" dirty="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Breathing Architecture.</a:t>
            </a:r>
            <a:endParaRPr lang="en-US" sz="2590" dirty="0"/>
          </a:p>
        </p:txBody>
      </p:sp>
      <p:sp>
        <p:nvSpPr>
          <p:cNvPr id="9" name="Text 4"/>
          <p:cNvSpPr/>
          <p:nvPr/>
        </p:nvSpPr>
        <p:spPr>
          <a:xfrm>
            <a:off x="2336207" y="1882378"/>
            <a:ext cx="447143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95"/>
              </a:lnSpc>
              <a:spcAft>
                <a:spcPts val="1350"/>
              </a:spcAft>
              <a:buNone/>
            </a:pPr>
            <a:r>
              <a:rPr lang="en-US" sz="1130" i="1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Meridian Formal Control Surface is ready for its AI partners.</a:t>
            </a:r>
            <a:endParaRPr lang="en-US" sz="1130" dirty="0"/>
          </a:p>
        </p:txBody>
      </p:sp>
      <p:sp>
        <p:nvSpPr>
          <p:cNvPr id="10" name="Text 5"/>
          <p:cNvSpPr/>
          <p:nvPr/>
        </p:nvSpPr>
        <p:spPr>
          <a:xfrm>
            <a:off x="4286250" y="2269034"/>
            <a:ext cx="5715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2398417" y="2477244"/>
            <a:ext cx="4347017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30"/>
              </a:lnSpc>
              <a:spcAft>
                <a:spcPts val="1800"/>
              </a:spcAft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is mapped. Every guardian has a voice. Every proof has a witness.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3124349" y="2900065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141D2F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0855" y="2976571"/>
            <a:ext cx="132588" cy="132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088117" y="3242965"/>
            <a:ext cx="35836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</a:t>
            </a:r>
            <a:endParaRPr lang="en-US" sz="730" dirty="0"/>
          </a:p>
        </p:txBody>
      </p:sp>
      <p:sp>
        <p:nvSpPr>
          <p:cNvPr id="15" name="Text 9"/>
          <p:cNvSpPr/>
          <p:nvPr/>
        </p:nvSpPr>
        <p:spPr>
          <a:xfrm>
            <a:off x="2780504" y="3439120"/>
            <a:ext cx="97358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· 28</a:t>
            </a:r>
            <a:endParaRPr lang="en-US" sz="680" dirty="0"/>
          </a:p>
        </p:txBody>
      </p:sp>
      <p:sp>
        <p:nvSpPr>
          <p:cNvPr id="16" name="Text 10"/>
          <p:cNvSpPr/>
          <p:nvPr/>
        </p:nvSpPr>
        <p:spPr>
          <a:xfrm>
            <a:off x="4400550" y="2900065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141D2F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77057" y="2976571"/>
            <a:ext cx="132588" cy="132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464189" y="3242965"/>
            <a:ext cx="15847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730" dirty="0"/>
          </a:p>
        </p:txBody>
      </p:sp>
      <p:sp>
        <p:nvSpPr>
          <p:cNvPr id="19" name="Text 12"/>
          <p:cNvSpPr/>
          <p:nvPr/>
        </p:nvSpPr>
        <p:spPr>
          <a:xfrm>
            <a:off x="3940798" y="3439120"/>
            <a:ext cx="120540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· 36</a:t>
            </a:r>
            <a:endParaRPr lang="en-US" sz="680" dirty="0"/>
          </a:p>
        </p:txBody>
      </p:sp>
      <p:sp>
        <p:nvSpPr>
          <p:cNvPr id="20" name="Text 13"/>
          <p:cNvSpPr/>
          <p:nvPr/>
        </p:nvSpPr>
        <p:spPr>
          <a:xfrm>
            <a:off x="5705326" y="2900065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141D2F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81833" y="2976571"/>
            <a:ext cx="132588" cy="1325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609518" y="3242965"/>
            <a:ext cx="47721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</a:t>
            </a:r>
            <a:endParaRPr lang="en-US" sz="730" dirty="0"/>
          </a:p>
        </p:txBody>
      </p:sp>
      <p:sp>
        <p:nvSpPr>
          <p:cNvPr id="23" name="Text 15"/>
          <p:cNvSpPr/>
          <p:nvPr/>
        </p:nvSpPr>
        <p:spPr>
          <a:xfrm>
            <a:off x="5330056" y="3439120"/>
            <a:ext cx="10362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· 32</a:t>
            </a:r>
            <a:endParaRPr lang="en-US" sz="680" dirty="0"/>
          </a:p>
        </p:txBody>
      </p:sp>
      <p:sp>
        <p:nvSpPr>
          <p:cNvPr id="24" name="Text 16"/>
          <p:cNvSpPr/>
          <p:nvPr/>
        </p:nvSpPr>
        <p:spPr>
          <a:xfrm>
            <a:off x="4286250" y="3769221"/>
            <a:ext cx="5715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2278082" y="3977432"/>
            <a:ext cx="458783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5"/>
              </a:lnSpc>
              <a:spcAft>
                <a:spcPts val="790"/>
              </a:spcAft>
              <a:buNone/>
            </a:pPr>
            <a:r>
              <a:rPr lang="en-US" sz="790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Saad Younus</a:t>
            </a:r>
            <a:pPr algn="ctr" indent="0" marL="0">
              <a:lnSpc>
                <a:spcPts val="1185"/>
              </a:lnSpc>
              <a:spcAft>
                <a:spcPts val="790"/>
              </a:spcAft>
              <a:buNone/>
            </a:pPr>
            <a:r>
              <a:rPr lang="en-US" sz="560" spc="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algn="ctr" indent="0" marL="0">
              <a:lnSpc>
                <a:spcPts val="1185"/>
              </a:lnSpc>
              <a:spcAft>
                <a:spcPts val="790"/>
              </a:spcAft>
              <a:buNone/>
            </a:pPr>
            <a:r>
              <a:rPr lang="en-US" sz="790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mosaadyounus@gmail.com</a:t>
            </a:r>
            <a:pPr algn="ctr" indent="0" marL="0">
              <a:lnSpc>
                <a:spcPts val="1185"/>
              </a:lnSpc>
              <a:spcAft>
                <a:spcPts val="790"/>
              </a:spcAft>
              <a:buNone/>
            </a:pPr>
            <a:r>
              <a:rPr lang="en-US" sz="560" spc="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algn="ctr" indent="0" marL="0">
              <a:lnSpc>
                <a:spcPts val="1185"/>
              </a:lnSpc>
              <a:spcAft>
                <a:spcPts val="790"/>
              </a:spcAft>
              <a:buNone/>
            </a:pPr>
            <a:r>
              <a:rPr lang="en-US" sz="790" spc="20" kern="0" dirty="0">
                <a:solidFill>
                  <a:srgbClr val="86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Systems Architect</a:t>
            </a:r>
            <a:endParaRPr lang="en-US" sz="790" dirty="0"/>
          </a:p>
        </p:txBody>
      </p:sp>
      <p:sp>
        <p:nvSpPr>
          <p:cNvPr id="26" name="Text 18"/>
          <p:cNvSpPr/>
          <p:nvPr/>
        </p:nvSpPr>
        <p:spPr>
          <a:xfrm>
            <a:off x="3894073" y="4228207"/>
            <a:ext cx="135585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5"/>
              </a:lnSpc>
              <a:buNone/>
            </a:pPr>
            <a:r>
              <a:rPr lang="en-US" sz="730" spc="60" kern="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— Orlando, FL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docgen</cp:lastModifiedBy>
  <cp:revision>1</cp:revision>
  <dcterms:created xsi:type="dcterms:W3CDTF">2026-04-18T22:54:24Z</dcterms:created>
  <dcterms:modified xsi:type="dcterms:W3CDTF">2026-04-18T22:54:24Z</dcterms:modified>
</cp:coreProperties>
</file>