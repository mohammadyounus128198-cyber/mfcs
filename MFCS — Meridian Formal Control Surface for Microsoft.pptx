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sv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sv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sv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sv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sv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10000">
                <a:srgbClr val="000000">
                  <a:alpha val="0"/>
                </a:srgbClr>
              </a:gs>
              <a:gs pos="50000">
                <a:srgbClr val="58A6FF">
                  <a:alpha val="60000"/>
                </a:srgbClr>
              </a:gs>
              <a:gs pos="9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141" y="843260"/>
            <a:ext cx="29170" cy="29170"/>
          </a:xfrm>
          <a:prstGeom prst="ellipse">
            <a:avLst/>
          </a:prstGeom>
          <a:solidFill>
            <a:srgbClr val="58A6FF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272010" y="1414760"/>
            <a:ext cx="35421" cy="35421"/>
          </a:xfrm>
          <a:prstGeom prst="ellipse">
            <a:avLst/>
          </a:prstGeom>
          <a:solidFill>
            <a:srgbClr val="58A6FF">
              <a:alpha val="55000"/>
            </a:srgbClr>
          </a:solidFill>
          <a:ln/>
          <a:effectLst>
            <a:outerShdw sx="100000" sy="100000" kx="0" ky="0" algn="bl" rotWithShape="0" blurRad="43180" dist="50800" dir="16200000">
              <a:srgbClr val="58a6ff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271391" y="1129010"/>
            <a:ext cx="21580" cy="21580"/>
          </a:xfrm>
          <a:prstGeom prst="ellipse">
            <a:avLst/>
          </a:prstGeom>
          <a:solidFill>
            <a:srgbClr val="58A6FF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700760" y="1986260"/>
            <a:ext cx="29170" cy="29170"/>
          </a:xfrm>
          <a:prstGeom prst="ellipse">
            <a:avLst/>
          </a:prstGeom>
          <a:solidFill>
            <a:srgbClr val="58A6FF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414641" y="699641"/>
            <a:ext cx="21580" cy="21580"/>
          </a:xfrm>
          <a:prstGeom prst="ellipse">
            <a:avLst/>
          </a:prstGeom>
          <a:solidFill>
            <a:srgbClr val="58A6FF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415510" y="1200150"/>
            <a:ext cx="35421" cy="35421"/>
          </a:xfrm>
          <a:prstGeom prst="ellipse">
            <a:avLst/>
          </a:prstGeom>
          <a:solidFill>
            <a:srgbClr val="58A6FF">
              <a:alpha val="55000"/>
            </a:srgbClr>
          </a:solidFill>
          <a:ln/>
          <a:effectLst>
            <a:outerShdw sx="100000" sy="100000" kx="0" ky="0" algn="bl" rotWithShape="0" blurRad="43180" dist="50800" dir="16200000">
              <a:srgbClr val="58a6ff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987010" y="843260"/>
            <a:ext cx="21580" cy="21580"/>
          </a:xfrm>
          <a:prstGeom prst="ellipse">
            <a:avLst/>
          </a:prstGeom>
          <a:solidFill>
            <a:srgbClr val="58A6FF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843141" y="3915370"/>
            <a:ext cx="29170" cy="29170"/>
          </a:xfrm>
          <a:prstGeom prst="ellipse">
            <a:avLst/>
          </a:prstGeom>
          <a:solidFill>
            <a:srgbClr val="58A6FF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844010" y="4272260"/>
            <a:ext cx="21580" cy="21580"/>
          </a:xfrm>
          <a:prstGeom prst="ellipse">
            <a:avLst/>
          </a:prstGeom>
          <a:solidFill>
            <a:srgbClr val="58A6FF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843391" y="3986510"/>
            <a:ext cx="29170" cy="29170"/>
          </a:xfrm>
          <a:prstGeom prst="ellipse">
            <a:avLst/>
          </a:prstGeom>
          <a:solidFill>
            <a:srgbClr val="58A6FF">
              <a:alpha val="55000"/>
            </a:srgbClr>
          </a:solidFill>
          <a:ln/>
          <a:effectLst>
            <a:outerShdw sx="100000" sy="100000" kx="0" ky="0" algn="bl" rotWithShape="0" blurRad="43180" dist="50800" dir="16200000">
              <a:srgbClr val="58a6ff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057870" y="3557141"/>
            <a:ext cx="21580" cy="21580"/>
          </a:xfrm>
          <a:prstGeom prst="ellipse">
            <a:avLst/>
          </a:prstGeom>
          <a:solidFill>
            <a:srgbClr val="58A6FF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986260" y="3986510"/>
            <a:ext cx="29170" cy="29170"/>
          </a:xfrm>
          <a:prstGeom prst="ellipse">
            <a:avLst/>
          </a:prstGeom>
          <a:solidFill>
            <a:srgbClr val="58A6FF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486620" y="3415010"/>
            <a:ext cx="21580" cy="21580"/>
          </a:xfrm>
          <a:prstGeom prst="ellipse">
            <a:avLst/>
          </a:prstGeom>
          <a:solidFill>
            <a:srgbClr val="58A6FF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14970" y="2286000"/>
            <a:ext cx="13841" cy="13841"/>
          </a:xfrm>
          <a:prstGeom prst="ellipse">
            <a:avLst/>
          </a:prstGeom>
          <a:solidFill>
            <a:srgbClr val="58A6FF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430220" y="2857500"/>
            <a:ext cx="13841" cy="13841"/>
          </a:xfrm>
          <a:prstGeom prst="ellipse">
            <a:avLst/>
          </a:prstGeom>
          <a:solidFill>
            <a:srgbClr val="58A6FF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572000" y="4715470"/>
            <a:ext cx="21580" cy="21580"/>
          </a:xfrm>
          <a:prstGeom prst="ellipse">
            <a:avLst/>
          </a:prstGeom>
          <a:solidFill>
            <a:srgbClr val="58A6FF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714500" y="606891"/>
            <a:ext cx="5715000" cy="3572470"/>
          </a:xfrm>
          <a:prstGeom prst="rect">
            <a:avLst/>
          </a:prstGeom>
          <a:gradFill rotWithShape="1">
            <a:gsLst>
              <a:gs pos="0">
                <a:srgbClr val="58A6FF">
                  <a:alpha val="8000"/>
                </a:srgbClr>
              </a:gs>
              <a:gs pos="40000">
                <a:srgbClr val="58A6FF">
                  <a:alpha val="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179255" y="1113979"/>
            <a:ext cx="678549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40" b="1" spc="34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 • DIGITAL MIRROR • TRUSTWORTHY SYSTEMS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3553595" y="1502569"/>
            <a:ext cx="2036661" cy="5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36"/>
              </a:lnSpc>
              <a:spcAft>
                <a:spcPts val="450"/>
              </a:spcAft>
              <a:buNone/>
            </a:pPr>
            <a:r>
              <a:rPr lang="en-US" sz="3830" b="1" spc="-60" kern="0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MFCS</a:t>
            </a:r>
            <a:pPr algn="ctr" indent="0" marL="0">
              <a:lnSpc>
                <a:spcPts val="4136"/>
              </a:lnSpc>
              <a:spcAft>
                <a:spcPts val="450"/>
              </a:spcAft>
              <a:buNone/>
            </a:pPr>
            <a:r>
              <a:rPr lang="en-US" sz="3830" spc="-6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 </a:t>
            </a:r>
            <a:pPr algn="ctr" indent="0" marL="0">
              <a:lnSpc>
                <a:spcPts val="4136"/>
              </a:lnSpc>
              <a:spcAft>
                <a:spcPts val="450"/>
              </a:spcAft>
              <a:buNone/>
            </a:pPr>
            <a:r>
              <a:rPr lang="en-US" sz="3830" spc="-6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—</a:t>
            </a:r>
            <a:endParaRPr lang="en-US" sz="3830" dirty="0"/>
          </a:p>
        </p:txBody>
      </p:sp>
      <p:sp>
        <p:nvSpPr>
          <p:cNvPr id="23" name="Text 20"/>
          <p:cNvSpPr/>
          <p:nvPr/>
        </p:nvSpPr>
        <p:spPr>
          <a:xfrm>
            <a:off x="2768862" y="2084933"/>
            <a:ext cx="3606128" cy="303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87"/>
              </a:lnSpc>
              <a:spcAft>
                <a:spcPts val="1580"/>
              </a:spcAft>
              <a:buNone/>
            </a:pPr>
            <a:r>
              <a:rPr lang="en-US" sz="1910" spc="3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Meridian Formal Control Surface</a:t>
            </a:r>
            <a:endParaRPr lang="en-US" sz="1910" dirty="0"/>
          </a:p>
        </p:txBody>
      </p:sp>
      <p:sp>
        <p:nvSpPr>
          <p:cNvPr id="24" name="Text 21"/>
          <p:cNvSpPr/>
          <p:nvPr/>
        </p:nvSpPr>
        <p:spPr>
          <a:xfrm>
            <a:off x="4286250" y="2588716"/>
            <a:ext cx="5715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996834" y="2810917"/>
            <a:ext cx="5150182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9"/>
              </a:lnSpc>
              <a:spcAft>
                <a:spcPts val="2700"/>
              </a:spcAft>
              <a:buNone/>
            </a:pPr>
            <a:r>
              <a:rPr lang="en-US" sz="11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Formally Verified Architecture for Trustworthy, Reproducible Systems</a:t>
            </a:r>
            <a:endParaRPr lang="en-US" sz="1180" dirty="0"/>
          </a:p>
        </p:txBody>
      </p:sp>
      <p:sp>
        <p:nvSpPr>
          <p:cNvPr id="26" name="Text 23"/>
          <p:cNvSpPr/>
          <p:nvPr/>
        </p:nvSpPr>
        <p:spPr>
          <a:xfrm>
            <a:off x="3776052" y="3385989"/>
            <a:ext cx="159159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spc="2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Saad Younus</a:t>
            </a:r>
            <a:endParaRPr lang="en-US" sz="960" dirty="0"/>
          </a:p>
        </p:txBody>
      </p:sp>
      <p:sp>
        <p:nvSpPr>
          <p:cNvPr id="27" name="Text 24"/>
          <p:cNvSpPr/>
          <p:nvPr/>
        </p:nvSpPr>
        <p:spPr>
          <a:xfrm>
            <a:off x="3751652" y="3639741"/>
            <a:ext cx="164054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spc="3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Systems Architect</a:t>
            </a:r>
            <a:endParaRPr lang="en-US" sz="790" dirty="0"/>
          </a:p>
        </p:txBody>
      </p:sp>
      <p:sp>
        <p:nvSpPr>
          <p:cNvPr id="28" name="Text 25"/>
          <p:cNvSpPr/>
          <p:nvPr/>
        </p:nvSpPr>
        <p:spPr>
          <a:xfrm>
            <a:off x="4243283" y="3890367"/>
            <a:ext cx="65713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5"/>
              </a:lnSpc>
              <a:spcBef>
                <a:spcPts val="230"/>
              </a:spcBef>
              <a:buNone/>
            </a:pPr>
            <a:r>
              <a:rPr lang="en-US" sz="730" spc="8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3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9469" y="4811845"/>
            <a:ext cx="132588" cy="13258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85775" y="4813399"/>
            <a:ext cx="261741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Microsoft Leadership &amp; Copilot Engineering</a:t>
            </a:r>
            <a:endParaRPr lang="en-US" sz="68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alphaModFix amt="2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0635" y="4792414"/>
            <a:ext cx="150465" cy="1504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58A6FF"/>
              </a:gs>
              <a:gs pos="80000">
                <a:srgbClr val="58A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58659" y="443210"/>
            <a:ext cx="70991" cy="70991"/>
          </a:xfrm>
          <a:prstGeom prst="ellipse">
            <a:avLst/>
          </a:prstGeom>
          <a:solidFill>
            <a:srgbClr val="F8514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3875" y="1293316"/>
            <a:ext cx="21580" cy="686991"/>
          </a:xfrm>
          <a:custGeom>
            <a:avLst/>
            <a:gdLst/>
            <a:ahLst/>
            <a:cxnLst/>
            <a:rect l="l" t="t" r="r" b="b"/>
            <a:pathLst>
              <a:path w="21580" h="686991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657741"/>
                </a:lnTo>
                <a:lnTo>
                  <a:pt x="18883" y="654527"/>
                </a:lnTo>
                <a:lnTo>
                  <a:pt x="16185" y="650965"/>
                </a:lnTo>
                <a:lnTo>
                  <a:pt x="13488" y="646973"/>
                </a:lnTo>
                <a:lnTo>
                  <a:pt x="10790" y="642430"/>
                </a:lnTo>
                <a:lnTo>
                  <a:pt x="8093" y="637131"/>
                </a:lnTo>
                <a:lnTo>
                  <a:pt x="5395" y="630676"/>
                </a:lnTo>
                <a:lnTo>
                  <a:pt x="2698" y="622046"/>
                </a:lnTo>
                <a:lnTo>
                  <a:pt x="0" y="600631"/>
                </a:lnTo>
                <a:close/>
              </a:path>
            </a:pathLst>
          </a:custGeom>
          <a:solidFill>
            <a:srgbClr val="F0883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3875" y="2113657"/>
            <a:ext cx="21580" cy="686991"/>
          </a:xfrm>
          <a:custGeom>
            <a:avLst/>
            <a:gdLst/>
            <a:ahLst/>
            <a:cxnLst/>
            <a:rect l="l" t="t" r="r" b="b"/>
            <a:pathLst>
              <a:path w="21580" h="686991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657741"/>
                </a:lnTo>
                <a:lnTo>
                  <a:pt x="18883" y="654527"/>
                </a:lnTo>
                <a:lnTo>
                  <a:pt x="16185" y="650965"/>
                </a:lnTo>
                <a:lnTo>
                  <a:pt x="13488" y="646973"/>
                </a:lnTo>
                <a:lnTo>
                  <a:pt x="10790" y="642430"/>
                </a:lnTo>
                <a:lnTo>
                  <a:pt x="8093" y="637131"/>
                </a:lnTo>
                <a:lnTo>
                  <a:pt x="5395" y="630676"/>
                </a:lnTo>
                <a:lnTo>
                  <a:pt x="2698" y="622046"/>
                </a:lnTo>
                <a:lnTo>
                  <a:pt x="0" y="600631"/>
                </a:lnTo>
                <a:close/>
              </a:path>
            </a:pathLst>
          </a:custGeom>
          <a:solidFill>
            <a:srgbClr val="F8514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3875" y="2933998"/>
            <a:ext cx="21580" cy="686991"/>
          </a:xfrm>
          <a:custGeom>
            <a:avLst/>
            <a:gdLst/>
            <a:ahLst/>
            <a:cxnLst/>
            <a:rect l="l" t="t" r="r" b="b"/>
            <a:pathLst>
              <a:path w="21580" h="686991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657741"/>
                </a:lnTo>
                <a:lnTo>
                  <a:pt x="18883" y="654527"/>
                </a:lnTo>
                <a:lnTo>
                  <a:pt x="16185" y="650965"/>
                </a:lnTo>
                <a:lnTo>
                  <a:pt x="13488" y="646973"/>
                </a:lnTo>
                <a:lnTo>
                  <a:pt x="10790" y="642430"/>
                </a:lnTo>
                <a:lnTo>
                  <a:pt x="8093" y="637131"/>
                </a:lnTo>
                <a:lnTo>
                  <a:pt x="5395" y="630676"/>
                </a:lnTo>
                <a:lnTo>
                  <a:pt x="2698" y="622046"/>
                </a:lnTo>
                <a:lnTo>
                  <a:pt x="0" y="600631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3875" y="3754338"/>
            <a:ext cx="21580" cy="686991"/>
          </a:xfrm>
          <a:custGeom>
            <a:avLst/>
            <a:gdLst/>
            <a:ahLst/>
            <a:cxnLst/>
            <a:rect l="l" t="t" r="r" b="b"/>
            <a:pathLst>
              <a:path w="21580" h="686991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657741"/>
                </a:lnTo>
                <a:lnTo>
                  <a:pt x="18883" y="654527"/>
                </a:lnTo>
                <a:lnTo>
                  <a:pt x="16185" y="650965"/>
                </a:lnTo>
                <a:lnTo>
                  <a:pt x="13488" y="646973"/>
                </a:lnTo>
                <a:lnTo>
                  <a:pt x="10790" y="642430"/>
                </a:lnTo>
                <a:lnTo>
                  <a:pt x="8093" y="637131"/>
                </a:lnTo>
                <a:lnTo>
                  <a:pt x="5395" y="630676"/>
                </a:lnTo>
                <a:lnTo>
                  <a:pt x="2698" y="622046"/>
                </a:lnTo>
                <a:lnTo>
                  <a:pt x="0" y="600631"/>
                </a:lnTo>
                <a:close/>
              </a:path>
            </a:pathLst>
          </a:custGeom>
          <a:solidFill>
            <a:srgbClr val="3FB95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400050"/>
            <a:ext cx="892683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17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PROBLEM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514350" y="596205"/>
            <a:ext cx="8683371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14"/>
              </a:lnSpc>
              <a:spcAft>
                <a:spcPts val="2700"/>
              </a:spcAft>
              <a:buNone/>
            </a:pPr>
            <a:r>
              <a:rPr lang="en-US" sz="2360" b="1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Why Formal Verification Matters Now</a:t>
            </a:r>
            <a:endParaRPr lang="en-US" sz="2360" dirty="0"/>
          </a:p>
        </p:txBody>
      </p:sp>
      <p:sp>
        <p:nvSpPr>
          <p:cNvPr id="12" name="Text 10"/>
          <p:cNvSpPr/>
          <p:nvPr/>
        </p:nvSpPr>
        <p:spPr>
          <a:xfrm>
            <a:off x="514350" y="1283791"/>
            <a:ext cx="8115300" cy="706041"/>
          </a:xfrm>
          <a:prstGeom prst="roundRect">
            <a:avLst>
              <a:gd name="adj" fmla="val 12232"/>
            </a:avLst>
          </a:prstGeom>
          <a:solidFill>
            <a:srgbClr val="1A2332"/>
          </a:solidFill>
          <a:ln w="9525">
            <a:solidFill>
              <a:srgbClr val="58A6FF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4495" y="1450777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F0883E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223" y="1561505"/>
            <a:ext cx="150465" cy="15046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68016" y="1464618"/>
            <a:ext cx="786663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8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SCALE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514350" y="2104132"/>
            <a:ext cx="8115300" cy="706041"/>
          </a:xfrm>
          <a:prstGeom prst="roundRect">
            <a:avLst>
              <a:gd name="adj" fmla="val 12232"/>
            </a:avLst>
          </a:prstGeom>
          <a:solidFill>
            <a:srgbClr val="1A2332"/>
          </a:solidFill>
          <a:ln w="9525">
            <a:solidFill>
              <a:srgbClr val="58A6FF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24495" y="2271117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F85149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223" y="2381845"/>
            <a:ext cx="150465" cy="15046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68016" y="2284958"/>
            <a:ext cx="786663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80" kern="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CEILING</a:t>
            </a:r>
            <a:endParaRPr lang="en-US" sz="680" dirty="0"/>
          </a:p>
        </p:txBody>
      </p:sp>
      <p:sp>
        <p:nvSpPr>
          <p:cNvPr id="20" name="Text 16"/>
          <p:cNvSpPr/>
          <p:nvPr/>
        </p:nvSpPr>
        <p:spPr>
          <a:xfrm>
            <a:off x="514350" y="2924473"/>
            <a:ext cx="8115300" cy="706041"/>
          </a:xfrm>
          <a:prstGeom prst="roundRect">
            <a:avLst>
              <a:gd name="adj" fmla="val 12232"/>
            </a:avLst>
          </a:prstGeom>
          <a:solidFill>
            <a:srgbClr val="1A2332"/>
          </a:solidFill>
          <a:ln w="9525">
            <a:solidFill>
              <a:srgbClr val="58A6FF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24495" y="3091458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58A6FF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223" y="3202186"/>
            <a:ext cx="150465" cy="15046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68016" y="3105299"/>
            <a:ext cx="786663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8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DEPENDENCIES</a:t>
            </a:r>
            <a:endParaRPr lang="en-US" sz="680" dirty="0"/>
          </a:p>
        </p:txBody>
      </p:sp>
      <p:sp>
        <p:nvSpPr>
          <p:cNvPr id="24" name="Text 19"/>
          <p:cNvSpPr/>
          <p:nvPr/>
        </p:nvSpPr>
        <p:spPr>
          <a:xfrm>
            <a:off x="514350" y="3744813"/>
            <a:ext cx="8115300" cy="706041"/>
          </a:xfrm>
          <a:prstGeom prst="roundRect">
            <a:avLst>
              <a:gd name="adj" fmla="val 12232"/>
            </a:avLst>
          </a:prstGeom>
          <a:solidFill>
            <a:srgbClr val="1A2332"/>
          </a:solidFill>
          <a:ln w="9525">
            <a:solidFill>
              <a:srgbClr val="58A6FF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724495" y="3911798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3FB950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5223" y="4022527"/>
            <a:ext cx="150465" cy="15046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68016" y="3925639"/>
            <a:ext cx="786663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8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INCLUSIVENESS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2099"/>
            <a:ext cx="29170" cy="257770"/>
          </a:xfrm>
          <a:prstGeom prst="roundRect">
            <a:avLst>
              <a:gd name="adj" fmla="val 47892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2691" y="342900"/>
            <a:ext cx="5429336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35"/>
              </a:lnSpc>
              <a:buNone/>
            </a:pPr>
            <a:r>
              <a:rPr lang="en-US" sz="2030" b="1" spc="-2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Meridian Formal Control Surface — Overview</a:t>
            </a:r>
            <a:endParaRPr lang="en-US" sz="2030" dirty="0"/>
          </a:p>
        </p:txBody>
      </p:sp>
      <p:sp>
        <p:nvSpPr>
          <p:cNvPr id="4" name="Text 2"/>
          <p:cNvSpPr/>
          <p:nvPr/>
        </p:nvSpPr>
        <p:spPr>
          <a:xfrm>
            <a:off x="457200" y="682377"/>
            <a:ext cx="9052560" cy="171450"/>
          </a:xfrm>
          <a:prstGeom prst="rect">
            <a:avLst/>
          </a:prstGeom>
          <a:noFill/>
          <a:ln/>
        </p:spPr>
        <p:txBody>
          <a:bodyPr wrap="none" lIns="11430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23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pillars that define how MFCS achieves trustworthy, reproducible, and verifiable systems.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82427"/>
            <a:ext cx="2647504" cy="1501080"/>
          </a:xfrm>
          <a:prstGeom prst="roundRect">
            <a:avLst>
              <a:gd name="adj" fmla="val 5753"/>
            </a:avLst>
          </a:prstGeom>
          <a:solidFill>
            <a:srgbClr val="1A2332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55565" y="1206252"/>
            <a:ext cx="12261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58A6FF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638175" y="1292572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58A6FF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9341" y="1383738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8175" y="1707803"/>
            <a:ext cx="251410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340"/>
              </a:spcAft>
              <a:buNone/>
            </a:pPr>
            <a:r>
              <a:rPr lang="en-US" sz="960" b="1" spc="1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Formal Verification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638175" y="1933724"/>
            <a:ext cx="2331265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TLA+, TLAPS, and TLC provide mechanized proofs — every claim is mathematically verified, not merely tested.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3248174" y="1082427"/>
            <a:ext cx="2647504" cy="1501080"/>
          </a:xfrm>
          <a:prstGeom prst="roundRect">
            <a:avLst>
              <a:gd name="adj" fmla="val 5753"/>
            </a:avLst>
          </a:prstGeom>
          <a:solidFill>
            <a:srgbClr val="1A2332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646539" y="1206252"/>
            <a:ext cx="12261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58A6FF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30" dirty="0"/>
          </a:p>
        </p:txBody>
      </p:sp>
      <p:sp>
        <p:nvSpPr>
          <p:cNvPr id="13" name="Text 10"/>
          <p:cNvSpPr/>
          <p:nvPr/>
        </p:nvSpPr>
        <p:spPr>
          <a:xfrm>
            <a:off x="3429149" y="1292572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58A6FF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0315" y="1383738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149" y="1707803"/>
            <a:ext cx="251410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340"/>
              </a:spcAft>
              <a:buNone/>
            </a:pPr>
            <a:r>
              <a:rPr lang="en-US" sz="960" b="1" spc="1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Digital Mirror</a:t>
            </a:r>
            <a:endParaRPr lang="en-US" sz="960" dirty="0"/>
          </a:p>
        </p:txBody>
      </p:sp>
      <p:sp>
        <p:nvSpPr>
          <p:cNvPr id="16" name="Text 12"/>
          <p:cNvSpPr/>
          <p:nvPr/>
        </p:nvSpPr>
        <p:spPr>
          <a:xfrm>
            <a:off x="3429149" y="1933724"/>
            <a:ext cx="2331265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Self-contained, breathing artifacts with zero external dependencies — every asset lives within the artifact itself.</a:t>
            </a:r>
            <a:endParaRPr lang="en-US" sz="820" dirty="0"/>
          </a:p>
        </p:txBody>
      </p:sp>
      <p:sp>
        <p:nvSpPr>
          <p:cNvPr id="17" name="Text 13"/>
          <p:cNvSpPr/>
          <p:nvPr/>
        </p:nvSpPr>
        <p:spPr>
          <a:xfrm>
            <a:off x="6039148" y="1082427"/>
            <a:ext cx="2647652" cy="1501080"/>
          </a:xfrm>
          <a:prstGeom prst="roundRect">
            <a:avLst>
              <a:gd name="adj" fmla="val 5753"/>
            </a:avLst>
          </a:prstGeom>
          <a:solidFill>
            <a:srgbClr val="1A2332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8437662" y="1206252"/>
            <a:ext cx="12261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58A6FF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30" dirty="0"/>
          </a:p>
        </p:txBody>
      </p:sp>
      <p:sp>
        <p:nvSpPr>
          <p:cNvPr id="19" name="Text 15"/>
          <p:cNvSpPr/>
          <p:nvPr/>
        </p:nvSpPr>
        <p:spPr>
          <a:xfrm>
            <a:off x="6220123" y="1292572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58A6FF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1289" y="1383738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20123" y="1707803"/>
            <a:ext cx="251427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340"/>
              </a:spcAft>
              <a:buNone/>
            </a:pPr>
            <a:r>
              <a:rPr lang="en-US" sz="960" b="1" spc="1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Canonical Naming</a:t>
            </a:r>
            <a:endParaRPr lang="en-US" sz="960" dirty="0"/>
          </a:p>
        </p:txBody>
      </p:sp>
      <p:sp>
        <p:nvSpPr>
          <p:cNvPr id="22" name="Text 17"/>
          <p:cNvSpPr/>
          <p:nvPr/>
        </p:nvSpPr>
        <p:spPr>
          <a:xfrm>
            <a:off x="6220123" y="1933724"/>
            <a:ext cx="2331416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discipline across every component — names are deterministic, unambiguous, and machine-verifiable.</a:t>
            </a:r>
            <a:endParaRPr lang="en-US" sz="820" dirty="0"/>
          </a:p>
        </p:txBody>
      </p:sp>
      <p:sp>
        <p:nvSpPr>
          <p:cNvPr id="23" name="Text 18"/>
          <p:cNvSpPr/>
          <p:nvPr/>
        </p:nvSpPr>
        <p:spPr>
          <a:xfrm>
            <a:off x="457200" y="2726978"/>
            <a:ext cx="2647504" cy="1501080"/>
          </a:xfrm>
          <a:prstGeom prst="roundRect">
            <a:avLst>
              <a:gd name="adj" fmla="val 5753"/>
            </a:avLst>
          </a:prstGeom>
          <a:solidFill>
            <a:srgbClr val="1A2332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2855565" y="2850803"/>
            <a:ext cx="12261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58A6FF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30" dirty="0"/>
          </a:p>
        </p:txBody>
      </p:sp>
      <p:sp>
        <p:nvSpPr>
          <p:cNvPr id="25" name="Text 20"/>
          <p:cNvSpPr/>
          <p:nvPr/>
        </p:nvSpPr>
        <p:spPr>
          <a:xfrm>
            <a:off x="638175" y="293712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58A6FF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9341" y="3028289"/>
            <a:ext cx="132588" cy="1325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38175" y="3352354"/>
            <a:ext cx="251410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340"/>
              </a:spcAft>
              <a:buNone/>
            </a:pPr>
            <a:r>
              <a:rPr lang="en-US" sz="960" b="1" spc="1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Symbolic Guardians</a:t>
            </a:r>
            <a:endParaRPr lang="en-US" sz="960" dirty="0"/>
          </a:p>
        </p:txBody>
      </p:sp>
      <p:sp>
        <p:nvSpPr>
          <p:cNvPr id="28" name="Text 22"/>
          <p:cNvSpPr/>
          <p:nvPr/>
        </p:nvSpPr>
        <p:spPr>
          <a:xfrm>
            <a:off x="638175" y="3578275"/>
            <a:ext cx="2331265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metaphors that serve as structural validators — ceremony and rigor woven into the system's identity.</a:t>
            </a:r>
            <a:endParaRPr lang="en-US" sz="820" dirty="0"/>
          </a:p>
        </p:txBody>
      </p:sp>
      <p:sp>
        <p:nvSpPr>
          <p:cNvPr id="29" name="Text 23"/>
          <p:cNvSpPr/>
          <p:nvPr/>
        </p:nvSpPr>
        <p:spPr>
          <a:xfrm>
            <a:off x="3248174" y="2726978"/>
            <a:ext cx="2647504" cy="1501080"/>
          </a:xfrm>
          <a:prstGeom prst="roundRect">
            <a:avLst>
              <a:gd name="adj" fmla="val 5753"/>
            </a:avLst>
          </a:prstGeom>
          <a:solidFill>
            <a:srgbClr val="1A2332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5646539" y="2850803"/>
            <a:ext cx="12261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58A6FF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730" dirty="0"/>
          </a:p>
        </p:txBody>
      </p:sp>
      <p:sp>
        <p:nvSpPr>
          <p:cNvPr id="31" name="Text 25"/>
          <p:cNvSpPr/>
          <p:nvPr/>
        </p:nvSpPr>
        <p:spPr>
          <a:xfrm>
            <a:off x="3429149" y="293712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58A6FF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20315" y="3028289"/>
            <a:ext cx="132588" cy="1325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429149" y="3352354"/>
            <a:ext cx="251410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340"/>
              </a:spcAft>
              <a:buNone/>
            </a:pPr>
            <a:r>
              <a:rPr lang="en-US" sz="960" b="1" spc="1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Accessibility-First</a:t>
            </a:r>
            <a:endParaRPr lang="en-US" sz="960" dirty="0"/>
          </a:p>
        </p:txBody>
      </p:sp>
      <p:sp>
        <p:nvSpPr>
          <p:cNvPr id="34" name="Text 27"/>
          <p:cNvSpPr/>
          <p:nvPr/>
        </p:nvSpPr>
        <p:spPr>
          <a:xfrm>
            <a:off x="3429149" y="3578275"/>
            <a:ext cx="2331265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text, captions, and embedded fonts in every artifact — accessibility is structural, never an afterthought.</a:t>
            </a:r>
            <a:endParaRPr lang="en-US" sz="820" dirty="0"/>
          </a:p>
        </p:txBody>
      </p:sp>
      <p:sp>
        <p:nvSpPr>
          <p:cNvPr id="35" name="Text 28"/>
          <p:cNvSpPr/>
          <p:nvPr/>
        </p:nvSpPr>
        <p:spPr>
          <a:xfrm>
            <a:off x="6039148" y="2726978"/>
            <a:ext cx="2647652" cy="1501080"/>
          </a:xfrm>
          <a:prstGeom prst="roundRect">
            <a:avLst>
              <a:gd name="adj" fmla="val 5753"/>
            </a:avLst>
          </a:prstGeom>
          <a:solidFill>
            <a:srgbClr val="1A2332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8437662" y="2850803"/>
            <a:ext cx="12261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58A6FF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730" dirty="0"/>
          </a:p>
        </p:txBody>
      </p:sp>
      <p:sp>
        <p:nvSpPr>
          <p:cNvPr id="37" name="Text 30"/>
          <p:cNvSpPr/>
          <p:nvPr/>
        </p:nvSpPr>
        <p:spPr>
          <a:xfrm>
            <a:off x="6220123" y="293712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58A6FF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11289" y="3028289"/>
            <a:ext cx="132588" cy="1325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220123" y="3352354"/>
            <a:ext cx="251427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340"/>
              </a:spcAft>
              <a:buNone/>
            </a:pPr>
            <a:r>
              <a:rPr lang="en-US" sz="960" b="1" spc="1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SHA-256 Manifests</a:t>
            </a:r>
            <a:endParaRPr lang="en-US" sz="960" dirty="0"/>
          </a:p>
        </p:txBody>
      </p:sp>
      <p:sp>
        <p:nvSpPr>
          <p:cNvPr id="40" name="Text 32"/>
          <p:cNvSpPr/>
          <p:nvPr/>
        </p:nvSpPr>
        <p:spPr>
          <a:xfrm>
            <a:off x="6220123" y="3578275"/>
            <a:ext cx="2331416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Byte-level reproducibility and cryptographic integrity — every artifact carries a verifiable hash manifest.</a:t>
            </a:r>
            <a:endParaRPr lang="en-US" sz="820" dirty="0"/>
          </a:p>
        </p:txBody>
      </p:sp>
      <p:sp>
        <p:nvSpPr>
          <p:cNvPr id="41" name="Text 33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8A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466725" y="1091952"/>
            <a:ext cx="2628452" cy="21580"/>
          </a:xfrm>
          <a:custGeom>
            <a:avLst/>
            <a:gdLst/>
            <a:ahLst/>
            <a:cxnLst/>
            <a:rect l="l" t="t" r="r" b="b"/>
            <a:pathLst>
              <a:path w="2628452" h="21580">
                <a:moveTo>
                  <a:pt x="86360" y="0"/>
                </a:moveTo>
                <a:lnTo>
                  <a:pt x="2542092" y="0"/>
                </a:lnTo>
                <a:lnTo>
                  <a:pt x="2563508" y="2698"/>
                </a:lnTo>
                <a:lnTo>
                  <a:pt x="2572138" y="5395"/>
                </a:lnTo>
                <a:lnTo>
                  <a:pt x="2578592" y="8093"/>
                </a:lnTo>
                <a:lnTo>
                  <a:pt x="2583892" y="10790"/>
                </a:lnTo>
                <a:lnTo>
                  <a:pt x="2588435" y="13488"/>
                </a:lnTo>
                <a:lnTo>
                  <a:pt x="2592426" y="16185"/>
                </a:lnTo>
                <a:lnTo>
                  <a:pt x="2595989" y="18883"/>
                </a:lnTo>
                <a:lnTo>
                  <a:pt x="259920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3257699" y="1091952"/>
            <a:ext cx="2628452" cy="21580"/>
          </a:xfrm>
          <a:custGeom>
            <a:avLst/>
            <a:gdLst/>
            <a:ahLst/>
            <a:cxnLst/>
            <a:rect l="l" t="t" r="r" b="b"/>
            <a:pathLst>
              <a:path w="2628452" h="21580">
                <a:moveTo>
                  <a:pt x="86360" y="0"/>
                </a:moveTo>
                <a:lnTo>
                  <a:pt x="2542092" y="0"/>
                </a:lnTo>
                <a:lnTo>
                  <a:pt x="2563508" y="2698"/>
                </a:lnTo>
                <a:lnTo>
                  <a:pt x="2572138" y="5395"/>
                </a:lnTo>
                <a:lnTo>
                  <a:pt x="2578592" y="8093"/>
                </a:lnTo>
                <a:lnTo>
                  <a:pt x="2583892" y="10790"/>
                </a:lnTo>
                <a:lnTo>
                  <a:pt x="2588435" y="13488"/>
                </a:lnTo>
                <a:lnTo>
                  <a:pt x="2592426" y="16185"/>
                </a:lnTo>
                <a:lnTo>
                  <a:pt x="2595989" y="18883"/>
                </a:lnTo>
                <a:lnTo>
                  <a:pt x="259920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6048673" y="1091952"/>
            <a:ext cx="2628605" cy="21580"/>
          </a:xfrm>
          <a:custGeom>
            <a:avLst/>
            <a:gdLst/>
            <a:ahLst/>
            <a:cxnLst/>
            <a:rect l="l" t="t" r="r" b="b"/>
            <a:pathLst>
              <a:path w="2628605" h="21580">
                <a:moveTo>
                  <a:pt x="86360" y="0"/>
                </a:moveTo>
                <a:lnTo>
                  <a:pt x="2542245" y="0"/>
                </a:lnTo>
                <a:lnTo>
                  <a:pt x="2563660" y="2698"/>
                </a:lnTo>
                <a:lnTo>
                  <a:pt x="2572290" y="5395"/>
                </a:lnTo>
                <a:lnTo>
                  <a:pt x="2578745" y="8093"/>
                </a:lnTo>
                <a:lnTo>
                  <a:pt x="2584045" y="10790"/>
                </a:lnTo>
                <a:lnTo>
                  <a:pt x="2588587" y="13488"/>
                </a:lnTo>
                <a:lnTo>
                  <a:pt x="2592579" y="16185"/>
                </a:lnTo>
                <a:lnTo>
                  <a:pt x="2596141" y="18883"/>
                </a:lnTo>
                <a:lnTo>
                  <a:pt x="259935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7"/>
          <p:cNvSpPr/>
          <p:nvPr/>
        </p:nvSpPr>
        <p:spPr>
          <a:xfrm>
            <a:off x="466725" y="2736503"/>
            <a:ext cx="2628452" cy="21580"/>
          </a:xfrm>
          <a:custGeom>
            <a:avLst/>
            <a:gdLst/>
            <a:ahLst/>
            <a:cxnLst/>
            <a:rect l="l" t="t" r="r" b="b"/>
            <a:pathLst>
              <a:path w="2628452" h="21580">
                <a:moveTo>
                  <a:pt x="86360" y="0"/>
                </a:moveTo>
                <a:lnTo>
                  <a:pt x="2542092" y="0"/>
                </a:lnTo>
                <a:lnTo>
                  <a:pt x="2563508" y="2698"/>
                </a:lnTo>
                <a:lnTo>
                  <a:pt x="2572138" y="5395"/>
                </a:lnTo>
                <a:lnTo>
                  <a:pt x="2578592" y="8093"/>
                </a:lnTo>
                <a:lnTo>
                  <a:pt x="2583892" y="10790"/>
                </a:lnTo>
                <a:lnTo>
                  <a:pt x="2588435" y="13488"/>
                </a:lnTo>
                <a:lnTo>
                  <a:pt x="2592426" y="16185"/>
                </a:lnTo>
                <a:lnTo>
                  <a:pt x="2595989" y="18883"/>
                </a:lnTo>
                <a:lnTo>
                  <a:pt x="259920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3257699" y="2736503"/>
            <a:ext cx="2628452" cy="21580"/>
          </a:xfrm>
          <a:custGeom>
            <a:avLst/>
            <a:gdLst/>
            <a:ahLst/>
            <a:cxnLst/>
            <a:rect l="l" t="t" r="r" b="b"/>
            <a:pathLst>
              <a:path w="2628452" h="21580">
                <a:moveTo>
                  <a:pt x="86360" y="0"/>
                </a:moveTo>
                <a:lnTo>
                  <a:pt x="2542092" y="0"/>
                </a:lnTo>
                <a:lnTo>
                  <a:pt x="2563508" y="2698"/>
                </a:lnTo>
                <a:lnTo>
                  <a:pt x="2572138" y="5395"/>
                </a:lnTo>
                <a:lnTo>
                  <a:pt x="2578592" y="8093"/>
                </a:lnTo>
                <a:lnTo>
                  <a:pt x="2583892" y="10790"/>
                </a:lnTo>
                <a:lnTo>
                  <a:pt x="2588435" y="13488"/>
                </a:lnTo>
                <a:lnTo>
                  <a:pt x="2592426" y="16185"/>
                </a:lnTo>
                <a:lnTo>
                  <a:pt x="2595989" y="18883"/>
                </a:lnTo>
                <a:lnTo>
                  <a:pt x="259920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6048673" y="2736503"/>
            <a:ext cx="2628605" cy="21580"/>
          </a:xfrm>
          <a:custGeom>
            <a:avLst/>
            <a:gdLst/>
            <a:ahLst/>
            <a:cxnLst/>
            <a:rect l="l" t="t" r="r" b="b"/>
            <a:pathLst>
              <a:path w="2628605" h="21580">
                <a:moveTo>
                  <a:pt x="86360" y="0"/>
                </a:moveTo>
                <a:lnTo>
                  <a:pt x="2542245" y="0"/>
                </a:lnTo>
                <a:lnTo>
                  <a:pt x="2563660" y="2698"/>
                </a:lnTo>
                <a:lnTo>
                  <a:pt x="2572290" y="5395"/>
                </a:lnTo>
                <a:lnTo>
                  <a:pt x="2578745" y="8093"/>
                </a:lnTo>
                <a:lnTo>
                  <a:pt x="2584045" y="10790"/>
                </a:lnTo>
                <a:lnTo>
                  <a:pt x="2588587" y="13488"/>
                </a:lnTo>
                <a:lnTo>
                  <a:pt x="2592579" y="16185"/>
                </a:lnTo>
                <a:lnTo>
                  <a:pt x="2596141" y="18883"/>
                </a:lnTo>
                <a:lnTo>
                  <a:pt x="259935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1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1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314920"/>
            <a:ext cx="4603008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spc="-3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Meridian Watch Control Surface </a:t>
            </a:r>
            <a:pPr algn="l" indent="0" marL="0">
              <a:lnSpc>
                <a:spcPts val="1980"/>
              </a:lnSpc>
              <a:buNone/>
            </a:pPr>
            <a:r>
              <a:rPr lang="en-US" sz="1800" b="1" spc="-30" kern="0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 — 7 Actions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00050" y="766911"/>
            <a:ext cx="3886200" cy="494407"/>
          </a:xfrm>
          <a:prstGeom prst="roundRect">
            <a:avLst>
              <a:gd name="adj" fmla="val 14385"/>
            </a:avLst>
          </a:prstGeom>
          <a:solidFill>
            <a:srgbClr val="151D28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3875" y="876746"/>
            <a:ext cx="228600" cy="251460"/>
          </a:xfrm>
          <a:prstGeom prst="ellipse">
            <a:avLst/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49E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1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852785" y="876746"/>
            <a:ext cx="995363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Telemetry Snapshot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852785" y="1026319"/>
            <a:ext cx="995363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system state</a:t>
            </a:r>
            <a:endParaRPr lang="en-US" sz="73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42330" y="864254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00050" y="1347639"/>
            <a:ext cx="3886200" cy="494407"/>
          </a:xfrm>
          <a:prstGeom prst="roundRect">
            <a:avLst>
              <a:gd name="adj" fmla="val 14385"/>
            </a:avLst>
          </a:prstGeom>
          <a:gradFill rotWithShape="1">
            <a:gsLst>
              <a:gs pos="0">
                <a:srgbClr val="58A6FF">
                  <a:alpha val="8000"/>
                </a:srgbClr>
              </a:gs>
              <a:gs pos="100000">
                <a:srgbClr val="58A6FF">
                  <a:alpha val="3000"/>
                </a:srgbClr>
              </a:gs>
            </a:gsLst>
            <a:lin ang="2700000" scaled="1"/>
          </a:gradFill>
          <a:ln w="9525">
            <a:solidFill>
              <a:srgbClr val="58A6FF">
                <a:alpha val="6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711029" y="1349573"/>
            <a:ext cx="584752" cy="149870"/>
          </a:xfrm>
          <a:prstGeom prst="rect">
            <a:avLst/>
          </a:prstGeom>
          <a:solidFill>
            <a:srgbClr val="58A6FF"/>
          </a:solidFill>
          <a:ln/>
        </p:spPr>
        <p:txBody>
          <a:bodyPr wrap="none" lIns="71120" tIns="21590" rIns="71120" bIns="21590" rtlCol="0" anchor="t"/>
          <a:lstStyle/>
          <a:p>
            <a:pPr algn="l" indent="0" marL="0">
              <a:buNone/>
            </a:pPr>
            <a:r>
              <a:rPr lang="en-US" sz="560" b="1" spc="30" kern="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560" dirty="0"/>
          </a:p>
        </p:txBody>
      </p:sp>
      <p:sp>
        <p:nvSpPr>
          <p:cNvPr id="12" name="Text 9"/>
          <p:cNvSpPr/>
          <p:nvPr/>
        </p:nvSpPr>
        <p:spPr>
          <a:xfrm>
            <a:off x="523875" y="1457474"/>
            <a:ext cx="228600" cy="251460"/>
          </a:xfrm>
          <a:prstGeom prst="ellipse">
            <a:avLst/>
          </a:prstGeom>
          <a:solidFill>
            <a:srgbClr val="58A6FF"/>
          </a:solidFill>
          <a:ln/>
          <a:effectLst>
            <a:outerShdw sx="100000" sy="100000" kx="0" ky="0" algn="bl" rotWithShape="0" blurRad="86360" dist="50800" dir="16200000">
              <a:srgbClr val="58a6ff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419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2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852785" y="1457474"/>
            <a:ext cx="2046059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Run Verification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852785" y="1607046"/>
            <a:ext cx="2046059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formal proofs via TLA+, TLAPS, TLC</a:t>
            </a:r>
            <a:endParaRPr lang="en-US" sz="73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42330" y="1444981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0050" y="1928366"/>
            <a:ext cx="3886200" cy="494407"/>
          </a:xfrm>
          <a:prstGeom prst="roundRect">
            <a:avLst>
              <a:gd name="adj" fmla="val 14385"/>
            </a:avLst>
          </a:prstGeom>
          <a:gradFill rotWithShape="1">
            <a:gsLst>
              <a:gs pos="0">
                <a:srgbClr val="58A6FF">
                  <a:alpha val="8000"/>
                </a:srgbClr>
              </a:gs>
              <a:gs pos="100000">
                <a:srgbClr val="58A6FF">
                  <a:alpha val="3000"/>
                </a:srgbClr>
              </a:gs>
            </a:gsLst>
            <a:lin ang="2700000" scaled="1"/>
          </a:gradFill>
          <a:ln w="9525">
            <a:solidFill>
              <a:srgbClr val="58A6FF">
                <a:alpha val="6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711029" y="1930301"/>
            <a:ext cx="584752" cy="149870"/>
          </a:xfrm>
          <a:prstGeom prst="rect">
            <a:avLst/>
          </a:prstGeom>
          <a:solidFill>
            <a:srgbClr val="58A6FF"/>
          </a:solidFill>
          <a:ln/>
        </p:spPr>
        <p:txBody>
          <a:bodyPr wrap="none" lIns="71120" tIns="21590" rIns="71120" bIns="21590" rtlCol="0" anchor="t"/>
          <a:lstStyle/>
          <a:p>
            <a:pPr algn="l" indent="0" marL="0">
              <a:buNone/>
            </a:pPr>
            <a:r>
              <a:rPr lang="en-US" sz="560" b="1" spc="30" kern="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560" dirty="0"/>
          </a:p>
        </p:txBody>
      </p:sp>
      <p:sp>
        <p:nvSpPr>
          <p:cNvPr id="18" name="Text 14"/>
          <p:cNvSpPr/>
          <p:nvPr/>
        </p:nvSpPr>
        <p:spPr>
          <a:xfrm>
            <a:off x="523875" y="2038201"/>
            <a:ext cx="228600" cy="251460"/>
          </a:xfrm>
          <a:prstGeom prst="ellipse">
            <a:avLst/>
          </a:prstGeom>
          <a:solidFill>
            <a:srgbClr val="58A6FF"/>
          </a:solidFill>
          <a:ln/>
          <a:effectLst>
            <a:outerShdw sx="100000" sy="100000" kx="0" ky="0" algn="bl" rotWithShape="0" blurRad="86360" dist="50800" dir="16200000">
              <a:srgbClr val="58a6ff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419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3</a:t>
            </a:r>
            <a:endParaRPr lang="en-US" sz="840" dirty="0"/>
          </a:p>
        </p:txBody>
      </p:sp>
      <p:sp>
        <p:nvSpPr>
          <p:cNvPr id="19" name="Text 15"/>
          <p:cNvSpPr/>
          <p:nvPr/>
        </p:nvSpPr>
        <p:spPr>
          <a:xfrm>
            <a:off x="852785" y="2038201"/>
            <a:ext cx="2462376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Package Digital Mirror</a:t>
            </a:r>
            <a:endParaRPr lang="en-US" sz="840" dirty="0"/>
          </a:p>
        </p:txBody>
      </p:sp>
      <p:sp>
        <p:nvSpPr>
          <p:cNvPr id="20" name="Text 16"/>
          <p:cNvSpPr/>
          <p:nvPr/>
        </p:nvSpPr>
        <p:spPr>
          <a:xfrm>
            <a:off x="852785" y="2187773"/>
            <a:ext cx="2462376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self-contained artifacts with zero dependencies</a:t>
            </a:r>
            <a:endParaRPr lang="en-US" sz="73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42330" y="2025709"/>
            <a:ext cx="132588" cy="132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00050" y="2509093"/>
            <a:ext cx="3886200" cy="494407"/>
          </a:xfrm>
          <a:prstGeom prst="roundRect">
            <a:avLst>
              <a:gd name="adj" fmla="val 14385"/>
            </a:avLst>
          </a:prstGeom>
          <a:gradFill rotWithShape="1">
            <a:gsLst>
              <a:gs pos="0">
                <a:srgbClr val="58A6FF">
                  <a:alpha val="8000"/>
                </a:srgbClr>
              </a:gs>
              <a:gs pos="100000">
                <a:srgbClr val="58A6FF">
                  <a:alpha val="3000"/>
                </a:srgbClr>
              </a:gs>
            </a:gsLst>
            <a:lin ang="2700000" scaled="1"/>
          </a:gradFill>
          <a:ln w="9525">
            <a:solidFill>
              <a:srgbClr val="58A6FF">
                <a:alpha val="6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3711029" y="2511028"/>
            <a:ext cx="584752" cy="149870"/>
          </a:xfrm>
          <a:prstGeom prst="rect">
            <a:avLst/>
          </a:prstGeom>
          <a:solidFill>
            <a:srgbClr val="58A6FF"/>
          </a:solidFill>
          <a:ln/>
        </p:spPr>
        <p:txBody>
          <a:bodyPr wrap="none" lIns="71120" tIns="21590" rIns="71120" bIns="21590" rtlCol="0" anchor="t"/>
          <a:lstStyle/>
          <a:p>
            <a:pPr algn="l" indent="0" marL="0">
              <a:buNone/>
            </a:pPr>
            <a:r>
              <a:rPr lang="en-US" sz="560" b="1" spc="30" kern="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3</a:t>
            </a:r>
            <a:endParaRPr lang="en-US" sz="560" dirty="0"/>
          </a:p>
        </p:txBody>
      </p:sp>
      <p:sp>
        <p:nvSpPr>
          <p:cNvPr id="24" name="Text 19"/>
          <p:cNvSpPr/>
          <p:nvPr/>
        </p:nvSpPr>
        <p:spPr>
          <a:xfrm>
            <a:off x="523875" y="2618929"/>
            <a:ext cx="228600" cy="251460"/>
          </a:xfrm>
          <a:prstGeom prst="ellipse">
            <a:avLst/>
          </a:prstGeom>
          <a:solidFill>
            <a:srgbClr val="58A6FF"/>
          </a:solidFill>
          <a:ln/>
          <a:effectLst>
            <a:outerShdw sx="100000" sy="100000" kx="0" ky="0" algn="bl" rotWithShape="0" blurRad="86360" dist="50800" dir="16200000">
              <a:srgbClr val="58a6ff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419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4</a:t>
            </a:r>
            <a:endParaRPr lang="en-US" sz="840" dirty="0"/>
          </a:p>
        </p:txBody>
      </p:sp>
      <p:sp>
        <p:nvSpPr>
          <p:cNvPr id="25" name="Text 20"/>
          <p:cNvSpPr/>
          <p:nvPr/>
        </p:nvSpPr>
        <p:spPr>
          <a:xfrm>
            <a:off x="852785" y="2618929"/>
            <a:ext cx="196993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Export Visuals</a:t>
            </a:r>
            <a:endParaRPr lang="en-US" sz="840" dirty="0"/>
          </a:p>
        </p:txBody>
      </p:sp>
      <p:sp>
        <p:nvSpPr>
          <p:cNvPr id="26" name="Text 21"/>
          <p:cNvSpPr/>
          <p:nvPr/>
        </p:nvSpPr>
        <p:spPr>
          <a:xfrm>
            <a:off x="852785" y="2768501"/>
            <a:ext cx="1969934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dependency-free vector diagrams</a:t>
            </a:r>
            <a:endParaRPr lang="en-US" sz="73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42330" y="2606436"/>
            <a:ext cx="132588" cy="132588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19600" y="766911"/>
            <a:ext cx="304800" cy="366385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857750" y="766911"/>
            <a:ext cx="3886200" cy="494407"/>
          </a:xfrm>
          <a:prstGeom prst="roundRect">
            <a:avLst>
              <a:gd name="adj" fmla="val 14385"/>
            </a:avLst>
          </a:prstGeom>
          <a:solidFill>
            <a:srgbClr val="151D28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4981575" y="876746"/>
            <a:ext cx="228600" cy="251460"/>
          </a:xfrm>
          <a:prstGeom prst="ellipse">
            <a:avLst/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49E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5</a:t>
            </a:r>
            <a:endParaRPr lang="en-US" sz="840" dirty="0"/>
          </a:p>
        </p:txBody>
      </p:sp>
      <p:sp>
        <p:nvSpPr>
          <p:cNvPr id="31" name="Text 24"/>
          <p:cNvSpPr/>
          <p:nvPr/>
        </p:nvSpPr>
        <p:spPr>
          <a:xfrm>
            <a:off x="5310485" y="876746"/>
            <a:ext cx="3130481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CI Setup</a:t>
            </a:r>
            <a:endParaRPr lang="en-US" sz="840" dirty="0"/>
          </a:p>
        </p:txBody>
      </p:sp>
      <p:sp>
        <p:nvSpPr>
          <p:cNvPr id="32" name="Text 25"/>
          <p:cNvSpPr/>
          <p:nvPr/>
        </p:nvSpPr>
        <p:spPr>
          <a:xfrm>
            <a:off x="5310485" y="1026319"/>
            <a:ext cx="3130481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configuration for automated pipeline execution</a:t>
            </a:r>
            <a:endParaRPr lang="en-US" sz="73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alphaModFix amt="50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00030" y="864254"/>
            <a:ext cx="132588" cy="1325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857750" y="1347639"/>
            <a:ext cx="3886200" cy="494407"/>
          </a:xfrm>
          <a:prstGeom prst="roundRect">
            <a:avLst>
              <a:gd name="adj" fmla="val 14385"/>
            </a:avLst>
          </a:prstGeom>
          <a:solidFill>
            <a:srgbClr val="151D28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4981575" y="1457474"/>
            <a:ext cx="228600" cy="251460"/>
          </a:xfrm>
          <a:prstGeom prst="ellipse">
            <a:avLst/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49E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6</a:t>
            </a:r>
            <a:endParaRPr lang="en-US" sz="840" dirty="0"/>
          </a:p>
        </p:txBody>
      </p:sp>
      <p:sp>
        <p:nvSpPr>
          <p:cNvPr id="36" name="Text 28"/>
          <p:cNvSpPr/>
          <p:nvPr/>
        </p:nvSpPr>
        <p:spPr>
          <a:xfrm>
            <a:off x="5310485" y="1457474"/>
            <a:ext cx="2564041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Aris Inheritance Packet</a:t>
            </a:r>
            <a:endParaRPr lang="en-US" sz="840" dirty="0"/>
          </a:p>
        </p:txBody>
      </p:sp>
      <p:sp>
        <p:nvSpPr>
          <p:cNvPr id="37" name="Text 29"/>
          <p:cNvSpPr/>
          <p:nvPr/>
        </p:nvSpPr>
        <p:spPr>
          <a:xfrm>
            <a:off x="5310485" y="1607046"/>
            <a:ext cx="2564041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lineage tracking across generations of artifacts</a:t>
            </a:r>
            <a:endParaRPr lang="en-US" sz="73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3">
            <a:alphaModFix amt="5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00030" y="1444981"/>
            <a:ext cx="132588" cy="13258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857750" y="1928366"/>
            <a:ext cx="3886200" cy="494407"/>
          </a:xfrm>
          <a:prstGeom prst="roundRect">
            <a:avLst>
              <a:gd name="adj" fmla="val 14385"/>
            </a:avLst>
          </a:prstGeom>
          <a:solidFill>
            <a:srgbClr val="151D28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1"/>
          <p:cNvSpPr/>
          <p:nvPr/>
        </p:nvSpPr>
        <p:spPr>
          <a:xfrm>
            <a:off x="4981575" y="2038201"/>
            <a:ext cx="228600" cy="251460"/>
          </a:xfrm>
          <a:prstGeom prst="ellipse">
            <a:avLst/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49E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7</a:t>
            </a:r>
            <a:endParaRPr lang="en-US" sz="840" dirty="0"/>
          </a:p>
        </p:txBody>
      </p:sp>
      <p:sp>
        <p:nvSpPr>
          <p:cNvPr id="41" name="Text 32"/>
          <p:cNvSpPr/>
          <p:nvPr/>
        </p:nvSpPr>
        <p:spPr>
          <a:xfrm>
            <a:off x="5310485" y="2038201"/>
            <a:ext cx="2937302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Simulate φ-Breath</a:t>
            </a:r>
            <a:endParaRPr lang="en-US" sz="840" dirty="0"/>
          </a:p>
        </p:txBody>
      </p:sp>
      <p:sp>
        <p:nvSpPr>
          <p:cNvPr id="42" name="Text 33"/>
          <p:cNvSpPr/>
          <p:nvPr/>
        </p:nvSpPr>
        <p:spPr>
          <a:xfrm>
            <a:off x="5310485" y="2187773"/>
            <a:ext cx="2937302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vitality simulation — the artifact breathes and self-verifies</a:t>
            </a:r>
            <a:endParaRPr lang="en-US" sz="730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15">
            <a:alphaModFix amt="50000"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00030" y="2025709"/>
            <a:ext cx="132588" cy="13258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400050" y="4574232"/>
            <a:ext cx="8343900" cy="311497"/>
          </a:xfrm>
          <a:prstGeom prst="roundRect">
            <a:avLst>
              <a:gd name="adj" fmla="val 22832"/>
            </a:avLst>
          </a:prstGeom>
          <a:gradFill rotWithShape="1">
            <a:gsLst>
              <a:gs pos="0">
                <a:srgbClr val="58A6FF">
                  <a:alpha val="5000"/>
                </a:srgbClr>
              </a:gs>
              <a:gs pos="50000">
                <a:srgbClr val="58A6FF">
                  <a:alpha val="12000"/>
                </a:srgbClr>
              </a:gs>
              <a:gs pos="100000">
                <a:srgbClr val="58A6FF">
                  <a:alpha val="5000"/>
                </a:srgbClr>
              </a:gs>
            </a:gsLst>
            <a:lin ang="0" scaled="1"/>
          </a:gradFill>
          <a:ln w="9525">
            <a:solidFill>
              <a:srgbClr val="58A6FF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5"/>
          <p:cNvSpPr/>
          <p:nvPr/>
        </p:nvSpPr>
        <p:spPr>
          <a:xfrm>
            <a:off x="2735610" y="4670971"/>
            <a:ext cx="122259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ORDER</a:t>
            </a:r>
            <a:endParaRPr lang="en-US" sz="620" dirty="0"/>
          </a:p>
        </p:txBody>
      </p:sp>
      <p:sp>
        <p:nvSpPr>
          <p:cNvPr id="46" name="Text 36"/>
          <p:cNvSpPr/>
          <p:nvPr/>
        </p:nvSpPr>
        <p:spPr>
          <a:xfrm>
            <a:off x="4018508" y="4658171"/>
            <a:ext cx="7590" cy="143470"/>
          </a:xfrm>
          <a:prstGeom prst="rect">
            <a:avLst/>
          </a:prstGeom>
          <a:solidFill>
            <a:srgbClr val="58A6FF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116967" y="4663613"/>
            <a:ext cx="132588" cy="13258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4283273" y="4654748"/>
            <a:ext cx="55285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Verification</a:t>
            </a:r>
            <a:endParaRPr lang="en-US" sz="790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887673" y="4663687"/>
            <a:ext cx="132588" cy="132588"/>
          </a:xfrm>
          <a:prstGeom prst="rect">
            <a:avLst/>
          </a:prstGeom>
        </p:spPr>
      </p:pic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098637" y="4663613"/>
            <a:ext cx="132588" cy="132588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5264944" y="4654748"/>
            <a:ext cx="39176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Package</a:t>
            </a:r>
            <a:endParaRPr lang="en-US" sz="790" dirty="0"/>
          </a:p>
        </p:txBody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722897" y="4663687"/>
            <a:ext cx="132588" cy="132588"/>
          </a:xfrm>
          <a:prstGeom prst="rect">
            <a:avLst/>
          </a:prstGeom>
        </p:spPr>
      </p:pic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933861" y="4663613"/>
            <a:ext cx="132588" cy="132588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100167" y="4654748"/>
            <a:ext cx="33888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Visuals</a:t>
            </a:r>
            <a:endParaRPr lang="en-US" sz="7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164" y="342900"/>
            <a:ext cx="8805672" cy="30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36"/>
              </a:lnSpc>
              <a:buNone/>
            </a:pPr>
            <a:r>
              <a:rPr lang="en-US" sz="2030" b="1" spc="-3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Digital Mirror vs. Conventional Packaging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45720" y="695325"/>
            <a:ext cx="9052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spcBef>
                <a:spcPts val="34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Mirror Paradigm — self-contained, verifiable, accessible by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95375"/>
            <a:ext cx="3700165" cy="3440460"/>
          </a:xfrm>
          <a:prstGeom prst="roundRect">
            <a:avLst>
              <a:gd name="adj" fmla="val 3322"/>
            </a:avLst>
          </a:prstGeom>
          <a:gradFill rotWithShape="1">
            <a:gsLst>
              <a:gs pos="0">
                <a:srgbClr val="1A1F26"/>
              </a:gs>
              <a:gs pos="100000">
                <a:srgbClr val="161B22"/>
              </a:gs>
            </a:gsLst>
            <a:lin ang="2700000" scaled="1"/>
          </a:gradFill>
          <a:ln w="9525">
            <a:solidFill>
              <a:srgbClr val="8B949E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7345" y="1733550"/>
            <a:ext cx="3279874" cy="9525"/>
          </a:xfrm>
          <a:prstGeom prst="rect">
            <a:avLst/>
          </a:prstGeom>
          <a:solidFill>
            <a:srgbClr val="8B949E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7345" y="1333500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8B949E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852" y="1410007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9416" y="1390352"/>
            <a:ext cx="1642512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8B949E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Conventional Packaging</a:t>
            </a:r>
            <a:endParaRPr lang="en-US" sz="1130" dirty="0"/>
          </a:p>
        </p:txBody>
      </p:sp>
      <p:sp>
        <p:nvSpPr>
          <p:cNvPr id="9" name="Text 6"/>
          <p:cNvSpPr/>
          <p:nvPr/>
        </p:nvSpPr>
        <p:spPr>
          <a:xfrm>
            <a:off x="667345" y="1914525"/>
            <a:ext cx="3279874" cy="350193"/>
          </a:xfrm>
          <a:prstGeom prst="roundRect">
            <a:avLst>
              <a:gd name="adj" fmla="val 20309"/>
            </a:avLst>
          </a:prstGeom>
          <a:solidFill>
            <a:srgbClr val="8B949E">
              <a:alpha val="4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53666" y="1993106"/>
            <a:ext cx="200620" cy="200620"/>
          </a:xfrm>
          <a:prstGeom prst="ellipse">
            <a:avLst/>
          </a:prstGeom>
          <a:solidFill>
            <a:srgbClr val="F85149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607" y="2027048"/>
            <a:ext cx="132588" cy="132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40606" y="1985516"/>
            <a:ext cx="1586523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CDN dependencies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67345" y="2351038"/>
            <a:ext cx="3279874" cy="350193"/>
          </a:xfrm>
          <a:prstGeom prst="roundRect">
            <a:avLst>
              <a:gd name="adj" fmla="val 20309"/>
            </a:avLst>
          </a:prstGeom>
          <a:solidFill>
            <a:srgbClr val="8B949E">
              <a:alpha val="4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53666" y="2429619"/>
            <a:ext cx="200620" cy="200620"/>
          </a:xfrm>
          <a:prstGeom prst="ellipse">
            <a:avLst/>
          </a:prstGeom>
          <a:solidFill>
            <a:srgbClr val="F85149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607" y="2463561"/>
            <a:ext cx="132588" cy="132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40606" y="2422029"/>
            <a:ext cx="1320984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loaded at runtime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67345" y="2787551"/>
            <a:ext cx="3279874" cy="350193"/>
          </a:xfrm>
          <a:prstGeom prst="roundRect">
            <a:avLst>
              <a:gd name="adj" fmla="val 20309"/>
            </a:avLst>
          </a:prstGeom>
          <a:solidFill>
            <a:srgbClr val="8B949E">
              <a:alpha val="4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753666" y="2866132"/>
            <a:ext cx="200620" cy="200620"/>
          </a:xfrm>
          <a:prstGeom prst="ellipse">
            <a:avLst/>
          </a:prstGeom>
          <a:solidFill>
            <a:srgbClr val="F85149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607" y="2900074"/>
            <a:ext cx="132588" cy="132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40606" y="2858542"/>
            <a:ext cx="1237000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bolted on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67345" y="3224064"/>
            <a:ext cx="3279874" cy="350193"/>
          </a:xfrm>
          <a:prstGeom prst="roundRect">
            <a:avLst>
              <a:gd name="adj" fmla="val 20309"/>
            </a:avLst>
          </a:prstGeom>
          <a:solidFill>
            <a:srgbClr val="8B949E">
              <a:alpha val="4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753666" y="3302645"/>
            <a:ext cx="200620" cy="200620"/>
          </a:xfrm>
          <a:prstGeom prst="ellipse">
            <a:avLst/>
          </a:prstGeom>
          <a:solidFill>
            <a:srgbClr val="F85149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7607" y="3336587"/>
            <a:ext cx="132588" cy="132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40606" y="3295055"/>
            <a:ext cx="1705541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not guaranteed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667345" y="3660577"/>
            <a:ext cx="3279874" cy="350193"/>
          </a:xfrm>
          <a:prstGeom prst="roundRect">
            <a:avLst>
              <a:gd name="adj" fmla="val 20309"/>
            </a:avLst>
          </a:prstGeom>
          <a:solidFill>
            <a:srgbClr val="8B949E">
              <a:alpha val="4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753666" y="3739158"/>
            <a:ext cx="200620" cy="200620"/>
          </a:xfrm>
          <a:prstGeom prst="ellipse">
            <a:avLst/>
          </a:prstGeom>
          <a:solidFill>
            <a:srgbClr val="F85149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7607" y="3773100"/>
            <a:ext cx="132588" cy="1325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40606" y="3731568"/>
            <a:ext cx="1418719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Testing-based verification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4568205" y="1266825"/>
            <a:ext cx="7590" cy="309756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58A6FF">
                  <a:alpha val="20000"/>
                </a:srgbClr>
              </a:gs>
              <a:gs pos="70000">
                <a:srgbClr val="58A6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4414540" y="2658070"/>
            <a:ext cx="314920" cy="346412"/>
          </a:xfrm>
          <a:prstGeom prst="ellipse">
            <a:avLst/>
          </a:prstGeom>
          <a:solidFill>
            <a:srgbClr val="0F1419"/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90" b="1" spc="60" kern="0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VS</a:t>
            </a:r>
            <a:endParaRPr lang="en-US" sz="790" dirty="0"/>
          </a:p>
        </p:txBody>
      </p:sp>
      <p:sp>
        <p:nvSpPr>
          <p:cNvPr id="31" name="Text 23"/>
          <p:cNvSpPr/>
          <p:nvPr/>
        </p:nvSpPr>
        <p:spPr>
          <a:xfrm>
            <a:off x="4986635" y="1095375"/>
            <a:ext cx="3700165" cy="3440460"/>
          </a:xfrm>
          <a:prstGeom prst="roundRect">
            <a:avLst>
              <a:gd name="adj" fmla="val 3322"/>
            </a:avLst>
          </a:prstGeom>
          <a:gradFill rotWithShape="1">
            <a:gsLst>
              <a:gs pos="0">
                <a:srgbClr val="122035"/>
              </a:gs>
              <a:gs pos="60000">
                <a:srgbClr val="0D2847"/>
              </a:gs>
              <a:gs pos="100000">
                <a:srgbClr val="1A2332"/>
              </a:gs>
            </a:gsLst>
            <a:lin ang="2700000" scaled="1"/>
          </a:gradFill>
          <a:ln w="9525">
            <a:solidFill>
              <a:srgbClr val="58A6FF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5196780" y="1733550"/>
            <a:ext cx="3279874" cy="9525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5196780" y="1333500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58A6FF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73287" y="1410007"/>
            <a:ext cx="132588" cy="13258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568851" y="1390352"/>
            <a:ext cx="1400874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6"/>
              </a:lnSpc>
              <a:buNone/>
            </a:pPr>
            <a:r>
              <a:rPr lang="en-US" sz="1130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Digital Mirror </a:t>
            </a:r>
            <a:pPr algn="l" indent="0" marL="0">
              <a:lnSpc>
                <a:spcPts val="1356"/>
              </a:lnSpc>
              <a:buNone/>
            </a:pPr>
            <a:r>
              <a:rPr lang="en-US" sz="840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(MFCS)</a:t>
            </a:r>
            <a:endParaRPr lang="en-US" sz="1130" dirty="0"/>
          </a:p>
        </p:txBody>
      </p:sp>
      <p:sp>
        <p:nvSpPr>
          <p:cNvPr id="36" name="Text 27"/>
          <p:cNvSpPr/>
          <p:nvPr/>
        </p:nvSpPr>
        <p:spPr>
          <a:xfrm>
            <a:off x="7797701" y="1416695"/>
            <a:ext cx="678954" cy="185812"/>
          </a:xfrm>
          <a:prstGeom prst="roundRect">
            <a:avLst>
              <a:gd name="adj" fmla="val 77234"/>
            </a:avLst>
          </a:prstGeom>
          <a:solidFill>
            <a:srgbClr val="58A6FF">
              <a:alpha val="15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</a:t>
            </a:r>
            <a:endParaRPr lang="en-US" sz="560" dirty="0"/>
          </a:p>
        </p:txBody>
      </p:sp>
      <p:sp>
        <p:nvSpPr>
          <p:cNvPr id="37" name="Text 28"/>
          <p:cNvSpPr/>
          <p:nvPr/>
        </p:nvSpPr>
        <p:spPr>
          <a:xfrm>
            <a:off x="5196780" y="1914525"/>
            <a:ext cx="3279874" cy="350193"/>
          </a:xfrm>
          <a:prstGeom prst="roundRect">
            <a:avLst>
              <a:gd name="adj" fmla="val 20309"/>
            </a:avLst>
          </a:prstGeom>
          <a:solidFill>
            <a:srgbClr val="58A6FF">
              <a:alpha val="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29"/>
          <p:cNvSpPr/>
          <p:nvPr/>
        </p:nvSpPr>
        <p:spPr>
          <a:xfrm>
            <a:off x="5283101" y="1993106"/>
            <a:ext cx="200620" cy="200620"/>
          </a:xfrm>
          <a:prstGeom prst="ellipse">
            <a:avLst/>
          </a:prstGeom>
          <a:solidFill>
            <a:srgbClr val="3FB950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17043" y="2027048"/>
            <a:ext cx="132588" cy="13258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570041" y="1985516"/>
            <a:ext cx="1558692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dependencies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5196780" y="2351038"/>
            <a:ext cx="3279874" cy="350193"/>
          </a:xfrm>
          <a:prstGeom prst="roundRect">
            <a:avLst>
              <a:gd name="adj" fmla="val 20309"/>
            </a:avLst>
          </a:prstGeom>
          <a:solidFill>
            <a:srgbClr val="58A6FF">
              <a:alpha val="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2"/>
          <p:cNvSpPr/>
          <p:nvPr/>
        </p:nvSpPr>
        <p:spPr>
          <a:xfrm>
            <a:off x="5283101" y="2429619"/>
            <a:ext cx="200620" cy="200620"/>
          </a:xfrm>
          <a:prstGeom prst="ellipse">
            <a:avLst/>
          </a:prstGeom>
          <a:solidFill>
            <a:srgbClr val="3FB950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17043" y="2463561"/>
            <a:ext cx="132588" cy="13258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570041" y="2422029"/>
            <a:ext cx="1488624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embedded in artifact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5196780" y="2787551"/>
            <a:ext cx="3279874" cy="350193"/>
          </a:xfrm>
          <a:prstGeom prst="roundRect">
            <a:avLst>
              <a:gd name="adj" fmla="val 20309"/>
            </a:avLst>
          </a:prstGeom>
          <a:solidFill>
            <a:srgbClr val="58A6FF">
              <a:alpha val="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5"/>
          <p:cNvSpPr/>
          <p:nvPr/>
        </p:nvSpPr>
        <p:spPr>
          <a:xfrm>
            <a:off x="5283101" y="2866132"/>
            <a:ext cx="200620" cy="200620"/>
          </a:xfrm>
          <a:prstGeom prst="ellipse">
            <a:avLst/>
          </a:prstGeom>
          <a:solidFill>
            <a:srgbClr val="3FB950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17043" y="2900074"/>
            <a:ext cx="132588" cy="132588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5570041" y="2858542"/>
            <a:ext cx="1362402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is structural</a:t>
            </a:r>
            <a:endParaRPr lang="en-US" sz="900" dirty="0"/>
          </a:p>
        </p:txBody>
      </p:sp>
      <p:sp>
        <p:nvSpPr>
          <p:cNvPr id="49" name="Text 37"/>
          <p:cNvSpPr/>
          <p:nvPr/>
        </p:nvSpPr>
        <p:spPr>
          <a:xfrm>
            <a:off x="5196780" y="3224064"/>
            <a:ext cx="3279874" cy="350193"/>
          </a:xfrm>
          <a:prstGeom prst="roundRect">
            <a:avLst>
              <a:gd name="adj" fmla="val 20309"/>
            </a:avLst>
          </a:prstGeom>
          <a:solidFill>
            <a:srgbClr val="58A6FF">
              <a:alpha val="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38"/>
          <p:cNvSpPr/>
          <p:nvPr/>
        </p:nvSpPr>
        <p:spPr>
          <a:xfrm>
            <a:off x="5283101" y="3302645"/>
            <a:ext cx="200620" cy="200620"/>
          </a:xfrm>
          <a:prstGeom prst="ellipse">
            <a:avLst/>
          </a:prstGeom>
          <a:solidFill>
            <a:srgbClr val="3FB950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317043" y="3336587"/>
            <a:ext cx="132588" cy="132588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5570041" y="3295055"/>
            <a:ext cx="1893808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byte-level reproducibility</a:t>
            </a:r>
            <a:endParaRPr lang="en-US" sz="900" dirty="0"/>
          </a:p>
        </p:txBody>
      </p:sp>
      <p:sp>
        <p:nvSpPr>
          <p:cNvPr id="53" name="Text 40"/>
          <p:cNvSpPr/>
          <p:nvPr/>
        </p:nvSpPr>
        <p:spPr>
          <a:xfrm>
            <a:off x="5196780" y="3660577"/>
            <a:ext cx="3279874" cy="350193"/>
          </a:xfrm>
          <a:prstGeom prst="roundRect">
            <a:avLst>
              <a:gd name="adj" fmla="val 20309"/>
            </a:avLst>
          </a:prstGeom>
          <a:solidFill>
            <a:srgbClr val="58A6FF">
              <a:alpha val="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1"/>
          <p:cNvSpPr/>
          <p:nvPr/>
        </p:nvSpPr>
        <p:spPr>
          <a:xfrm>
            <a:off x="5283101" y="3739158"/>
            <a:ext cx="200620" cy="200620"/>
          </a:xfrm>
          <a:prstGeom prst="ellipse">
            <a:avLst/>
          </a:prstGeom>
          <a:solidFill>
            <a:srgbClr val="3FB950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17043" y="3773100"/>
            <a:ext cx="132588" cy="132588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5570041" y="3731568"/>
            <a:ext cx="2019866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Mechanized proof-based verification</a:t>
            </a:r>
            <a:endParaRPr lang="en-US" sz="900" dirty="0"/>
          </a:p>
        </p:txBody>
      </p:sp>
      <p:sp>
        <p:nvSpPr>
          <p:cNvPr id="57" name="Text 43"/>
          <p:cNvSpPr/>
          <p:nvPr/>
        </p:nvSpPr>
        <p:spPr>
          <a:xfrm>
            <a:off x="45720" y="4650135"/>
            <a:ext cx="905256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i="1" spc="2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artifact is not a delivery — it is a living, self-verifying mirror.</a:t>
            </a:r>
            <a:endParaRPr lang="en-US" sz="790" dirty="0"/>
          </a:p>
        </p:txBody>
      </p:sp>
      <p:sp>
        <p:nvSpPr>
          <p:cNvPr id="58" name="Text 44"/>
          <p:cNvSpPr/>
          <p:nvPr/>
        </p:nvSpPr>
        <p:spPr>
          <a:xfrm>
            <a:off x="4996160" y="1104900"/>
            <a:ext cx="3681117" cy="21580"/>
          </a:xfrm>
          <a:custGeom>
            <a:avLst/>
            <a:gdLst/>
            <a:ahLst/>
            <a:cxnLst/>
            <a:rect l="l" t="t" r="r" b="b"/>
            <a:pathLst>
              <a:path w="3681117" h="21580">
                <a:moveTo>
                  <a:pt x="114300" y="0"/>
                </a:moveTo>
                <a:lnTo>
                  <a:pt x="3566817" y="0"/>
                </a:lnTo>
                <a:lnTo>
                  <a:pt x="3591503" y="2698"/>
                </a:lnTo>
                <a:lnTo>
                  <a:pt x="3601519" y="5395"/>
                </a:lnTo>
                <a:lnTo>
                  <a:pt x="3609060" y="8093"/>
                </a:lnTo>
                <a:lnTo>
                  <a:pt x="3615296" y="10790"/>
                </a:lnTo>
                <a:lnTo>
                  <a:pt x="3620681" y="13488"/>
                </a:lnTo>
                <a:lnTo>
                  <a:pt x="3625451" y="16185"/>
                </a:lnTo>
                <a:lnTo>
                  <a:pt x="3629746" y="18883"/>
                </a:lnTo>
                <a:lnTo>
                  <a:pt x="3633657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8A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45"/>
          <p:cNvSpPr/>
          <p:nvPr/>
        </p:nvSpPr>
        <p:spPr>
          <a:xfrm>
            <a:off x="7391993" y="3241034"/>
            <a:ext cx="1428750" cy="1428750"/>
          </a:xfrm>
          <a:prstGeom prst="rect">
            <a:avLst/>
          </a:prstGeom>
          <a:gradFill rotWithShape="1">
            <a:gsLst>
              <a:gs pos="0">
                <a:srgbClr val="58A6FF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" y="1136005"/>
            <a:ext cx="2599430" cy="21580"/>
          </a:xfrm>
          <a:custGeom>
            <a:avLst/>
            <a:gdLst/>
            <a:ahLst/>
            <a:cxnLst/>
            <a:rect l="l" t="t" r="r" b="b"/>
            <a:pathLst>
              <a:path w="2599430" h="21580">
                <a:moveTo>
                  <a:pt x="114300" y="0"/>
                </a:moveTo>
                <a:lnTo>
                  <a:pt x="2485130" y="0"/>
                </a:lnTo>
                <a:lnTo>
                  <a:pt x="2509815" y="2698"/>
                </a:lnTo>
                <a:lnTo>
                  <a:pt x="2519831" y="5395"/>
                </a:lnTo>
                <a:lnTo>
                  <a:pt x="2527373" y="8093"/>
                </a:lnTo>
                <a:lnTo>
                  <a:pt x="2533608" y="10790"/>
                </a:lnTo>
                <a:lnTo>
                  <a:pt x="2538994" y="13488"/>
                </a:lnTo>
                <a:lnTo>
                  <a:pt x="2543764" y="16185"/>
                </a:lnTo>
                <a:lnTo>
                  <a:pt x="2548058" y="18883"/>
                </a:lnTo>
                <a:lnTo>
                  <a:pt x="255196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94655" y="850255"/>
            <a:ext cx="857250" cy="857250"/>
          </a:xfrm>
          <a:prstGeom prst="ellipse">
            <a:avLst/>
          </a:prstGeom>
          <a:gradFill rotWithShape="1">
            <a:gsLst>
              <a:gs pos="0">
                <a:srgbClr val="58A6FF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72135" y="1136005"/>
            <a:ext cx="2599582" cy="21580"/>
          </a:xfrm>
          <a:custGeom>
            <a:avLst/>
            <a:gdLst/>
            <a:ahLst/>
            <a:cxnLst/>
            <a:rect l="l" t="t" r="r" b="b"/>
            <a:pathLst>
              <a:path w="2599582" h="21580">
                <a:moveTo>
                  <a:pt x="114300" y="0"/>
                </a:moveTo>
                <a:lnTo>
                  <a:pt x="2485282" y="0"/>
                </a:lnTo>
                <a:lnTo>
                  <a:pt x="2509968" y="2698"/>
                </a:lnTo>
                <a:lnTo>
                  <a:pt x="2519984" y="5395"/>
                </a:lnTo>
                <a:lnTo>
                  <a:pt x="2527525" y="8093"/>
                </a:lnTo>
                <a:lnTo>
                  <a:pt x="2533761" y="10790"/>
                </a:lnTo>
                <a:lnTo>
                  <a:pt x="2539146" y="13488"/>
                </a:lnTo>
                <a:lnTo>
                  <a:pt x="2543916" y="16185"/>
                </a:lnTo>
                <a:lnTo>
                  <a:pt x="2548211" y="18883"/>
                </a:lnTo>
                <a:lnTo>
                  <a:pt x="2552121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00217" y="850255"/>
            <a:ext cx="857250" cy="857250"/>
          </a:xfrm>
          <a:prstGeom prst="ellipse">
            <a:avLst/>
          </a:prstGeom>
          <a:gradFill rotWithShape="1">
            <a:gsLst>
              <a:gs pos="0">
                <a:srgbClr val="58A6FF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77694" y="1136005"/>
            <a:ext cx="2599582" cy="21580"/>
          </a:xfrm>
          <a:custGeom>
            <a:avLst/>
            <a:gdLst/>
            <a:ahLst/>
            <a:cxnLst/>
            <a:rect l="l" t="t" r="r" b="b"/>
            <a:pathLst>
              <a:path w="2599582" h="21580">
                <a:moveTo>
                  <a:pt x="114300" y="0"/>
                </a:moveTo>
                <a:lnTo>
                  <a:pt x="2485282" y="0"/>
                </a:lnTo>
                <a:lnTo>
                  <a:pt x="2509968" y="2698"/>
                </a:lnTo>
                <a:lnTo>
                  <a:pt x="2519984" y="5395"/>
                </a:lnTo>
                <a:lnTo>
                  <a:pt x="2527525" y="8093"/>
                </a:lnTo>
                <a:lnTo>
                  <a:pt x="2533761" y="10790"/>
                </a:lnTo>
                <a:lnTo>
                  <a:pt x="2539146" y="13488"/>
                </a:lnTo>
                <a:lnTo>
                  <a:pt x="2543916" y="16185"/>
                </a:lnTo>
                <a:lnTo>
                  <a:pt x="2548211" y="18883"/>
                </a:lnTo>
                <a:lnTo>
                  <a:pt x="2552121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05776" y="850255"/>
            <a:ext cx="857250" cy="857250"/>
          </a:xfrm>
          <a:prstGeom prst="ellipse">
            <a:avLst/>
          </a:prstGeom>
          <a:gradFill rotWithShape="1">
            <a:gsLst>
              <a:gs pos="0">
                <a:srgbClr val="58A6FF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440978"/>
            <a:ext cx="57150" cy="57150"/>
          </a:xfrm>
          <a:prstGeom prst="ellipse">
            <a:avLst/>
          </a:prstGeom>
          <a:solidFill>
            <a:srgbClr val="58A6FF"/>
          </a:solidFill>
          <a:ln/>
          <a:effectLst>
            <a:outerShdw sx="100000" sy="100000" kx="0" ky="0" algn="bl" rotWithShape="0" blurRad="71120" dist="50800" dir="16200000">
              <a:srgbClr val="58a6ff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5341" y="400050"/>
            <a:ext cx="203329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 STACK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457200" y="596205"/>
            <a:ext cx="8805672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360" b="1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The Technical Foundation</a:t>
            </a:r>
            <a:endParaRPr lang="en-US" sz="2360" dirty="0"/>
          </a:p>
        </p:txBody>
      </p:sp>
      <p:sp>
        <p:nvSpPr>
          <p:cNvPr id="13" name="Text 11"/>
          <p:cNvSpPr/>
          <p:nvPr/>
        </p:nvSpPr>
        <p:spPr>
          <a:xfrm>
            <a:off x="457200" y="1126480"/>
            <a:ext cx="2618482" cy="3133725"/>
          </a:xfrm>
          <a:prstGeom prst="roundRect">
            <a:avLst>
              <a:gd name="adj" fmla="val 4365"/>
            </a:avLst>
          </a:prstGeom>
          <a:solidFill>
            <a:srgbClr val="1A2332"/>
          </a:solidFill>
          <a:ln w="9525">
            <a:solidFill>
              <a:srgbClr val="58A6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4495" y="1421755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58A6FF">
              <a:alpha val="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6443" y="1523702"/>
            <a:ext cx="139005" cy="13900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24495" y="1908125"/>
            <a:ext cx="229228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14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LANGUAGE</a:t>
            </a:r>
            <a:endParaRPr lang="en-US" sz="730" dirty="0"/>
          </a:p>
        </p:txBody>
      </p:sp>
      <p:sp>
        <p:nvSpPr>
          <p:cNvPr id="17" name="Text 14"/>
          <p:cNvSpPr/>
          <p:nvPr/>
        </p:nvSpPr>
        <p:spPr>
          <a:xfrm>
            <a:off x="724495" y="2133451"/>
            <a:ext cx="218808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0" kern="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TLA+</a:t>
            </a:r>
            <a:endParaRPr lang="en-US" sz="3150" dirty="0"/>
          </a:p>
        </p:txBody>
      </p:sp>
      <p:sp>
        <p:nvSpPr>
          <p:cNvPr id="18" name="Text 15"/>
          <p:cNvSpPr/>
          <p:nvPr/>
        </p:nvSpPr>
        <p:spPr>
          <a:xfrm>
            <a:off x="724495" y="2647801"/>
            <a:ext cx="2125569" cy="52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Logic of Actions — formal behavioral specification that models system behavior as mathematical state machines.</a:t>
            </a:r>
            <a:endParaRPr lang="en-US" sz="84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2852" y="2627049"/>
            <a:ext cx="132588" cy="1325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262610" y="1126480"/>
            <a:ext cx="2618631" cy="3133725"/>
          </a:xfrm>
          <a:prstGeom prst="roundRect">
            <a:avLst>
              <a:gd name="adj" fmla="val 4365"/>
            </a:avLst>
          </a:prstGeom>
          <a:solidFill>
            <a:srgbClr val="1A2332"/>
          </a:solidFill>
          <a:ln w="9525">
            <a:solidFill>
              <a:srgbClr val="58A6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529905" y="1421755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58A6FF">
              <a:alpha val="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1853" y="1523702"/>
            <a:ext cx="139005" cy="13900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529905" y="1908125"/>
            <a:ext cx="229244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14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SYSTEM</a:t>
            </a:r>
            <a:endParaRPr lang="en-US" sz="730" dirty="0"/>
          </a:p>
        </p:txBody>
      </p:sp>
      <p:sp>
        <p:nvSpPr>
          <p:cNvPr id="24" name="Text 19"/>
          <p:cNvSpPr/>
          <p:nvPr/>
        </p:nvSpPr>
        <p:spPr>
          <a:xfrm>
            <a:off x="3529905" y="2133451"/>
            <a:ext cx="218824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0" kern="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TLAPS</a:t>
            </a:r>
            <a:endParaRPr lang="en-US" sz="3150" dirty="0"/>
          </a:p>
        </p:txBody>
      </p:sp>
      <p:sp>
        <p:nvSpPr>
          <p:cNvPr id="25" name="Text 20"/>
          <p:cNvSpPr/>
          <p:nvPr/>
        </p:nvSpPr>
        <p:spPr>
          <a:xfrm>
            <a:off x="3529905" y="2647801"/>
            <a:ext cx="2125721" cy="694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TLA+ Proof System — every claim is mechanically checkable. No assertion exists without a formal, machine-verified proof.</a:t>
            </a:r>
            <a:endParaRPr lang="en-US" sz="84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8411" y="2627049"/>
            <a:ext cx="132588" cy="1325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068169" y="1126480"/>
            <a:ext cx="2618631" cy="3133725"/>
          </a:xfrm>
          <a:prstGeom prst="roundRect">
            <a:avLst>
              <a:gd name="adj" fmla="val 4365"/>
            </a:avLst>
          </a:prstGeom>
          <a:solidFill>
            <a:srgbClr val="1A2332"/>
          </a:solidFill>
          <a:ln w="9525">
            <a:solidFill>
              <a:srgbClr val="58A6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6335464" y="1421755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58A6FF">
              <a:alpha val="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37412" y="1523702"/>
            <a:ext cx="139005" cy="13900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335464" y="1908125"/>
            <a:ext cx="229244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14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CHECKER</a:t>
            </a:r>
            <a:endParaRPr lang="en-US" sz="730" dirty="0"/>
          </a:p>
        </p:txBody>
      </p:sp>
      <p:sp>
        <p:nvSpPr>
          <p:cNvPr id="31" name="Text 24"/>
          <p:cNvSpPr/>
          <p:nvPr/>
        </p:nvSpPr>
        <p:spPr>
          <a:xfrm>
            <a:off x="6335464" y="2133451"/>
            <a:ext cx="218824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0" kern="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TLC</a:t>
            </a:r>
            <a:endParaRPr lang="en-US" sz="3150" dirty="0"/>
          </a:p>
        </p:txBody>
      </p:sp>
      <p:sp>
        <p:nvSpPr>
          <p:cNvPr id="32" name="Text 25"/>
          <p:cNvSpPr/>
          <p:nvPr/>
        </p:nvSpPr>
        <p:spPr>
          <a:xfrm>
            <a:off x="6335464" y="2647801"/>
            <a:ext cx="2125721" cy="694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Checker — exhaustive state-space exploration that verifies every reachable system configuration against the specification.</a:t>
            </a:r>
            <a:endParaRPr lang="en-US" sz="840" dirty="0"/>
          </a:p>
        </p:txBody>
      </p:sp>
      <p:sp>
        <p:nvSpPr>
          <p:cNvPr id="33" name="Text 26"/>
          <p:cNvSpPr/>
          <p:nvPr/>
        </p:nvSpPr>
        <p:spPr>
          <a:xfrm>
            <a:off x="457200" y="4431655"/>
            <a:ext cx="8229600" cy="368945"/>
          </a:xfrm>
          <a:prstGeom prst="roundRect">
            <a:avLst>
              <a:gd name="adj" fmla="val 19277"/>
            </a:avLst>
          </a:prstGeom>
          <a:solidFill>
            <a:srgbClr val="58A6FF">
              <a:alpha val="4000"/>
            </a:srgbClr>
          </a:solidFill>
          <a:ln w="9525">
            <a:solidFill>
              <a:srgbClr val="58A6FF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853" y="4549834"/>
            <a:ext cx="132588" cy="132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75258" y="4541490"/>
            <a:ext cx="4371573" cy="149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unverified claims survive in the system. Every assertion has a mechanized proof.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rotWithShape="1">
          <a:gsLst>
            <a:gs pos="0">
              <a:srgbClr val="58A6FF">
                <a:alpha val="3000"/>
              </a:srgbClr>
            </a:gs>
            <a:gs pos="100000">
              <a:srgbClr val="000000">
                <a:alpha val="0"/>
              </a:srgb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85750"/>
            <a:ext cx="892797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30"/>
              </a:spcAft>
              <a:buNone/>
            </a:pPr>
            <a:r>
              <a:rPr lang="en-US" sz="1800" spc="-3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The 96 Path Map </a:t>
            </a:r>
            <a:pPr algn="l" indent="0" marL="0">
              <a:lnSpc>
                <a:spcPts val="2700"/>
              </a:lnSpc>
              <a:spcAft>
                <a:spcPts val="230"/>
              </a:spcAft>
              <a:buNone/>
            </a:pPr>
            <a:r>
              <a:rPr lang="en-US" sz="1800" b="1" spc="-30" kern="0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—</a:t>
            </a:r>
            <a:pPr algn="l" indent="0" marL="0">
              <a:lnSpc>
                <a:spcPts val="2700"/>
              </a:lnSpc>
              <a:spcAft>
                <a:spcPts val="230"/>
              </a:spcAft>
              <a:buNone/>
            </a:pPr>
            <a:r>
              <a:rPr lang="en-US" sz="1800" spc="-3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 Complete State-Space Coverage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0050" y="657820"/>
            <a:ext cx="917829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130"/>
              </a:spcAft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verification of every reachable execution path in the MFCS finite state machine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087541" y="990451"/>
            <a:ext cx="1161157" cy="557220"/>
          </a:xfrm>
          <a:prstGeom prst="roundRect">
            <a:avLst>
              <a:gd name="adj" fmla="val 7749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square" lIns="100330" tIns="57150" rIns="100330" bIns="57150" rtlCol="0" anchor="t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96</a:t>
            </a:r>
            <a:pPr algn="ctr" indent="0" marL="0">
              <a:buNone/>
            </a:pPr>
            <a:endParaRPr lang="en-US" sz="1580" dirty="0"/>
          </a:p>
          <a:p>
            <a:pPr algn="ctr" indent="0" marL="0">
              <a:buNone/>
            </a:pPr>
            <a:r>
              <a:rPr lang="en-US" sz="560" spc="6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PATHS</a:t>
            </a:r>
            <a:endParaRPr lang="en-US" sz="1580" dirty="0"/>
          </a:p>
        </p:txBody>
      </p:sp>
      <p:sp>
        <p:nvSpPr>
          <p:cNvPr id="5" name="Text 3"/>
          <p:cNvSpPr/>
          <p:nvPr/>
        </p:nvSpPr>
        <p:spPr>
          <a:xfrm>
            <a:off x="6335018" y="990451"/>
            <a:ext cx="1161306" cy="557220"/>
          </a:xfrm>
          <a:prstGeom prst="roundRect">
            <a:avLst>
              <a:gd name="adj" fmla="val 7749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square" lIns="100330" tIns="57150" rIns="100330" bIns="57150" rtlCol="0" anchor="t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7</a:t>
            </a:r>
            <a:pPr algn="ctr" indent="0" marL="0">
              <a:buNone/>
            </a:pPr>
            <a:endParaRPr lang="en-US" sz="1580" dirty="0"/>
          </a:p>
          <a:p>
            <a:pPr algn="ctr" indent="0" marL="0">
              <a:buNone/>
            </a:pPr>
            <a:r>
              <a:rPr lang="en-US" sz="560" spc="6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580" dirty="0"/>
          </a:p>
        </p:txBody>
      </p:sp>
      <p:sp>
        <p:nvSpPr>
          <p:cNvPr id="6" name="Text 4"/>
          <p:cNvSpPr/>
          <p:nvPr/>
        </p:nvSpPr>
        <p:spPr>
          <a:xfrm>
            <a:off x="7582644" y="990451"/>
            <a:ext cx="1161306" cy="557220"/>
          </a:xfrm>
          <a:prstGeom prst="roundRect">
            <a:avLst>
              <a:gd name="adj" fmla="val 7749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square" lIns="100330" tIns="57150" rIns="100330" bIns="57150" rtlCol="0" anchor="t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3FB950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0</a:t>
            </a:r>
            <a:pPr algn="ctr" indent="0" marL="0">
              <a:buNone/>
            </a:pPr>
            <a:endParaRPr lang="en-US" sz="1580" dirty="0"/>
          </a:p>
          <a:p>
            <a:pPr algn="ctr" indent="0" marL="0">
              <a:buNone/>
            </a:pPr>
            <a:r>
              <a:rPr lang="en-US" sz="560" spc="6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COUNTER­EXAMPLES</a:t>
            </a:r>
            <a:endParaRPr lang="en-US" sz="158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9318" y="1641360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54675" y="1645741"/>
            <a:ext cx="3559061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invariants</a:t>
            </a:r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Verification always precedes Package; Package always precedes Visuals</a:t>
            </a:r>
            <a:endParaRPr lang="en-US" sz="79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9318" y="2013281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4675" y="2017663"/>
            <a:ext cx="3559061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properties</a:t>
            </a:r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path eventually reaches Release; no deadlocks exist</a:t>
            </a:r>
            <a:endParaRPr lang="en-US" sz="79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69318" y="2385203"/>
            <a:ext cx="132588" cy="132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54675" y="2389584"/>
            <a:ext cx="3559061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integrity</a:t>
            </a:r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Optional branches (CI Setup, Aris Inheritance) and φ-Breath cycles fully explored</a:t>
            </a:r>
            <a:endParaRPr lang="en-US" sz="790" dirty="0"/>
          </a:p>
        </p:txBody>
      </p:sp>
      <p:sp>
        <p:nvSpPr>
          <p:cNvPr id="13" name="Text 8"/>
          <p:cNvSpPr/>
          <p:nvPr/>
        </p:nvSpPr>
        <p:spPr>
          <a:xfrm>
            <a:off x="5087541" y="2818656"/>
            <a:ext cx="3656409" cy="7590"/>
          </a:xfrm>
          <a:prstGeom prst="rect">
            <a:avLst/>
          </a:prstGeom>
          <a:gradFill rotWithShape="1">
            <a:gsLst>
              <a:gs pos="0">
                <a:srgbClr val="58A6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5087541" y="2954387"/>
            <a:ext cx="3656409" cy="918716"/>
          </a:xfrm>
          <a:prstGeom prst="roundRect">
            <a:avLst>
              <a:gd name="adj" fmla="val 6221"/>
            </a:avLst>
          </a:prstGeom>
          <a:gradFill rotWithShape="1">
            <a:gsLst>
              <a:gs pos="0">
                <a:srgbClr val="58A6FF">
                  <a:alpha val="8000"/>
                </a:srgbClr>
              </a:gs>
              <a:gs pos="100000">
                <a:srgbClr val="58A6FF">
                  <a:alpha val="3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5087541" y="2954387"/>
            <a:ext cx="19050" cy="918716"/>
          </a:xfrm>
          <a:custGeom>
            <a:avLst/>
            <a:gdLst/>
            <a:ahLst/>
            <a:cxnLst/>
            <a:rect l="l" t="t" r="r" b="b"/>
            <a:pathLst>
              <a:path w="19050" h="918716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904163"/>
                </a:lnTo>
                <a:lnTo>
                  <a:pt x="16669" y="901907"/>
                </a:lnTo>
                <a:lnTo>
                  <a:pt x="14288" y="899367"/>
                </a:lnTo>
                <a:lnTo>
                  <a:pt x="11906" y="896482"/>
                </a:lnTo>
                <a:lnTo>
                  <a:pt x="9525" y="893157"/>
                </a:lnTo>
                <a:lnTo>
                  <a:pt x="7144" y="889234"/>
                </a:lnTo>
                <a:lnTo>
                  <a:pt x="4763" y="884406"/>
                </a:lnTo>
                <a:lnTo>
                  <a:pt x="2381" y="877891"/>
                </a:lnTo>
                <a:lnTo>
                  <a:pt x="0" y="861566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7568" y="3087151"/>
            <a:ext cx="132588" cy="132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14814" y="3078212"/>
            <a:ext cx="86112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Why This Matters</a:t>
            </a:r>
            <a:endParaRPr lang="en-US" sz="790" dirty="0"/>
          </a:p>
        </p:txBody>
      </p:sp>
      <p:sp>
        <p:nvSpPr>
          <p:cNvPr id="18" name="Text 12"/>
          <p:cNvSpPr/>
          <p:nvPr/>
        </p:nvSpPr>
        <p:spPr>
          <a:xfrm>
            <a:off x="5250061" y="3285827"/>
            <a:ext cx="3407712" cy="486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6"/>
              </a:lnSpc>
              <a:buNone/>
            </a:pPr>
            <a:r>
              <a:rPr lang="en-US" sz="7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testing, which </a:t>
            </a:r>
            <a:pPr algn="l" indent="0" marL="0">
              <a:lnSpc>
                <a:spcPts val="1216"/>
              </a:lnSpc>
              <a:buNone/>
            </a:pPr>
            <a:r>
              <a:rPr lang="en-US" sz="76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pPr algn="l" indent="0" marL="0">
              <a:lnSpc>
                <a:spcPts val="1216"/>
              </a:lnSpc>
              <a:buNone/>
            </a:pPr>
            <a:r>
              <a:rPr lang="en-US" sz="7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paths, TLC model checking explores the </a:t>
            </a:r>
            <a:pPr algn="l" indent="0" marL="0">
              <a:lnSpc>
                <a:spcPts val="1216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reachable state space</a:t>
            </a:r>
            <a:pPr algn="l" indent="0" marL="0">
              <a:lnSpc>
                <a:spcPts val="1216"/>
              </a:lnSpc>
              <a:buNone/>
            </a:pPr>
            <a:r>
              <a:rPr lang="en-US" sz="7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96 paths = </a:t>
            </a:r>
            <a:pPr algn="l" indent="0" marL="0">
              <a:lnSpc>
                <a:spcPts val="1216"/>
              </a:lnSpc>
              <a:buNone/>
            </a:pPr>
            <a:r>
              <a:rPr lang="en-US" sz="76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coverage</a:t>
            </a:r>
            <a:pPr algn="l" indent="0" marL="0">
              <a:lnSpc>
                <a:spcPts val="1216"/>
              </a:lnSpc>
              <a:buNone/>
            </a:pPr>
            <a:r>
              <a:rPr lang="en-US" sz="7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MFCS control surface. This is not sampling — this is the complete territory.</a:t>
            </a:r>
            <a:endParaRPr lang="en-US" sz="76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64109" y="4836402"/>
            <a:ext cx="132588" cy="1325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30416" y="4843760"/>
            <a:ext cx="371247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via TLC model checker — exhaustive state-space exploration with zero counterexamples</a:t>
            </a:r>
            <a:endParaRPr lang="en-US" sz="62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0050" y="961281"/>
            <a:ext cx="3322290" cy="278606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743920" y="990451"/>
            <a:ext cx="24720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i="1" dirty="0">
                <a:solidFill>
                  <a:srgbClr val="58A6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φ-Breath</a:t>
            </a:r>
            <a:endParaRPr lang="en-US" sz="450" dirty="0"/>
          </a:p>
        </p:txBody>
      </p:sp>
      <p:sp>
        <p:nvSpPr>
          <p:cNvPr id="23" name="Text 15"/>
          <p:cNvSpPr/>
          <p:nvPr/>
        </p:nvSpPr>
        <p:spPr>
          <a:xfrm>
            <a:off x="4471541" y="1975991"/>
            <a:ext cx="24720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i="1" dirty="0">
                <a:solidFill>
                  <a:srgbClr val="58A6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φ-Breath</a:t>
            </a:r>
            <a:endParaRPr lang="en-US" sz="450" dirty="0"/>
          </a:p>
        </p:txBody>
      </p:sp>
      <p:sp>
        <p:nvSpPr>
          <p:cNvPr id="24" name="Text 16"/>
          <p:cNvSpPr/>
          <p:nvPr/>
        </p:nvSpPr>
        <p:spPr>
          <a:xfrm>
            <a:off x="1956941" y="2689622"/>
            <a:ext cx="24720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i="1" dirty="0">
                <a:solidFill>
                  <a:srgbClr val="58A6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φ-Breath</a:t>
            </a:r>
            <a:endParaRPr lang="en-US" sz="450" dirty="0"/>
          </a:p>
        </p:txBody>
      </p:sp>
      <p:sp>
        <p:nvSpPr>
          <p:cNvPr id="25" name="Text 17"/>
          <p:cNvSpPr/>
          <p:nvPr/>
        </p:nvSpPr>
        <p:spPr>
          <a:xfrm>
            <a:off x="857250" y="1132731"/>
            <a:ext cx="514350" cy="565785"/>
          </a:xfrm>
          <a:prstGeom prst="ellipse">
            <a:avLst/>
          </a:prstGeom>
          <a:solidFill>
            <a:srgbClr val="1A2332"/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br/>
            <a:pPr algn="ctr" indent="0" marL="0">
              <a:buNone/>
            </a:pPr>
            <a:r>
              <a:rPr lang="en-US" sz="5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560" dirty="0"/>
          </a:p>
        </p:txBody>
      </p:sp>
      <p:sp>
        <p:nvSpPr>
          <p:cNvPr id="26" name="Text 18"/>
          <p:cNvSpPr/>
          <p:nvPr/>
        </p:nvSpPr>
        <p:spPr>
          <a:xfrm>
            <a:off x="1929110" y="1132731"/>
            <a:ext cx="514350" cy="565785"/>
          </a:xfrm>
          <a:prstGeom prst="ellipse">
            <a:avLst/>
          </a:prstGeom>
          <a:solidFill>
            <a:srgbClr val="1A2332"/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br/>
            <a:pPr algn="ctr" indent="0" marL="0">
              <a:buNone/>
            </a:pPr>
            <a:r>
              <a:rPr lang="en-US" sz="5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560" dirty="0"/>
          </a:p>
        </p:txBody>
      </p:sp>
      <p:sp>
        <p:nvSpPr>
          <p:cNvPr id="27" name="Text 19"/>
          <p:cNvSpPr/>
          <p:nvPr/>
        </p:nvSpPr>
        <p:spPr>
          <a:xfrm>
            <a:off x="3143250" y="1132731"/>
            <a:ext cx="514350" cy="565785"/>
          </a:xfrm>
          <a:prstGeom prst="ellipse">
            <a:avLst/>
          </a:prstGeom>
          <a:solidFill>
            <a:srgbClr val="1A2332"/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br/>
            <a:pPr algn="ctr" indent="0" marL="0">
              <a:buNone/>
            </a:pPr>
            <a:r>
              <a:rPr lang="en-US" sz="5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560" dirty="0"/>
          </a:p>
        </p:txBody>
      </p:sp>
      <p:sp>
        <p:nvSpPr>
          <p:cNvPr id="28" name="Text 20"/>
          <p:cNvSpPr/>
          <p:nvPr/>
        </p:nvSpPr>
        <p:spPr>
          <a:xfrm>
            <a:off x="3858220" y="1989981"/>
            <a:ext cx="514350" cy="565785"/>
          </a:xfrm>
          <a:prstGeom prst="ellipse">
            <a:avLst/>
          </a:prstGeom>
          <a:solidFill>
            <a:srgbClr val="1A2332"/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br/>
            <a:pPr algn="ctr" indent="0" marL="0">
              <a:buNone/>
            </a:pPr>
            <a:r>
              <a:rPr lang="en-US" sz="5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560" dirty="0"/>
          </a:p>
        </p:txBody>
      </p:sp>
      <p:sp>
        <p:nvSpPr>
          <p:cNvPr id="29" name="Text 21"/>
          <p:cNvSpPr/>
          <p:nvPr/>
        </p:nvSpPr>
        <p:spPr>
          <a:xfrm>
            <a:off x="3143250" y="2847231"/>
            <a:ext cx="514350" cy="565785"/>
          </a:xfrm>
          <a:prstGeom prst="ellipse">
            <a:avLst/>
          </a:prstGeom>
          <a:solidFill>
            <a:srgbClr val="1A2332"/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br/>
            <a:pPr algn="ctr" indent="0" marL="0">
              <a:buNone/>
            </a:pPr>
            <a:r>
              <a:rPr lang="en-US" sz="5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560" dirty="0"/>
          </a:p>
        </p:txBody>
      </p:sp>
      <p:sp>
        <p:nvSpPr>
          <p:cNvPr id="30" name="Text 22"/>
          <p:cNvSpPr/>
          <p:nvPr/>
        </p:nvSpPr>
        <p:spPr>
          <a:xfrm>
            <a:off x="1929110" y="2847231"/>
            <a:ext cx="514350" cy="565785"/>
          </a:xfrm>
          <a:prstGeom prst="ellipse">
            <a:avLst/>
          </a:prstGeom>
          <a:solidFill>
            <a:srgbClr val="1A2332"/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br/>
            <a:pPr algn="ctr" indent="0" marL="0">
              <a:buNone/>
            </a:pPr>
            <a:r>
              <a:rPr lang="en-US" sz="5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</a:t>
            </a:r>
            <a:endParaRPr lang="en-US" sz="560" dirty="0"/>
          </a:p>
        </p:txBody>
      </p:sp>
      <p:sp>
        <p:nvSpPr>
          <p:cNvPr id="31" name="Text 23"/>
          <p:cNvSpPr/>
          <p:nvPr/>
        </p:nvSpPr>
        <p:spPr>
          <a:xfrm>
            <a:off x="857250" y="2847231"/>
            <a:ext cx="514350" cy="565785"/>
          </a:xfrm>
          <a:prstGeom prst="ellipse">
            <a:avLst/>
          </a:prstGeom>
          <a:solidFill>
            <a:srgbClr val="1A2332"/>
          </a:solidFill>
          <a:ln w="9525">
            <a:solidFill>
              <a:srgbClr val="3FB950"/>
            </a:solidFill>
          </a:ln>
          <a:effectLst>
            <a:outerShdw sx="100000" sy="100000" kx="0" ky="0" algn="bl" rotWithShape="0" blurRad="143510" dist="50800" dir="16200000">
              <a:srgbClr val="3fb950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br/>
            <a:pPr algn="ctr" indent="0" marL="0">
              <a:buNone/>
            </a:pPr>
            <a:r>
              <a:rPr lang="en-US" sz="5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560" dirty="0"/>
          </a:p>
        </p:txBody>
      </p:sp>
      <p:sp>
        <p:nvSpPr>
          <p:cNvPr id="32" name="Text 24"/>
          <p:cNvSpPr/>
          <p:nvPr/>
        </p:nvSpPr>
        <p:spPr>
          <a:xfrm>
            <a:off x="1343620" y="1962001"/>
            <a:ext cx="413891" cy="455280"/>
          </a:xfrm>
          <a:prstGeom prst="ellipse">
            <a:avLst/>
          </a:prstGeom>
          <a:solidFill>
            <a:srgbClr val="1A2332">
              <a:alpha val="80000"/>
            </a:srgbClr>
          </a:solidFill>
          <a:ln w="9525">
            <a:solidFill>
              <a:srgbClr val="58A6FF">
                <a:alpha val="40000"/>
              </a:srgbClr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CISetup</a:t>
            </a:r>
            <a:endParaRPr lang="en-US" sz="510" dirty="0"/>
          </a:p>
        </p:txBody>
      </p:sp>
      <p:sp>
        <p:nvSpPr>
          <p:cNvPr id="33" name="Text 25"/>
          <p:cNvSpPr/>
          <p:nvPr/>
        </p:nvSpPr>
        <p:spPr>
          <a:xfrm>
            <a:off x="2600920" y="1962001"/>
            <a:ext cx="413891" cy="455280"/>
          </a:xfrm>
          <a:prstGeom prst="ellipse">
            <a:avLst/>
          </a:prstGeom>
          <a:solidFill>
            <a:srgbClr val="1A2332">
              <a:alpha val="80000"/>
            </a:srgbClr>
          </a:solidFill>
          <a:ln w="9525">
            <a:solidFill>
              <a:srgbClr val="58A6FF">
                <a:alpha val="40000"/>
              </a:srgbClr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ArisInherit</a:t>
            </a:r>
            <a:endParaRPr lang="en-US" sz="510" dirty="0"/>
          </a:p>
        </p:txBody>
      </p:sp>
      <p:sp>
        <p:nvSpPr>
          <p:cNvPr id="34" name="Text 26"/>
          <p:cNvSpPr/>
          <p:nvPr/>
        </p:nvSpPr>
        <p:spPr>
          <a:xfrm>
            <a:off x="400050" y="4615755"/>
            <a:ext cx="171450" cy="13841"/>
          </a:xfrm>
          <a:prstGeom prst="rect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614660" y="4569321"/>
            <a:ext cx="42957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flow</a:t>
            </a:r>
            <a:endParaRPr lang="en-US" sz="560" dirty="0"/>
          </a:p>
        </p:txBody>
      </p:sp>
      <p:sp>
        <p:nvSpPr>
          <p:cNvPr id="36" name="Text 28"/>
          <p:cNvSpPr/>
          <p:nvPr/>
        </p:nvSpPr>
        <p:spPr>
          <a:xfrm>
            <a:off x="1148655" y="4617839"/>
            <a:ext cx="171450" cy="9525"/>
          </a:xfrm>
          <a:prstGeom prst="rect">
            <a:avLst/>
          </a:prstGeom>
          <a:solidFill>
            <a:srgbClr val="58A6FF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1363266" y="4569321"/>
            <a:ext cx="55137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branch</a:t>
            </a:r>
            <a:endParaRPr lang="en-US" sz="56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79274" y="4556382"/>
            <a:ext cx="132588" cy="13258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2126307" y="4569321"/>
            <a:ext cx="50635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φ-Breath cycle</a:t>
            </a:r>
            <a:endParaRPr lang="en-US" sz="560" dirty="0"/>
          </a:p>
        </p:txBody>
      </p:sp>
      <p:sp>
        <p:nvSpPr>
          <p:cNvPr id="40" name="Text 31"/>
          <p:cNvSpPr/>
          <p:nvPr/>
        </p:nvSpPr>
        <p:spPr>
          <a:xfrm>
            <a:off x="2114550" y="1946672"/>
            <a:ext cx="786110" cy="786110"/>
          </a:xfrm>
          <a:prstGeom prst="ellipse">
            <a:avLst/>
          </a:prstGeom>
          <a:gradFill rotWithShape="1">
            <a:gsLst>
              <a:gs pos="0">
                <a:srgbClr val="58A6FF">
                  <a:alpha val="12000"/>
                </a:srgbClr>
              </a:gs>
              <a:gs pos="70000">
                <a:srgbClr val="0F1419">
                  <a:alpha val="95000"/>
                </a:srgbClr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58A6FF">
                <a:alpha val="5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2"/>
          <p:cNvSpPr/>
          <p:nvPr/>
        </p:nvSpPr>
        <p:spPr>
          <a:xfrm>
            <a:off x="2357735" y="2136428"/>
            <a:ext cx="320562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36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96</a:t>
            </a:r>
            <a:endParaRPr lang="en-US" sz="2360" dirty="0"/>
          </a:p>
        </p:txBody>
      </p:sp>
      <p:sp>
        <p:nvSpPr>
          <p:cNvPr id="42" name="Text 33"/>
          <p:cNvSpPr/>
          <p:nvPr/>
        </p:nvSpPr>
        <p:spPr>
          <a:xfrm>
            <a:off x="2369046" y="2436168"/>
            <a:ext cx="30466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</a:t>
            </a:r>
            <a:endParaRPr lang="en-US" sz="5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28875" y="428625"/>
            <a:ext cx="4286250" cy="4286250"/>
          </a:xfrm>
          <a:prstGeom prst="ellipse">
            <a:avLst/>
          </a:prstGeom>
          <a:gradFill rotWithShape="1">
            <a:gsLst>
              <a:gs pos="0">
                <a:srgbClr val="58A6FF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alphaModFix amt="12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50" y="285750"/>
            <a:ext cx="571500" cy="5715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5">
            <a:alphaModFix amt="12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6750" y="4286250"/>
            <a:ext cx="571500" cy="5715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0" y="285750"/>
            <a:ext cx="161369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55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ARCHITECTURE</a:t>
            </a:r>
            <a:endParaRPr lang="en-US" sz="620" dirty="0"/>
          </a:p>
        </p:txBody>
      </p:sp>
      <p:sp>
        <p:nvSpPr>
          <p:cNvPr id="7" name="Text 2"/>
          <p:cNvSpPr/>
          <p:nvPr/>
        </p:nvSpPr>
        <p:spPr>
          <a:xfrm>
            <a:off x="1676326" y="1064568"/>
            <a:ext cx="579134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375"/>
              </a:lnSpc>
              <a:buNone/>
            </a:pPr>
            <a:r>
              <a:rPr lang="en-US" sz="6750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"</a:t>
            </a:r>
            <a:endParaRPr lang="en-US" sz="6750" dirty="0"/>
          </a:p>
        </p:txBody>
      </p:sp>
      <p:sp>
        <p:nvSpPr>
          <p:cNvPr id="8" name="Text 3"/>
          <p:cNvSpPr/>
          <p:nvPr/>
        </p:nvSpPr>
        <p:spPr>
          <a:xfrm>
            <a:off x="1759059" y="1422202"/>
            <a:ext cx="5625882" cy="104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20"/>
              </a:lnSpc>
              <a:buNone/>
            </a:pPr>
            <a:r>
              <a:rPr lang="en-US" sz="1690" i="1" spc="17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A system that breathes carries its own verification, its own proofs, its own identity. The artifact is not a delivery — it is a living mirror.</a:t>
            </a:r>
            <a:endParaRPr lang="en-US" sz="1690" dirty="0"/>
          </a:p>
        </p:txBody>
      </p:sp>
      <p:sp>
        <p:nvSpPr>
          <p:cNvPr id="9" name="Text 4"/>
          <p:cNvSpPr/>
          <p:nvPr/>
        </p:nvSpPr>
        <p:spPr>
          <a:xfrm>
            <a:off x="3169295" y="2693789"/>
            <a:ext cx="34290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8A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3531952" y="2620714"/>
            <a:ext cx="207994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MFCS DESIGN PHILOSOPHY</a:t>
            </a:r>
            <a:endParaRPr lang="en-US" sz="840" dirty="0"/>
          </a:p>
        </p:txBody>
      </p:sp>
      <p:sp>
        <p:nvSpPr>
          <p:cNvPr id="11" name="Text 6"/>
          <p:cNvSpPr/>
          <p:nvPr/>
        </p:nvSpPr>
        <p:spPr>
          <a:xfrm>
            <a:off x="5631656" y="2693789"/>
            <a:ext cx="34290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8A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4071640" y="3038475"/>
            <a:ext cx="100072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8A6FF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1948815" y="3274665"/>
            <a:ext cx="5246370" cy="844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84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MFCS, </a:t>
            </a:r>
            <a:pPr algn="ctr" indent="0" marL="0">
              <a:lnSpc>
                <a:spcPts val="1584"/>
              </a:lnSpc>
              <a:buNone/>
            </a:pPr>
            <a:r>
              <a:rPr lang="en-US" sz="960" dirty="0">
                <a:solidFill>
                  <a:srgbClr val="A3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Guardians</a:t>
            </a:r>
            <a:pPr algn="ctr" indent="0" marL="0">
              <a:lnSpc>
                <a:spcPts val="1584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named sentinels like Aris — serve as structural validators that carry lineage and meaning across every artifact. </a:t>
            </a:r>
            <a:pPr algn="ctr" indent="0" marL="0">
              <a:lnSpc>
                <a:spcPts val="1584"/>
              </a:lnSpc>
              <a:buNone/>
            </a:pPr>
            <a:r>
              <a:rPr lang="en-US" sz="960" dirty="0">
                <a:solidFill>
                  <a:srgbClr val="A3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invocation</a:t>
            </a:r>
            <a:pPr algn="ctr" indent="0" marL="0">
              <a:lnSpc>
                <a:spcPts val="1584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woven into the system's opening rituals, honoring cultural identity while anchoring creative ceremony to technical discipline. The result is an architecture where rigor and reverence are inseparable.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85750"/>
            <a:ext cx="91782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spc="140" kern="0" dirty="0">
                <a:solidFill>
                  <a:srgbClr val="58A6FF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FORMAL SPECIFICATION DEEP DIVE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00050" y="458391"/>
            <a:ext cx="8927973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35"/>
              </a:lnSpc>
              <a:spcBef>
                <a:spcPts val="340"/>
              </a:spcBef>
              <a:buNone/>
            </a:pPr>
            <a:r>
              <a:rPr lang="en-US" sz="2030" spc="-3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Under the Hood — </a:t>
            </a:r>
            <a:pPr algn="l" indent="0" marL="0">
              <a:lnSpc>
                <a:spcPts val="2335"/>
              </a:lnSpc>
              <a:spcBef>
                <a:spcPts val="340"/>
              </a:spcBef>
              <a:buNone/>
            </a:pPr>
            <a:r>
              <a:rPr lang="en-US" sz="2030" b="1" spc="-30" kern="0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TLA+</a:t>
            </a:r>
            <a:pPr algn="l" indent="0" marL="0">
              <a:lnSpc>
                <a:spcPts val="2335"/>
              </a:lnSpc>
              <a:spcBef>
                <a:spcPts val="340"/>
              </a:spcBef>
              <a:buNone/>
            </a:pPr>
            <a:r>
              <a:rPr lang="en-US" sz="2030" spc="-3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 State Variables &amp; Invariants</a:t>
            </a:r>
            <a:endParaRPr lang="en-US" sz="2030" dirty="0"/>
          </a:p>
        </p:txBody>
      </p:sp>
      <p:sp>
        <p:nvSpPr>
          <p:cNvPr id="4" name="Text 2"/>
          <p:cNvSpPr/>
          <p:nvPr/>
        </p:nvSpPr>
        <p:spPr>
          <a:xfrm>
            <a:off x="400050" y="926157"/>
            <a:ext cx="3996630" cy="3736181"/>
          </a:xfrm>
          <a:prstGeom prst="roundRect">
            <a:avLst>
              <a:gd name="adj" fmla="val 2311"/>
            </a:avLst>
          </a:prstGeom>
          <a:solidFill>
            <a:srgbClr val="1A2332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1025" y="1451223"/>
            <a:ext cx="3634680" cy="9525"/>
          </a:xfrm>
          <a:prstGeom prst="rect">
            <a:avLst/>
          </a:prstGeom>
          <a:solidFill>
            <a:srgbClr val="58A6FF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1025" y="113630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79C0FF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957" y="1184234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0616" y="1154311"/>
            <a:ext cx="1279892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spc="3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STATE VARIABLES</a:t>
            </a:r>
            <a:endParaRPr lang="en-US" sz="1010" dirty="0"/>
          </a:p>
        </p:txBody>
      </p:sp>
      <p:sp>
        <p:nvSpPr>
          <p:cNvPr id="9" name="Text 6"/>
          <p:cNvSpPr/>
          <p:nvPr/>
        </p:nvSpPr>
        <p:spPr>
          <a:xfrm>
            <a:off x="581025" y="2056656"/>
            <a:ext cx="3634680" cy="9525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81025" y="1667619"/>
            <a:ext cx="43160" cy="43160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5176" y="1624459"/>
            <a:ext cx="14994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ActionState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enum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95176" y="1866900"/>
            <a:ext cx="1499428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B1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actions + </a:t>
            </a:r>
            <a:pPr algn="l" indent="0" marL="0">
              <a:lnSpc>
                <a:spcPts val="1022"/>
              </a:lnSpc>
              <a:buNone/>
            </a:pPr>
            <a:r>
              <a:rPr lang="en-US" sz="79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B1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algn="l" indent="0" marL="0">
              <a:lnSpc>
                <a:spcPts val="1022"/>
              </a:lnSpc>
              <a:buNone/>
            </a:pPr>
            <a:r>
              <a:rPr lang="en-US" sz="79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730" dirty="0"/>
          </a:p>
        </p:txBody>
      </p:sp>
      <p:sp>
        <p:nvSpPr>
          <p:cNvPr id="13" name="Text 10"/>
          <p:cNvSpPr/>
          <p:nvPr/>
        </p:nvSpPr>
        <p:spPr>
          <a:xfrm>
            <a:off x="581025" y="2537222"/>
            <a:ext cx="3634680" cy="9525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81025" y="2158752"/>
            <a:ext cx="43160" cy="43160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95176" y="2115592"/>
            <a:ext cx="16716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PhaseGuard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bitmap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5176" y="2358033"/>
            <a:ext cx="1671652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B1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completed phases as bit flags</a:t>
            </a:r>
            <a:endParaRPr lang="en-US" sz="730" dirty="0"/>
          </a:p>
        </p:txBody>
      </p:sp>
      <p:sp>
        <p:nvSpPr>
          <p:cNvPr id="17" name="Text 14"/>
          <p:cNvSpPr/>
          <p:nvPr/>
        </p:nvSpPr>
        <p:spPr>
          <a:xfrm>
            <a:off x="581025" y="3017788"/>
            <a:ext cx="3634680" cy="9525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81025" y="2639318"/>
            <a:ext cx="43160" cy="43160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95176" y="2596158"/>
            <a:ext cx="1946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ArtifactManifest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set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95176" y="2838599"/>
            <a:ext cx="194685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B1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⟨filename, checksum⟩ pairs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581025" y="3498354"/>
            <a:ext cx="3634680" cy="9525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81025" y="3119884"/>
            <a:ext cx="43160" cy="43160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95176" y="3076724"/>
            <a:ext cx="23199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AccessibilityFlags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record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95176" y="3319165"/>
            <a:ext cx="2319948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B1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· alt-text · font-embed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581025" y="3600450"/>
            <a:ext cx="43160" cy="43160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95176" y="3557290"/>
            <a:ext cx="19294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GuardianState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symbolic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95176" y="3799731"/>
            <a:ext cx="192949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B1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guardian activation tracking</a:t>
            </a:r>
            <a:endParaRPr lang="en-US" sz="730" dirty="0"/>
          </a:p>
        </p:txBody>
      </p:sp>
      <p:sp>
        <p:nvSpPr>
          <p:cNvPr id="28" name="Text 25"/>
          <p:cNvSpPr/>
          <p:nvPr/>
        </p:nvSpPr>
        <p:spPr>
          <a:xfrm>
            <a:off x="4568130" y="926157"/>
            <a:ext cx="7590" cy="373618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58A6FF">
                  <a:alpha val="30000"/>
                </a:srgbClr>
              </a:gs>
              <a:gs pos="66667">
                <a:srgbClr val="58A6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747171" y="926157"/>
            <a:ext cx="3996779" cy="3736181"/>
          </a:xfrm>
          <a:prstGeom prst="roundRect">
            <a:avLst>
              <a:gd name="adj" fmla="val 2311"/>
            </a:avLst>
          </a:prstGeom>
          <a:solidFill>
            <a:srgbClr val="1A2332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28146" y="1451223"/>
            <a:ext cx="3634829" cy="9525"/>
          </a:xfrm>
          <a:prstGeom prst="rect">
            <a:avLst/>
          </a:prstGeom>
          <a:solidFill>
            <a:srgbClr val="58A6FF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28146" y="113630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3FB950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6077" y="1184234"/>
            <a:ext cx="132588" cy="13258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27737" y="1154311"/>
            <a:ext cx="1578828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spc="3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VERIFIED PROPERTIES</a:t>
            </a:r>
            <a:endParaRPr lang="en-US" sz="1010" dirty="0"/>
          </a:p>
        </p:txBody>
      </p:sp>
      <p:sp>
        <p:nvSpPr>
          <p:cNvPr id="34" name="Text 30"/>
          <p:cNvSpPr/>
          <p:nvPr/>
        </p:nvSpPr>
        <p:spPr>
          <a:xfrm>
            <a:off x="5042446" y="1575048"/>
            <a:ext cx="387258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8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560" dirty="0"/>
          </a:p>
        </p:txBody>
      </p:sp>
      <p:sp>
        <p:nvSpPr>
          <p:cNvPr id="35" name="Text 31"/>
          <p:cNvSpPr/>
          <p:nvPr/>
        </p:nvSpPr>
        <p:spPr>
          <a:xfrm>
            <a:off x="4928146" y="2038350"/>
            <a:ext cx="3634829" cy="9525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4928146" y="1803499"/>
            <a:ext cx="43160" cy="43160"/>
          </a:xfrm>
          <a:prstGeom prst="ellipse">
            <a:avLst/>
          </a:prstGeom>
          <a:solidFill>
            <a:srgbClr val="3FB95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5042297" y="1760339"/>
            <a:ext cx="24222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CanonicalNamingInvariant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4928146" y="2499271"/>
            <a:ext cx="3634829" cy="9525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4928146" y="2140446"/>
            <a:ext cx="43160" cy="43160"/>
          </a:xfrm>
          <a:prstGeom prst="ellipse">
            <a:avLst/>
          </a:prstGeom>
          <a:solidFill>
            <a:srgbClr val="3FB95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5042297" y="2097286"/>
            <a:ext cx="262412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ManifestIntegrityInvariant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5042297" y="2339727"/>
            <a:ext cx="2624123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via SHA-256</a:t>
            </a:r>
            <a:endParaRPr lang="en-US" sz="620" dirty="0"/>
          </a:p>
        </p:txBody>
      </p:sp>
      <p:sp>
        <p:nvSpPr>
          <p:cNvPr id="42" name="Text 38"/>
          <p:cNvSpPr/>
          <p:nvPr/>
        </p:nvSpPr>
        <p:spPr>
          <a:xfrm>
            <a:off x="4928146" y="2836218"/>
            <a:ext cx="3634829" cy="9525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928146" y="2601367"/>
            <a:ext cx="43160" cy="43160"/>
          </a:xfrm>
          <a:prstGeom prst="ellipse">
            <a:avLst/>
          </a:prstGeom>
          <a:solidFill>
            <a:srgbClr val="3FB95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5042297" y="2558207"/>
            <a:ext cx="343154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AccessibilityCompletenessInvariant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4928146" y="3173164"/>
            <a:ext cx="3634829" cy="9525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4928146" y="2938314"/>
            <a:ext cx="43160" cy="43160"/>
          </a:xfrm>
          <a:prstGeom prst="ellipse">
            <a:avLst/>
          </a:prstGeom>
          <a:solidFill>
            <a:srgbClr val="3FB95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5042297" y="2895154"/>
            <a:ext cx="19177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PhaseOrderInvariant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5042446" y="3239839"/>
            <a:ext cx="387258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8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&amp; FAIRNESS</a:t>
            </a:r>
            <a:endParaRPr lang="en-US" sz="560" dirty="0"/>
          </a:p>
        </p:txBody>
      </p:sp>
      <p:sp>
        <p:nvSpPr>
          <p:cNvPr id="49" name="Text 45"/>
          <p:cNvSpPr/>
          <p:nvPr/>
        </p:nvSpPr>
        <p:spPr>
          <a:xfrm>
            <a:off x="4928146" y="3846761"/>
            <a:ext cx="3634829" cy="9525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4928146" y="3468291"/>
            <a:ext cx="43160" cy="43160"/>
          </a:xfrm>
          <a:prstGeom prst="ellipse">
            <a:avLst/>
          </a:prstGeom>
          <a:solidFill>
            <a:srgbClr val="BC8C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5042297" y="3425130"/>
            <a:ext cx="15508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Liveness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5042297" y="3667571"/>
            <a:ext cx="1550834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B1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eventually terminates</a:t>
            </a:r>
            <a:endParaRPr lang="en-US" sz="730" dirty="0"/>
          </a:p>
        </p:txBody>
      </p:sp>
      <p:sp>
        <p:nvSpPr>
          <p:cNvPr id="53" name="Text 49"/>
          <p:cNvSpPr/>
          <p:nvPr/>
        </p:nvSpPr>
        <p:spPr>
          <a:xfrm>
            <a:off x="4928146" y="4327327"/>
            <a:ext cx="3634829" cy="9525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4928146" y="3948857"/>
            <a:ext cx="43160" cy="43160"/>
          </a:xfrm>
          <a:prstGeom prst="ellipse">
            <a:avLst/>
          </a:prstGeom>
          <a:solidFill>
            <a:srgbClr val="BC8C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5042297" y="3905696"/>
            <a:ext cx="12320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Fairness</a:t>
            </a:r>
            <a:endParaRPr lang="en-US" sz="1200" dirty="0"/>
          </a:p>
        </p:txBody>
      </p:sp>
      <p:sp>
        <p:nvSpPr>
          <p:cNvPr id="56" name="Text 52"/>
          <p:cNvSpPr/>
          <p:nvPr/>
        </p:nvSpPr>
        <p:spPr>
          <a:xfrm>
            <a:off x="5042297" y="4148137"/>
            <a:ext cx="1232089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B1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suffers starvation</a:t>
            </a:r>
            <a:endParaRPr lang="en-US" sz="730" dirty="0"/>
          </a:p>
        </p:txBody>
      </p:sp>
      <p:sp>
        <p:nvSpPr>
          <p:cNvPr id="57" name="Text 53"/>
          <p:cNvSpPr/>
          <p:nvPr/>
        </p:nvSpPr>
        <p:spPr>
          <a:xfrm>
            <a:off x="4928146" y="4429423"/>
            <a:ext cx="43160" cy="43160"/>
          </a:xfrm>
          <a:prstGeom prst="ellipse">
            <a:avLst/>
          </a:prstGeom>
          <a:solidFill>
            <a:srgbClr val="BC8C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5042297" y="4386263"/>
            <a:ext cx="14264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Convergence</a:t>
            </a:r>
            <a:endParaRPr lang="en-US" sz="1200" dirty="0"/>
          </a:p>
        </p:txBody>
      </p:sp>
      <p:sp>
        <p:nvSpPr>
          <p:cNvPr id="59" name="Text 55"/>
          <p:cNvSpPr/>
          <p:nvPr/>
        </p:nvSpPr>
        <p:spPr>
          <a:xfrm>
            <a:off x="5042297" y="4628704"/>
            <a:ext cx="142641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B1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reaches quiescent state</a:t>
            </a:r>
            <a:endParaRPr lang="en-US" sz="730" dirty="0"/>
          </a:p>
        </p:txBody>
      </p:sp>
      <p:sp>
        <p:nvSpPr>
          <p:cNvPr id="60" name="Text 56"/>
          <p:cNvSpPr/>
          <p:nvPr/>
        </p:nvSpPr>
        <p:spPr>
          <a:xfrm>
            <a:off x="1899493" y="4776639"/>
            <a:ext cx="1626891" cy="195411"/>
          </a:xfrm>
          <a:prstGeom prst="roundRect">
            <a:avLst>
              <a:gd name="adj" fmla="val 22097"/>
            </a:avLst>
          </a:prstGeom>
          <a:solidFill>
            <a:srgbClr val="58A6FF">
              <a:alpha val="8000"/>
            </a:srgbClr>
          </a:solidFill>
          <a:ln w="9525">
            <a:solidFill>
              <a:srgbClr val="58A6FF">
                <a:alpha val="15000"/>
              </a:srgbClr>
            </a:solidFill>
          </a:ln>
        </p:spPr>
        <p:txBody>
          <a:bodyPr wrap="none" lIns="164961" tIns="29210" rIns="86360" bIns="2921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TLC — bounded model checking</a:t>
            </a:r>
            <a:endParaRPr lang="en-US" sz="620" dirty="0"/>
          </a:p>
        </p:txBody>
      </p:sp>
      <p:sp>
        <p:nvSpPr>
          <p:cNvPr id="61" name="Text 57"/>
          <p:cNvSpPr/>
          <p:nvPr/>
        </p:nvSpPr>
        <p:spPr>
          <a:xfrm>
            <a:off x="1995339" y="4856559"/>
            <a:ext cx="35421" cy="35421"/>
          </a:xfrm>
          <a:prstGeom prst="ellipse">
            <a:avLst/>
          </a:prstGeom>
          <a:solidFill>
            <a:srgbClr val="3FB95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3608784" y="4776639"/>
            <a:ext cx="2109478" cy="195411"/>
          </a:xfrm>
          <a:prstGeom prst="roundRect">
            <a:avLst>
              <a:gd name="adj" fmla="val 22097"/>
            </a:avLst>
          </a:prstGeom>
          <a:solidFill>
            <a:srgbClr val="58A6FF">
              <a:alpha val="8000"/>
            </a:srgbClr>
          </a:solidFill>
          <a:ln w="9525">
            <a:solidFill>
              <a:srgbClr val="58A6FF">
                <a:alpha val="15000"/>
              </a:srgbClr>
            </a:solidFill>
          </a:ln>
        </p:spPr>
        <p:txBody>
          <a:bodyPr wrap="none" lIns="164961" tIns="29210" rIns="86360" bIns="2921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TLAPS — inductive proofs (base + step)</a:t>
            </a:r>
            <a:endParaRPr lang="en-US" sz="620" dirty="0"/>
          </a:p>
        </p:txBody>
      </p:sp>
      <p:sp>
        <p:nvSpPr>
          <p:cNvPr id="63" name="Text 59"/>
          <p:cNvSpPr/>
          <p:nvPr/>
        </p:nvSpPr>
        <p:spPr>
          <a:xfrm>
            <a:off x="3704630" y="4856559"/>
            <a:ext cx="35421" cy="35421"/>
          </a:xfrm>
          <a:prstGeom prst="ellipse">
            <a:avLst/>
          </a:prstGeom>
          <a:solidFill>
            <a:srgbClr val="BC8C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0"/>
          <p:cNvSpPr/>
          <p:nvPr/>
        </p:nvSpPr>
        <p:spPr>
          <a:xfrm>
            <a:off x="5791200" y="4776639"/>
            <a:ext cx="1482221" cy="195411"/>
          </a:xfrm>
          <a:prstGeom prst="roundRect">
            <a:avLst>
              <a:gd name="adj" fmla="val 22097"/>
            </a:avLst>
          </a:prstGeom>
          <a:solidFill>
            <a:srgbClr val="58A6FF">
              <a:alpha val="8000"/>
            </a:srgbClr>
          </a:solidFill>
          <a:ln w="9525">
            <a:solidFill>
              <a:srgbClr val="58A6FF">
                <a:alpha val="15000"/>
              </a:srgbClr>
            </a:solidFill>
          </a:ln>
        </p:spPr>
        <p:txBody>
          <a:bodyPr wrap="none" lIns="164961" tIns="29210" rIns="86360" bIns="2921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MFCS Control Surface Spec</a:t>
            </a:r>
            <a:endParaRPr lang="en-US" sz="620" dirty="0"/>
          </a:p>
        </p:txBody>
      </p:sp>
      <p:sp>
        <p:nvSpPr>
          <p:cNvPr id="65" name="Text 61"/>
          <p:cNvSpPr/>
          <p:nvPr/>
        </p:nvSpPr>
        <p:spPr>
          <a:xfrm>
            <a:off x="5887045" y="4856559"/>
            <a:ext cx="35421" cy="35421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4445" y="801291"/>
            <a:ext cx="29170" cy="1261767"/>
          </a:xfrm>
          <a:custGeom>
            <a:avLst/>
            <a:gdLst/>
            <a:ahLst/>
            <a:cxnLst/>
            <a:rect l="l" t="t" r="r" b="b"/>
            <a:pathLst>
              <a:path w="29170" h="1261767">
                <a:moveTo>
                  <a:pt x="0" y="57150"/>
                </a:moveTo>
                <a:lnTo>
                  <a:pt x="3646" y="37063"/>
                </a:lnTo>
                <a:lnTo>
                  <a:pt x="7293" y="29215"/>
                </a:lnTo>
                <a:lnTo>
                  <a:pt x="10939" y="23525"/>
                </a:lnTo>
                <a:lnTo>
                  <a:pt x="14585" y="19014"/>
                </a:lnTo>
                <a:lnTo>
                  <a:pt x="18231" y="15299"/>
                </a:lnTo>
                <a:lnTo>
                  <a:pt x="21878" y="12183"/>
                </a:lnTo>
                <a:lnTo>
                  <a:pt x="25524" y="9548"/>
                </a:lnTo>
                <a:lnTo>
                  <a:pt x="29170" y="7318"/>
                </a:lnTo>
                <a:lnTo>
                  <a:pt x="29170" y="1254450"/>
                </a:lnTo>
                <a:lnTo>
                  <a:pt x="25524" y="1252219"/>
                </a:lnTo>
                <a:lnTo>
                  <a:pt x="21878" y="1249584"/>
                </a:lnTo>
                <a:lnTo>
                  <a:pt x="18231" y="1246468"/>
                </a:lnTo>
                <a:lnTo>
                  <a:pt x="14585" y="1242753"/>
                </a:lnTo>
                <a:lnTo>
                  <a:pt x="10939" y="1238242"/>
                </a:lnTo>
                <a:lnTo>
                  <a:pt x="7293" y="1232552"/>
                </a:lnTo>
                <a:lnTo>
                  <a:pt x="3646" y="1224704"/>
                </a:lnTo>
                <a:lnTo>
                  <a:pt x="0" y="1204617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10100" y="801291"/>
            <a:ext cx="29170" cy="1261767"/>
          </a:xfrm>
          <a:custGeom>
            <a:avLst/>
            <a:gdLst/>
            <a:ahLst/>
            <a:cxnLst/>
            <a:rect l="l" t="t" r="r" b="b"/>
            <a:pathLst>
              <a:path w="29170" h="1261767">
                <a:moveTo>
                  <a:pt x="0" y="57150"/>
                </a:moveTo>
                <a:lnTo>
                  <a:pt x="3646" y="37063"/>
                </a:lnTo>
                <a:lnTo>
                  <a:pt x="7293" y="29215"/>
                </a:lnTo>
                <a:lnTo>
                  <a:pt x="10939" y="23525"/>
                </a:lnTo>
                <a:lnTo>
                  <a:pt x="14585" y="19014"/>
                </a:lnTo>
                <a:lnTo>
                  <a:pt x="18231" y="15299"/>
                </a:lnTo>
                <a:lnTo>
                  <a:pt x="21878" y="12183"/>
                </a:lnTo>
                <a:lnTo>
                  <a:pt x="25524" y="9548"/>
                </a:lnTo>
                <a:lnTo>
                  <a:pt x="29170" y="7318"/>
                </a:lnTo>
                <a:lnTo>
                  <a:pt x="29170" y="1254450"/>
                </a:lnTo>
                <a:lnTo>
                  <a:pt x="25524" y="1252219"/>
                </a:lnTo>
                <a:lnTo>
                  <a:pt x="21878" y="1249584"/>
                </a:lnTo>
                <a:lnTo>
                  <a:pt x="18231" y="1246468"/>
                </a:lnTo>
                <a:lnTo>
                  <a:pt x="14585" y="1242753"/>
                </a:lnTo>
                <a:lnTo>
                  <a:pt x="10939" y="1238242"/>
                </a:lnTo>
                <a:lnTo>
                  <a:pt x="7293" y="1232552"/>
                </a:lnTo>
                <a:lnTo>
                  <a:pt x="3646" y="1224704"/>
                </a:lnTo>
                <a:lnTo>
                  <a:pt x="0" y="1204617"/>
                </a:lnTo>
                <a:close/>
              </a:path>
            </a:pathLst>
          </a:custGeom>
          <a:solidFill>
            <a:srgbClr val="3FB95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4445" y="2139255"/>
            <a:ext cx="29170" cy="1261767"/>
          </a:xfrm>
          <a:custGeom>
            <a:avLst/>
            <a:gdLst/>
            <a:ahLst/>
            <a:cxnLst/>
            <a:rect l="l" t="t" r="r" b="b"/>
            <a:pathLst>
              <a:path w="29170" h="1261767">
                <a:moveTo>
                  <a:pt x="0" y="57150"/>
                </a:moveTo>
                <a:lnTo>
                  <a:pt x="3646" y="37063"/>
                </a:lnTo>
                <a:lnTo>
                  <a:pt x="7293" y="29215"/>
                </a:lnTo>
                <a:lnTo>
                  <a:pt x="10939" y="23525"/>
                </a:lnTo>
                <a:lnTo>
                  <a:pt x="14585" y="19014"/>
                </a:lnTo>
                <a:lnTo>
                  <a:pt x="18231" y="15299"/>
                </a:lnTo>
                <a:lnTo>
                  <a:pt x="21878" y="12183"/>
                </a:lnTo>
                <a:lnTo>
                  <a:pt x="25524" y="9548"/>
                </a:lnTo>
                <a:lnTo>
                  <a:pt x="29170" y="7318"/>
                </a:lnTo>
                <a:lnTo>
                  <a:pt x="29170" y="1254450"/>
                </a:lnTo>
                <a:lnTo>
                  <a:pt x="25524" y="1252219"/>
                </a:lnTo>
                <a:lnTo>
                  <a:pt x="21878" y="1249584"/>
                </a:lnTo>
                <a:lnTo>
                  <a:pt x="18231" y="1246468"/>
                </a:lnTo>
                <a:lnTo>
                  <a:pt x="14585" y="1242753"/>
                </a:lnTo>
                <a:lnTo>
                  <a:pt x="10939" y="1238242"/>
                </a:lnTo>
                <a:lnTo>
                  <a:pt x="7293" y="1232552"/>
                </a:lnTo>
                <a:lnTo>
                  <a:pt x="3646" y="1224704"/>
                </a:lnTo>
                <a:lnTo>
                  <a:pt x="0" y="1204617"/>
                </a:lnTo>
                <a:close/>
              </a:path>
            </a:pathLst>
          </a:custGeom>
          <a:solidFill>
            <a:srgbClr val="D2A8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10100" y="2139255"/>
            <a:ext cx="29170" cy="1261767"/>
          </a:xfrm>
          <a:custGeom>
            <a:avLst/>
            <a:gdLst/>
            <a:ahLst/>
            <a:cxnLst/>
            <a:rect l="l" t="t" r="r" b="b"/>
            <a:pathLst>
              <a:path w="29170" h="1261767">
                <a:moveTo>
                  <a:pt x="0" y="57150"/>
                </a:moveTo>
                <a:lnTo>
                  <a:pt x="3646" y="37063"/>
                </a:lnTo>
                <a:lnTo>
                  <a:pt x="7293" y="29215"/>
                </a:lnTo>
                <a:lnTo>
                  <a:pt x="10939" y="23525"/>
                </a:lnTo>
                <a:lnTo>
                  <a:pt x="14585" y="19014"/>
                </a:lnTo>
                <a:lnTo>
                  <a:pt x="18231" y="15299"/>
                </a:lnTo>
                <a:lnTo>
                  <a:pt x="21878" y="12183"/>
                </a:lnTo>
                <a:lnTo>
                  <a:pt x="25524" y="9548"/>
                </a:lnTo>
                <a:lnTo>
                  <a:pt x="29170" y="7318"/>
                </a:lnTo>
                <a:lnTo>
                  <a:pt x="29170" y="1254450"/>
                </a:lnTo>
                <a:lnTo>
                  <a:pt x="25524" y="1252219"/>
                </a:lnTo>
                <a:lnTo>
                  <a:pt x="21878" y="1249584"/>
                </a:lnTo>
                <a:lnTo>
                  <a:pt x="18231" y="1246468"/>
                </a:lnTo>
                <a:lnTo>
                  <a:pt x="14585" y="1242753"/>
                </a:lnTo>
                <a:lnTo>
                  <a:pt x="10939" y="1238242"/>
                </a:lnTo>
                <a:lnTo>
                  <a:pt x="7293" y="1232552"/>
                </a:lnTo>
                <a:lnTo>
                  <a:pt x="3646" y="1224704"/>
                </a:lnTo>
                <a:lnTo>
                  <a:pt x="0" y="1204617"/>
                </a:lnTo>
                <a:close/>
              </a:path>
            </a:pathLst>
          </a:custGeom>
          <a:solidFill>
            <a:srgbClr val="F0883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4445" y="3477220"/>
            <a:ext cx="29170" cy="1261767"/>
          </a:xfrm>
          <a:custGeom>
            <a:avLst/>
            <a:gdLst/>
            <a:ahLst/>
            <a:cxnLst/>
            <a:rect l="l" t="t" r="r" b="b"/>
            <a:pathLst>
              <a:path w="29170" h="1261767">
                <a:moveTo>
                  <a:pt x="0" y="57150"/>
                </a:moveTo>
                <a:lnTo>
                  <a:pt x="3646" y="37063"/>
                </a:lnTo>
                <a:lnTo>
                  <a:pt x="7293" y="29215"/>
                </a:lnTo>
                <a:lnTo>
                  <a:pt x="10939" y="23525"/>
                </a:lnTo>
                <a:lnTo>
                  <a:pt x="14585" y="19014"/>
                </a:lnTo>
                <a:lnTo>
                  <a:pt x="18231" y="15299"/>
                </a:lnTo>
                <a:lnTo>
                  <a:pt x="21878" y="12183"/>
                </a:lnTo>
                <a:lnTo>
                  <a:pt x="25524" y="9548"/>
                </a:lnTo>
                <a:lnTo>
                  <a:pt x="29170" y="7318"/>
                </a:lnTo>
                <a:lnTo>
                  <a:pt x="29170" y="1254450"/>
                </a:lnTo>
                <a:lnTo>
                  <a:pt x="25524" y="1252219"/>
                </a:lnTo>
                <a:lnTo>
                  <a:pt x="21878" y="1249584"/>
                </a:lnTo>
                <a:lnTo>
                  <a:pt x="18231" y="1246468"/>
                </a:lnTo>
                <a:lnTo>
                  <a:pt x="14585" y="1242753"/>
                </a:lnTo>
                <a:lnTo>
                  <a:pt x="10939" y="1238242"/>
                </a:lnTo>
                <a:lnTo>
                  <a:pt x="7293" y="1232552"/>
                </a:lnTo>
                <a:lnTo>
                  <a:pt x="3646" y="1224704"/>
                </a:lnTo>
                <a:lnTo>
                  <a:pt x="0" y="1204617"/>
                </a:lnTo>
                <a:close/>
              </a:path>
            </a:pathLst>
          </a:custGeom>
          <a:solidFill>
            <a:srgbClr val="79C0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10100" y="3477220"/>
            <a:ext cx="29170" cy="1261767"/>
          </a:xfrm>
          <a:custGeom>
            <a:avLst/>
            <a:gdLst/>
            <a:ahLst/>
            <a:cxnLst/>
            <a:rect l="l" t="t" r="r" b="b"/>
            <a:pathLst>
              <a:path w="29170" h="1261767">
                <a:moveTo>
                  <a:pt x="0" y="57150"/>
                </a:moveTo>
                <a:lnTo>
                  <a:pt x="3646" y="37063"/>
                </a:lnTo>
                <a:lnTo>
                  <a:pt x="7293" y="29215"/>
                </a:lnTo>
                <a:lnTo>
                  <a:pt x="10939" y="23525"/>
                </a:lnTo>
                <a:lnTo>
                  <a:pt x="14585" y="19014"/>
                </a:lnTo>
                <a:lnTo>
                  <a:pt x="18231" y="15299"/>
                </a:lnTo>
                <a:lnTo>
                  <a:pt x="21878" y="12183"/>
                </a:lnTo>
                <a:lnTo>
                  <a:pt x="25524" y="9548"/>
                </a:lnTo>
                <a:lnTo>
                  <a:pt x="29170" y="7318"/>
                </a:lnTo>
                <a:lnTo>
                  <a:pt x="29170" y="1254450"/>
                </a:lnTo>
                <a:lnTo>
                  <a:pt x="25524" y="1252219"/>
                </a:lnTo>
                <a:lnTo>
                  <a:pt x="21878" y="1249584"/>
                </a:lnTo>
                <a:lnTo>
                  <a:pt x="18231" y="1246468"/>
                </a:lnTo>
                <a:lnTo>
                  <a:pt x="14585" y="1242753"/>
                </a:lnTo>
                <a:lnTo>
                  <a:pt x="10939" y="1238242"/>
                </a:lnTo>
                <a:lnTo>
                  <a:pt x="7293" y="1232552"/>
                </a:lnTo>
                <a:lnTo>
                  <a:pt x="3646" y="1224704"/>
                </a:lnTo>
                <a:lnTo>
                  <a:pt x="0" y="1204617"/>
                </a:lnTo>
                <a:close/>
              </a:path>
            </a:pathLst>
          </a:custGeom>
          <a:solidFill>
            <a:srgbClr val="FF7B7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920" y="228600"/>
            <a:ext cx="257770" cy="25777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6991" y="252710"/>
            <a:ext cx="429677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460" spc="-2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MFCS × Microsoft Responsible AI — </a:t>
            </a:r>
            <a:pPr algn="l" indent="0" marL="0">
              <a:lnSpc>
                <a:spcPts val="1460"/>
              </a:lnSpc>
              <a:buNone/>
            </a:pPr>
            <a:r>
              <a:rPr lang="en-US" sz="1460" b="1" spc="-20" kern="0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Point by Point</a:t>
            </a:r>
            <a:endParaRPr lang="en-US" sz="1460" dirty="0"/>
          </a:p>
        </p:txBody>
      </p:sp>
      <p:sp>
        <p:nvSpPr>
          <p:cNvPr id="12" name="Text 9"/>
          <p:cNvSpPr/>
          <p:nvPr/>
        </p:nvSpPr>
        <p:spPr>
          <a:xfrm>
            <a:off x="686991" y="529530"/>
            <a:ext cx="1425773" cy="162729"/>
          </a:xfrm>
          <a:prstGeom prst="roundRect">
            <a:avLst>
              <a:gd name="adj" fmla="val 13267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MECHANIZED ENFORCEMENT</a:t>
            </a:r>
            <a:endParaRPr lang="en-US" sz="560" dirty="0"/>
          </a:p>
        </p:txBody>
      </p:sp>
      <p:sp>
        <p:nvSpPr>
          <p:cNvPr id="13" name="Text 10"/>
          <p:cNvSpPr/>
          <p:nvPr/>
        </p:nvSpPr>
        <p:spPr>
          <a:xfrm>
            <a:off x="2199084" y="529530"/>
            <a:ext cx="1566118" cy="162729"/>
          </a:xfrm>
          <a:prstGeom prst="roundRect">
            <a:avLst>
              <a:gd name="adj" fmla="val 13267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ASPIRATIONAL — VERIFIED</a:t>
            </a:r>
            <a:endParaRPr lang="en-US" sz="560" dirty="0"/>
          </a:p>
        </p:txBody>
      </p:sp>
      <p:sp>
        <p:nvSpPr>
          <p:cNvPr id="14" name="Text 11"/>
          <p:cNvSpPr/>
          <p:nvPr/>
        </p:nvSpPr>
        <p:spPr>
          <a:xfrm>
            <a:off x="3851523" y="599629"/>
            <a:ext cx="4977557" cy="7590"/>
          </a:xfrm>
          <a:prstGeom prst="rect">
            <a:avLst/>
          </a:prstGeom>
          <a:gradFill rotWithShape="1">
            <a:gsLst>
              <a:gs pos="0">
                <a:srgbClr val="58A6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14920" y="791766"/>
            <a:ext cx="4228505" cy="1280815"/>
          </a:xfrm>
          <a:prstGeom prst="roundRect">
            <a:avLst>
              <a:gd name="adj" fmla="val 4462"/>
            </a:avLst>
          </a:prstGeom>
          <a:solidFill>
            <a:srgbClr val="1A2332"/>
          </a:solidFill>
          <a:ln w="9525">
            <a:solidFill>
              <a:srgbClr val="58A6FF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814661" y="801291"/>
            <a:ext cx="9525" cy="1261765"/>
          </a:xfrm>
          <a:prstGeom prst="rect">
            <a:avLst/>
          </a:prstGeom>
          <a:solidFill>
            <a:srgbClr val="58A6FF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67916" y="1308050"/>
            <a:ext cx="137107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560" b="1" spc="8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1</a:t>
            </a:r>
            <a:endParaRPr lang="en-US" sz="560" dirty="0"/>
          </a:p>
        </p:txBody>
      </p:sp>
      <p:sp>
        <p:nvSpPr>
          <p:cNvPr id="18" name="Text 15"/>
          <p:cNvSpPr/>
          <p:nvPr/>
        </p:nvSpPr>
        <p:spPr>
          <a:xfrm>
            <a:off x="467916" y="1422946"/>
            <a:ext cx="137107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Fairness</a:t>
            </a:r>
            <a:endParaRPr lang="en-US" sz="84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4621" y="1365805"/>
            <a:ext cx="196901" cy="1325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139107" y="1175891"/>
            <a:ext cx="2508543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b="1" spc="-1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GuardianState Invariant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2139107" y="1312962"/>
            <a:ext cx="2326103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</a:t>
            </a:r>
            <a:pPr algn="l" indent="0" marL="0">
              <a:lnSpc>
                <a:spcPts val="986"/>
              </a:lnSpc>
              <a:buNone/>
            </a:pPr>
            <a:r>
              <a:rPr lang="en-US" sz="620" dirty="0">
                <a:solidFill>
                  <a:srgbClr val="E6EDF3"/>
                </a:solidFill>
                <a:highlight>
                  <a:srgbClr val="58A6FF">
                    <a:alpha val="8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equal precondition checks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all actions. No execution path is privileged — every agent traverses identical guard predicates before state mutation.</a:t>
            </a:r>
            <a:endParaRPr lang="en-US" sz="680" dirty="0"/>
          </a:p>
        </p:txBody>
      </p:sp>
      <p:sp>
        <p:nvSpPr>
          <p:cNvPr id="22" name="Text 18"/>
          <p:cNvSpPr/>
          <p:nvPr/>
        </p:nvSpPr>
        <p:spPr>
          <a:xfrm>
            <a:off x="4600575" y="791766"/>
            <a:ext cx="4228505" cy="1280815"/>
          </a:xfrm>
          <a:prstGeom prst="roundRect">
            <a:avLst>
              <a:gd name="adj" fmla="val 4462"/>
            </a:avLst>
          </a:prstGeom>
          <a:solidFill>
            <a:srgbClr val="1A2332"/>
          </a:solidFill>
          <a:ln w="9525">
            <a:solidFill>
              <a:srgbClr val="58A6FF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100316" y="801291"/>
            <a:ext cx="9525" cy="1261765"/>
          </a:xfrm>
          <a:prstGeom prst="rect">
            <a:avLst/>
          </a:prstGeom>
          <a:solidFill>
            <a:srgbClr val="58A6FF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753570" y="1308050"/>
            <a:ext cx="137107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560" b="1" spc="8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2</a:t>
            </a:r>
            <a:endParaRPr lang="en-US" sz="560" dirty="0"/>
          </a:p>
        </p:txBody>
      </p:sp>
      <p:sp>
        <p:nvSpPr>
          <p:cNvPr id="25" name="Text 21"/>
          <p:cNvSpPr/>
          <p:nvPr/>
        </p:nvSpPr>
        <p:spPr>
          <a:xfrm>
            <a:off x="4753570" y="1422946"/>
            <a:ext cx="137107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Reliability &amp; Safety</a:t>
            </a:r>
            <a:endParaRPr lang="en-US" sz="84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alphaModFix amt="3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0276" y="1365805"/>
            <a:ext cx="196901" cy="1325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24761" y="1175891"/>
            <a:ext cx="2508543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b="1" spc="-1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96-Path Exhaustive Map + TLAPS Proofs</a:t>
            </a:r>
            <a:endParaRPr lang="en-US" sz="700" dirty="0"/>
          </a:p>
        </p:txBody>
      </p:sp>
      <p:sp>
        <p:nvSpPr>
          <p:cNvPr id="28" name="Text 23"/>
          <p:cNvSpPr/>
          <p:nvPr/>
        </p:nvSpPr>
        <p:spPr>
          <a:xfrm>
            <a:off x="6424761" y="1312962"/>
            <a:ext cx="2326103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20" dirty="0">
                <a:solidFill>
                  <a:srgbClr val="E6EDF3"/>
                </a:solidFill>
                <a:highlight>
                  <a:srgbClr val="58A6FF">
                    <a:alpha val="8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 counterexamples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all 96 finite paths. TLAPS inductive proofs extend coverage to </a:t>
            </a:r>
            <a:pPr algn="l" indent="0" marL="0">
              <a:lnSpc>
                <a:spcPts val="986"/>
              </a:lnSpc>
              <a:buNone/>
            </a:pPr>
            <a:r>
              <a:rPr lang="en-US" sz="620" dirty="0">
                <a:solidFill>
                  <a:srgbClr val="E6EDF3"/>
                </a:solidFill>
                <a:highlight>
                  <a:srgbClr val="58A6FF">
                    <a:alpha val="8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unbounded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 spaces — safety holds ∀ reachable states.</a:t>
            </a:r>
            <a:endParaRPr lang="en-US" sz="680" dirty="0"/>
          </a:p>
        </p:txBody>
      </p:sp>
      <p:sp>
        <p:nvSpPr>
          <p:cNvPr id="29" name="Text 24"/>
          <p:cNvSpPr/>
          <p:nvPr/>
        </p:nvSpPr>
        <p:spPr>
          <a:xfrm>
            <a:off x="314920" y="2129730"/>
            <a:ext cx="4228505" cy="1280815"/>
          </a:xfrm>
          <a:prstGeom prst="roundRect">
            <a:avLst>
              <a:gd name="adj" fmla="val 4462"/>
            </a:avLst>
          </a:prstGeom>
          <a:solidFill>
            <a:srgbClr val="1A2332"/>
          </a:solidFill>
          <a:ln w="9525">
            <a:solidFill>
              <a:srgbClr val="58A6FF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1814661" y="2139255"/>
            <a:ext cx="9525" cy="1261765"/>
          </a:xfrm>
          <a:prstGeom prst="rect">
            <a:avLst/>
          </a:prstGeom>
          <a:solidFill>
            <a:srgbClr val="58A6FF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467916" y="2646015"/>
            <a:ext cx="137107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560" b="1" spc="80" kern="0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3</a:t>
            </a:r>
            <a:endParaRPr lang="en-US" sz="560" dirty="0"/>
          </a:p>
        </p:txBody>
      </p:sp>
      <p:sp>
        <p:nvSpPr>
          <p:cNvPr id="32" name="Text 27"/>
          <p:cNvSpPr/>
          <p:nvPr/>
        </p:nvSpPr>
        <p:spPr>
          <a:xfrm>
            <a:off x="467916" y="2760911"/>
            <a:ext cx="137107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Privacy &amp; Security</a:t>
            </a:r>
            <a:endParaRPr lang="en-US" sz="84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alphaModFix amt="35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54621" y="2703769"/>
            <a:ext cx="196901" cy="13258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2139107" y="2451199"/>
            <a:ext cx="2508543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b="1" spc="-10" kern="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Self-Contained Digital Mirror</a:t>
            </a:r>
            <a:endParaRPr lang="en-US" sz="700" dirty="0"/>
          </a:p>
        </p:txBody>
      </p:sp>
      <p:sp>
        <p:nvSpPr>
          <p:cNvPr id="35" name="Text 29"/>
          <p:cNvSpPr/>
          <p:nvPr/>
        </p:nvSpPr>
        <p:spPr>
          <a:xfrm>
            <a:off x="2139107" y="2588270"/>
            <a:ext cx="2326103" cy="525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20" dirty="0">
                <a:solidFill>
                  <a:srgbClr val="E6EDF3"/>
                </a:solidFill>
                <a:highlight>
                  <a:srgbClr val="58A6FF">
                    <a:alpha val="8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Zero external dependencies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data leaves the artifact boundary. The specification is a closed system — no network calls, no side channels, no data exfiltration vectors.</a:t>
            </a:r>
            <a:endParaRPr lang="en-US" sz="680" dirty="0"/>
          </a:p>
        </p:txBody>
      </p:sp>
      <p:sp>
        <p:nvSpPr>
          <p:cNvPr id="36" name="Text 30"/>
          <p:cNvSpPr/>
          <p:nvPr/>
        </p:nvSpPr>
        <p:spPr>
          <a:xfrm>
            <a:off x="4600575" y="2129730"/>
            <a:ext cx="4228505" cy="1280815"/>
          </a:xfrm>
          <a:prstGeom prst="roundRect">
            <a:avLst>
              <a:gd name="adj" fmla="val 4462"/>
            </a:avLst>
          </a:prstGeom>
          <a:solidFill>
            <a:srgbClr val="1A2332"/>
          </a:solidFill>
          <a:ln w="9525">
            <a:solidFill>
              <a:srgbClr val="58A6FF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6100316" y="2139255"/>
            <a:ext cx="9525" cy="1261765"/>
          </a:xfrm>
          <a:prstGeom prst="rect">
            <a:avLst/>
          </a:prstGeom>
          <a:solidFill>
            <a:srgbClr val="58A6FF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4753570" y="2646015"/>
            <a:ext cx="137107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560" b="1" spc="8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4</a:t>
            </a:r>
            <a:endParaRPr lang="en-US" sz="560" dirty="0"/>
          </a:p>
        </p:txBody>
      </p:sp>
      <p:sp>
        <p:nvSpPr>
          <p:cNvPr id="39" name="Text 33"/>
          <p:cNvSpPr/>
          <p:nvPr/>
        </p:nvSpPr>
        <p:spPr>
          <a:xfrm>
            <a:off x="4753570" y="2760911"/>
            <a:ext cx="137107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Inclusiveness</a:t>
            </a:r>
            <a:endParaRPr lang="en-US" sz="84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alphaModFix amt="35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40276" y="2703769"/>
            <a:ext cx="196901" cy="13258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424761" y="2451199"/>
            <a:ext cx="2508543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b="1" spc="-10" kern="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AccessibilityCompletenessInvariant</a:t>
            </a:r>
            <a:endParaRPr lang="en-US" sz="700" dirty="0"/>
          </a:p>
        </p:txBody>
      </p:sp>
      <p:sp>
        <p:nvSpPr>
          <p:cNvPr id="42" name="Text 35"/>
          <p:cNvSpPr/>
          <p:nvPr/>
        </p:nvSpPr>
        <p:spPr>
          <a:xfrm>
            <a:off x="6424761" y="2588270"/>
            <a:ext cx="2326103" cy="525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verified: </a:t>
            </a:r>
            <a:pPr algn="l" indent="0" marL="0">
              <a:lnSpc>
                <a:spcPts val="986"/>
              </a:lnSpc>
              <a:buNone/>
            </a:pPr>
            <a:r>
              <a:rPr lang="en-US" sz="620" dirty="0">
                <a:solidFill>
                  <a:srgbClr val="E6EDF3"/>
                </a:solidFill>
                <a:highlight>
                  <a:srgbClr val="58A6FF">
                    <a:alpha val="8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∀ output ∈ Outputs: accessible(output) = TRUE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output is accessible </a:t>
            </a:r>
            <a:pPr algn="l" indent="0" marL="0">
              <a:lnSpc>
                <a:spcPts val="986"/>
              </a:lnSpc>
              <a:buNone/>
            </a:pPr>
            <a:r>
              <a:rPr lang="en-US" sz="68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construction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by audit, not by retrofit.</a:t>
            </a:r>
            <a:endParaRPr lang="en-US" sz="680" dirty="0"/>
          </a:p>
        </p:txBody>
      </p:sp>
      <p:sp>
        <p:nvSpPr>
          <p:cNvPr id="43" name="Text 36"/>
          <p:cNvSpPr/>
          <p:nvPr/>
        </p:nvSpPr>
        <p:spPr>
          <a:xfrm>
            <a:off x="314920" y="3467695"/>
            <a:ext cx="4228505" cy="1280815"/>
          </a:xfrm>
          <a:prstGeom prst="roundRect">
            <a:avLst>
              <a:gd name="adj" fmla="val 4462"/>
            </a:avLst>
          </a:prstGeom>
          <a:solidFill>
            <a:srgbClr val="1A2332"/>
          </a:solidFill>
          <a:ln w="9525">
            <a:solidFill>
              <a:srgbClr val="58A6FF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1814661" y="3477220"/>
            <a:ext cx="9525" cy="1261765"/>
          </a:xfrm>
          <a:prstGeom prst="rect">
            <a:avLst/>
          </a:prstGeom>
          <a:solidFill>
            <a:srgbClr val="58A6FF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467916" y="3983980"/>
            <a:ext cx="137107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560" b="1" spc="80" kern="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5</a:t>
            </a:r>
            <a:endParaRPr lang="en-US" sz="560" dirty="0"/>
          </a:p>
        </p:txBody>
      </p:sp>
      <p:sp>
        <p:nvSpPr>
          <p:cNvPr id="46" name="Text 39"/>
          <p:cNvSpPr/>
          <p:nvPr/>
        </p:nvSpPr>
        <p:spPr>
          <a:xfrm>
            <a:off x="467916" y="4098875"/>
            <a:ext cx="137107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Transparency</a:t>
            </a:r>
            <a:endParaRPr lang="en-US" sz="84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11">
            <a:alphaModFix amt="35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54621" y="4041734"/>
            <a:ext cx="196901" cy="13258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2139107" y="3851821"/>
            <a:ext cx="2508543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b="1" spc="-10" kern="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TLA+ Specs + SHA-256 Manifest</a:t>
            </a:r>
            <a:endParaRPr lang="en-US" sz="700" dirty="0"/>
          </a:p>
        </p:txBody>
      </p:sp>
      <p:sp>
        <p:nvSpPr>
          <p:cNvPr id="49" name="Text 41"/>
          <p:cNvSpPr/>
          <p:nvPr/>
        </p:nvSpPr>
        <p:spPr>
          <a:xfrm>
            <a:off x="2139107" y="3988891"/>
            <a:ext cx="2326103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</a:t>
            </a:r>
            <a:pPr algn="l" indent="0" marL="0">
              <a:lnSpc>
                <a:spcPts val="986"/>
              </a:lnSpc>
              <a:buNone/>
            </a:pPr>
            <a:r>
              <a:rPr lang="en-US" sz="620" dirty="0">
                <a:solidFill>
                  <a:srgbClr val="E6EDF3"/>
                </a:solidFill>
                <a:highlight>
                  <a:srgbClr val="58A6FF">
                    <a:alpha val="8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machine-checkable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Full source in TLA+. Cryptographic </a:t>
            </a:r>
            <a:pPr algn="l" indent="0" marL="0">
              <a:lnSpc>
                <a:spcPts val="986"/>
              </a:lnSpc>
              <a:buNone/>
            </a:pPr>
            <a:r>
              <a:rPr lang="en-US" sz="620" dirty="0">
                <a:solidFill>
                  <a:srgbClr val="E6EDF3"/>
                </a:solidFill>
                <a:highlight>
                  <a:srgbClr val="58A6FF">
                    <a:alpha val="8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SHA-256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manifest pins every artifact — no hidden logic, no trust-me assertions.</a:t>
            </a:r>
            <a:endParaRPr lang="en-US" sz="680" dirty="0"/>
          </a:p>
        </p:txBody>
      </p:sp>
      <p:sp>
        <p:nvSpPr>
          <p:cNvPr id="50" name="Text 42"/>
          <p:cNvSpPr/>
          <p:nvPr/>
        </p:nvSpPr>
        <p:spPr>
          <a:xfrm>
            <a:off x="4600575" y="3467695"/>
            <a:ext cx="4228505" cy="1280815"/>
          </a:xfrm>
          <a:prstGeom prst="roundRect">
            <a:avLst>
              <a:gd name="adj" fmla="val 4462"/>
            </a:avLst>
          </a:prstGeom>
          <a:solidFill>
            <a:srgbClr val="1A2332"/>
          </a:solidFill>
          <a:ln w="9525">
            <a:solidFill>
              <a:srgbClr val="58A6FF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3"/>
          <p:cNvSpPr/>
          <p:nvPr/>
        </p:nvSpPr>
        <p:spPr>
          <a:xfrm>
            <a:off x="6100316" y="3477220"/>
            <a:ext cx="9525" cy="1261765"/>
          </a:xfrm>
          <a:prstGeom prst="rect">
            <a:avLst/>
          </a:prstGeom>
          <a:solidFill>
            <a:srgbClr val="58A6FF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4"/>
          <p:cNvSpPr/>
          <p:nvPr/>
        </p:nvSpPr>
        <p:spPr>
          <a:xfrm>
            <a:off x="4753570" y="3983980"/>
            <a:ext cx="137107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560" b="1" spc="80" kern="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6</a:t>
            </a:r>
            <a:endParaRPr lang="en-US" sz="560" dirty="0"/>
          </a:p>
        </p:txBody>
      </p:sp>
      <p:sp>
        <p:nvSpPr>
          <p:cNvPr id="53" name="Text 45"/>
          <p:cNvSpPr/>
          <p:nvPr/>
        </p:nvSpPr>
        <p:spPr>
          <a:xfrm>
            <a:off x="4753570" y="4098875"/>
            <a:ext cx="137107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Accountability</a:t>
            </a:r>
            <a:endParaRPr lang="en-US" sz="840" dirty="0"/>
          </a:p>
        </p:txBody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40276" y="4041734"/>
            <a:ext cx="196901" cy="132588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6424761" y="3851821"/>
            <a:ext cx="2508543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b="1" spc="-10" kern="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ArtifactManifest Audit Trail</a:t>
            </a:r>
            <a:endParaRPr lang="en-US" sz="700" dirty="0"/>
          </a:p>
        </p:txBody>
      </p:sp>
      <p:sp>
        <p:nvSpPr>
          <p:cNvPr id="56" name="Text 47"/>
          <p:cNvSpPr/>
          <p:nvPr/>
        </p:nvSpPr>
        <p:spPr>
          <a:xfrm>
            <a:off x="6424761" y="3988891"/>
            <a:ext cx="2326103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via </a:t>
            </a:r>
            <a:pPr algn="l" indent="0" marL="0">
              <a:lnSpc>
                <a:spcPts val="986"/>
              </a:lnSpc>
              <a:buNone/>
            </a:pPr>
            <a:r>
              <a:rPr lang="en-US" sz="620" dirty="0">
                <a:solidFill>
                  <a:srgbClr val="E6EDF3"/>
                </a:solidFill>
                <a:highlight>
                  <a:srgbClr val="58A6FF">
                    <a:alpha val="8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ArtifactManifest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state transition is </a:t>
            </a:r>
            <a:pPr algn="l" indent="0" marL="0">
              <a:lnSpc>
                <a:spcPts val="986"/>
              </a:lnSpc>
              <a:buNone/>
            </a:pPr>
            <a:r>
              <a:rPr lang="en-US" sz="620" dirty="0">
                <a:solidFill>
                  <a:srgbClr val="E6EDF3"/>
                </a:solidFill>
                <a:highlight>
                  <a:srgbClr val="58A6FF">
                    <a:alpha val="8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logged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independently verifiable. Provenance chain is immutable and tamper-evident.</a:t>
            </a:r>
            <a:endParaRPr lang="en-US" sz="680" dirty="0"/>
          </a:p>
        </p:txBody>
      </p:sp>
      <p:sp>
        <p:nvSpPr>
          <p:cNvPr id="57" name="Text 48"/>
          <p:cNvSpPr/>
          <p:nvPr/>
        </p:nvSpPr>
        <p:spPr>
          <a:xfrm>
            <a:off x="314920" y="4819650"/>
            <a:ext cx="8514159" cy="9525"/>
          </a:xfrm>
          <a:prstGeom prst="rect">
            <a:avLst/>
          </a:prstGeom>
          <a:solidFill>
            <a:srgbClr val="58A6FF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49"/>
          <p:cNvSpPr/>
          <p:nvPr/>
        </p:nvSpPr>
        <p:spPr>
          <a:xfrm>
            <a:off x="1768525" y="4886325"/>
            <a:ext cx="134128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5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MAPPING IS MECHANIZED</a:t>
            </a:r>
            <a:endParaRPr lang="en-US" sz="560" dirty="0"/>
          </a:p>
        </p:txBody>
      </p:sp>
      <p:sp>
        <p:nvSpPr>
          <p:cNvPr id="59" name="Text 50"/>
          <p:cNvSpPr/>
          <p:nvPr/>
        </p:nvSpPr>
        <p:spPr>
          <a:xfrm>
            <a:off x="3045023" y="4918323"/>
            <a:ext cx="21580" cy="21580"/>
          </a:xfrm>
          <a:prstGeom prst="ellipse">
            <a:avLst/>
          </a:prstGeom>
          <a:solidFill>
            <a:srgbClr val="58A6FF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1"/>
          <p:cNvSpPr/>
          <p:nvPr/>
        </p:nvSpPr>
        <p:spPr>
          <a:xfrm>
            <a:off x="3123754" y="4886325"/>
            <a:ext cx="247792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5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ASPIRATIONAL ALIGNMENT — FORMAL ENFORCEMENT</a:t>
            </a:r>
            <a:endParaRPr lang="en-US" sz="560" dirty="0"/>
          </a:p>
        </p:txBody>
      </p:sp>
      <p:sp>
        <p:nvSpPr>
          <p:cNvPr id="61" name="Text 52"/>
          <p:cNvSpPr/>
          <p:nvPr/>
        </p:nvSpPr>
        <p:spPr>
          <a:xfrm>
            <a:off x="5433566" y="4918323"/>
            <a:ext cx="21580" cy="21580"/>
          </a:xfrm>
          <a:prstGeom prst="ellipse">
            <a:avLst/>
          </a:prstGeom>
          <a:solidFill>
            <a:srgbClr val="58A6FF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3"/>
          <p:cNvSpPr/>
          <p:nvPr/>
        </p:nvSpPr>
        <p:spPr>
          <a:xfrm>
            <a:off x="5512296" y="4886325"/>
            <a:ext cx="204949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5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TLC MODEL-CHECKED &amp; TLAPS PROOF-VERIFIED</a:t>
            </a:r>
            <a:endParaRPr lang="en-US" sz="5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rotWithShape="1">
          <a:gsLst>
            <a:gs pos="0">
              <a:srgbClr val="D4A054">
                <a:alpha val="3000"/>
              </a:srgbClr>
            </a:gs>
            <a:gs pos="100000">
              <a:srgbClr val="000000">
                <a:alpha val="0"/>
              </a:srgb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" y="4828580"/>
            <a:ext cx="9525" cy="143470"/>
          </a:xfrm>
          <a:prstGeom prst="rect">
            <a:avLst/>
          </a:prstGeom>
          <a:solidFill>
            <a:srgbClr val="E6EDF3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963025" y="4828580"/>
            <a:ext cx="9525" cy="143470"/>
          </a:xfrm>
          <a:prstGeom prst="rect">
            <a:avLst/>
          </a:prstGeom>
          <a:solidFill>
            <a:srgbClr val="E6EDF3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050" y="314920"/>
            <a:ext cx="236190" cy="2361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5280" y="322957"/>
            <a:ext cx="5543197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54"/>
              </a:lnSpc>
              <a:buNone/>
            </a:pPr>
            <a:r>
              <a:rPr lang="en-US" sz="2140" b="1" dirty="0">
                <a:gradFill rotWithShape="1">
                  <a:gsLst>
                    <a:gs pos="0">
                      <a:srgbClr val="F0C97E"/>
                    </a:gs>
                    <a:gs pos="50000">
                      <a:srgbClr val="D4A054"/>
                    </a:gs>
                    <a:gs pos="100000">
                      <a:srgbClr val="E6EDF3"/>
                    </a:gs>
                  </a:gsLst>
                  <a:lin ang="2700000" scaled="1"/>
                </a:gra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Symbolic Architecture — Living Verification</a:t>
            </a:r>
            <a:endParaRPr lang="en-US" sz="2140" dirty="0"/>
          </a:p>
        </p:txBody>
      </p:sp>
      <p:sp>
        <p:nvSpPr>
          <p:cNvPr id="6" name="Text 3"/>
          <p:cNvSpPr/>
          <p:nvPr/>
        </p:nvSpPr>
        <p:spPr>
          <a:xfrm>
            <a:off x="813941" y="673001"/>
            <a:ext cx="872301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spc="3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Guardians watch. Invocations mark genesis. The artifact breathes.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400050" y="1004441"/>
            <a:ext cx="2667000" cy="3637508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111827">
                  <a:alpha val="95000"/>
                </a:srgbClr>
              </a:gs>
              <a:gs pos="100000">
                <a:srgbClr val="0D1526">
                  <a:alpha val="90000"/>
                </a:srgbClr>
              </a:gs>
            </a:gsLst>
            <a:lin ang="2700000" scaled="1"/>
          </a:gradFill>
          <a:ln w="9525">
            <a:solidFill>
              <a:srgbClr val="D4A054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54" y="0"/>
            <a:ext cx="3718562" cy="32301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1025" y="1269206"/>
            <a:ext cx="812914" cy="180231"/>
          </a:xfrm>
          <a:prstGeom prst="roundRect">
            <a:avLst>
              <a:gd name="adj" fmla="val 16207"/>
            </a:avLst>
          </a:prstGeom>
          <a:solidFill>
            <a:srgbClr val="D4A054">
              <a:alpha val="10000"/>
            </a:srgbClr>
          </a:solidFill>
          <a:ln w="9525">
            <a:solidFill>
              <a:srgbClr val="D4A054">
                <a:alpha val="25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algn="l" indent="0" marL="0">
              <a:buNone/>
            </a:pPr>
            <a:r>
              <a:rPr lang="en-US" sz="620" b="1" spc="140" kern="0" dirty="0">
                <a:solidFill>
                  <a:srgbClr val="D4A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GUARDIANS</a:t>
            </a:r>
            <a:endParaRPr lang="en-US" sz="62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2100" y="1622078"/>
            <a:ext cx="342900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91109" y="1907828"/>
            <a:ext cx="9525" cy="100310"/>
          </a:xfrm>
          <a:prstGeom prst="rect">
            <a:avLst/>
          </a:prstGeom>
          <a:solidFill>
            <a:srgbClr val="8B691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1966466" y="1907828"/>
            <a:ext cx="9525" cy="100310"/>
          </a:xfrm>
          <a:prstGeom prst="rect">
            <a:avLst/>
          </a:prstGeom>
          <a:solidFill>
            <a:srgbClr val="8B691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581025" y="2079278"/>
            <a:ext cx="253555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5"/>
              </a:lnSpc>
              <a:spcAft>
                <a:spcPts val="450"/>
              </a:spcAft>
              <a:buNone/>
            </a:pPr>
            <a:r>
              <a:rPr lang="en-US" sz="1010" b="1" dirty="0">
                <a:solidFill>
                  <a:srgbClr val="F0C97E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Formal Watchers</a:t>
            </a:r>
            <a:endParaRPr lang="en-US" sz="1010" dirty="0"/>
          </a:p>
        </p:txBody>
      </p:sp>
      <p:sp>
        <p:nvSpPr>
          <p:cNvPr id="14" name="Text 9"/>
          <p:cNvSpPr/>
          <p:nvPr/>
        </p:nvSpPr>
        <p:spPr>
          <a:xfrm>
            <a:off x="581025" y="2328863"/>
            <a:ext cx="2351151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680"/>
              </a:spcAft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canonical action is watched by a symbolic guardian enforcing </a:t>
            </a:r>
            <a:pPr algn="l" indent="0" marL="0">
              <a:lnSpc>
                <a:spcPts val="1271"/>
              </a:lnSpc>
              <a:spcAft>
                <a:spcPts val="680"/>
              </a:spcAft>
              <a:buNone/>
            </a:pPr>
            <a:r>
              <a:rPr lang="en-US" sz="820" dirty="0">
                <a:solidFill>
                  <a:srgbClr val="D4A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preconditions</a:t>
            </a:r>
            <a:pPr algn="l" indent="0" marL="0">
              <a:lnSpc>
                <a:spcPts val="1271"/>
              </a:lnSpc>
              <a:spcAft>
                <a:spcPts val="680"/>
              </a:spcAft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l" indent="0" marL="0">
              <a:lnSpc>
                <a:spcPts val="1271"/>
              </a:lnSpc>
              <a:spcAft>
                <a:spcPts val="680"/>
              </a:spcAft>
              <a:buNone/>
            </a:pPr>
            <a:r>
              <a:rPr lang="en-US" sz="820" dirty="0">
                <a:solidFill>
                  <a:srgbClr val="D4A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postconditions</a:t>
            </a:r>
            <a:pPr algn="l" indent="0" marL="0">
              <a:lnSpc>
                <a:spcPts val="1271"/>
              </a:lnSpc>
              <a:spcAft>
                <a:spcPts val="680"/>
              </a:spcAft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20" dirty="0"/>
          </a:p>
        </p:txBody>
      </p:sp>
      <p:sp>
        <p:nvSpPr>
          <p:cNvPr id="15" name="Text 10"/>
          <p:cNvSpPr/>
          <p:nvPr/>
        </p:nvSpPr>
        <p:spPr>
          <a:xfrm>
            <a:off x="581025" y="2899618"/>
            <a:ext cx="2305050" cy="404080"/>
          </a:xfrm>
          <a:prstGeom prst="rect">
            <a:avLst/>
          </a:prstGeom>
          <a:solidFill>
            <a:srgbClr val="D4A054">
              <a:alpha val="6000"/>
            </a:srgbClr>
          </a:solidFill>
          <a:ln/>
        </p:spPr>
        <p:txBody>
          <a:bodyPr wrap="none" lIns="86360" tIns="57150" rIns="86360" bIns="57150" rtlCol="0" anchor="t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D4A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metaphor</a:t>
            </a:r>
            <a:pPr algn="l" indent="0" marL="0"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formal precondition checks encoded in TLA+ specification.</a:t>
            </a:r>
            <a:endParaRPr lang="en-US" sz="730" dirty="0"/>
          </a:p>
        </p:txBody>
      </p:sp>
      <p:sp>
        <p:nvSpPr>
          <p:cNvPr id="16" name="Text 11"/>
          <p:cNvSpPr/>
          <p:nvPr/>
        </p:nvSpPr>
        <p:spPr>
          <a:xfrm>
            <a:off x="581025" y="2899618"/>
            <a:ext cx="9525" cy="392311"/>
          </a:xfrm>
          <a:prstGeom prst="rect">
            <a:avLst/>
          </a:prstGeom>
          <a:solidFill>
            <a:srgbClr val="8B69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3238500" y="1004441"/>
            <a:ext cx="2667000" cy="3637508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111827">
                  <a:alpha val="95000"/>
                </a:srgbClr>
              </a:gs>
              <a:gs pos="100000">
                <a:srgbClr val="0D1526">
                  <a:alpha val="90000"/>
                </a:srgbClr>
              </a:gs>
            </a:gsLst>
            <a:lin ang="2700000" scaled="1"/>
          </a:gradFill>
          <a:ln w="9525">
            <a:solidFill>
              <a:srgbClr val="D4A054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3859" y="11935"/>
            <a:ext cx="3576282" cy="357628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419475" y="1269206"/>
            <a:ext cx="842971" cy="180231"/>
          </a:xfrm>
          <a:prstGeom prst="roundRect">
            <a:avLst>
              <a:gd name="adj" fmla="val 16207"/>
            </a:avLst>
          </a:prstGeom>
          <a:solidFill>
            <a:srgbClr val="D4A054">
              <a:alpha val="10000"/>
            </a:srgbClr>
          </a:solidFill>
          <a:ln w="9525">
            <a:solidFill>
              <a:srgbClr val="D4A054">
                <a:alpha val="25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algn="l" indent="0" marL="0">
              <a:buNone/>
            </a:pPr>
            <a:r>
              <a:rPr lang="en-US" sz="620" b="1" spc="140" kern="0" dirty="0">
                <a:solidFill>
                  <a:srgbClr val="D4A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INVOCATION</a:t>
            </a:r>
            <a:endParaRPr lang="en-US" sz="62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03812" y="1678186"/>
            <a:ext cx="536228" cy="428625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96693" y="1817191"/>
            <a:ext cx="150465" cy="15046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320629" y="2178248"/>
            <a:ext cx="552852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i="1" dirty="0">
                <a:solidFill>
                  <a:srgbClr val="F0C97E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بسم الله</a:t>
            </a:r>
            <a:endParaRPr lang="en-US" sz="1130" dirty="0"/>
          </a:p>
        </p:txBody>
      </p:sp>
      <p:sp>
        <p:nvSpPr>
          <p:cNvPr id="23" name="Text 15"/>
          <p:cNvSpPr/>
          <p:nvPr/>
        </p:nvSpPr>
        <p:spPr>
          <a:xfrm>
            <a:off x="3419475" y="2493764"/>
            <a:ext cx="253555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5"/>
              </a:lnSpc>
              <a:spcAft>
                <a:spcPts val="450"/>
              </a:spcAft>
              <a:buNone/>
            </a:pPr>
            <a:r>
              <a:rPr lang="en-US" sz="1010" b="1" dirty="0">
                <a:solidFill>
                  <a:srgbClr val="F0C97E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Genesis Marker</a:t>
            </a:r>
            <a:endParaRPr lang="en-US" sz="1010" dirty="0"/>
          </a:p>
        </p:txBody>
      </p:sp>
      <p:sp>
        <p:nvSpPr>
          <p:cNvPr id="24" name="Text 16"/>
          <p:cNvSpPr/>
          <p:nvPr/>
        </p:nvSpPr>
        <p:spPr>
          <a:xfrm>
            <a:off x="3419475" y="2743349"/>
            <a:ext cx="2351151" cy="33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680"/>
              </a:spcAft>
              <a:buNone/>
            </a:pPr>
            <a:r>
              <a:rPr lang="en-US" sz="820" dirty="0">
                <a:solidFill>
                  <a:srgbClr val="D4A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Bismillah</a:t>
            </a:r>
            <a:pPr algn="l" indent="0" marL="0">
              <a:lnSpc>
                <a:spcPts val="1271"/>
              </a:lnSpc>
              <a:spcAft>
                <a:spcPts val="680"/>
              </a:spcAft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Arabic invocation embedded in artifact metadata at the moment of creation.</a:t>
            </a:r>
            <a:endParaRPr lang="en-US" sz="820" dirty="0"/>
          </a:p>
        </p:txBody>
      </p:sp>
      <p:sp>
        <p:nvSpPr>
          <p:cNvPr id="25" name="Text 17"/>
          <p:cNvSpPr/>
          <p:nvPr/>
        </p:nvSpPr>
        <p:spPr>
          <a:xfrm>
            <a:off x="3419475" y="3152626"/>
            <a:ext cx="2305050" cy="404080"/>
          </a:xfrm>
          <a:prstGeom prst="rect">
            <a:avLst/>
          </a:prstGeom>
          <a:solidFill>
            <a:srgbClr val="D4A054">
              <a:alpha val="6000"/>
            </a:srgbClr>
          </a:solidFill>
          <a:ln/>
        </p:spPr>
        <p:txBody>
          <a:bodyPr wrap="none" lIns="86360" tIns="57150" rIns="86360" bIns="57150" rtlCol="0" anchor="t"/>
          <a:lstStyle/>
          <a:p>
            <a:pPr algn="l" indent="0" marL="0"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</a:t>
            </a:r>
            <a:pPr algn="l" indent="0" marL="0">
              <a:buNone/>
            </a:pPr>
            <a:r>
              <a:rPr lang="en-US" sz="730" dirty="0">
                <a:solidFill>
                  <a:srgbClr val="D4A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pPr algn="l" indent="0" marL="0"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structural ritual — marking origin with intention and integrity.</a:t>
            </a:r>
            <a:endParaRPr lang="en-US" sz="730" dirty="0"/>
          </a:p>
        </p:txBody>
      </p:sp>
      <p:sp>
        <p:nvSpPr>
          <p:cNvPr id="26" name="Text 18"/>
          <p:cNvSpPr/>
          <p:nvPr/>
        </p:nvSpPr>
        <p:spPr>
          <a:xfrm>
            <a:off x="3419475" y="3152626"/>
            <a:ext cx="9525" cy="392311"/>
          </a:xfrm>
          <a:prstGeom prst="rect">
            <a:avLst/>
          </a:prstGeom>
          <a:solidFill>
            <a:srgbClr val="8B69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6076950" y="1004441"/>
            <a:ext cx="2667000" cy="3637508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111827">
                  <a:alpha val="95000"/>
                </a:srgbClr>
              </a:gs>
              <a:gs pos="100000">
                <a:srgbClr val="0D1526">
                  <a:alpha val="90000"/>
                </a:srgbClr>
              </a:gs>
            </a:gsLst>
            <a:lin ang="2700000" scaled="1"/>
          </a:gradFill>
          <a:ln w="9525">
            <a:solidFill>
              <a:srgbClr val="D4A054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5224" y="0"/>
            <a:ext cx="3718562" cy="3301277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257925" y="1269206"/>
            <a:ext cx="798037" cy="180231"/>
          </a:xfrm>
          <a:prstGeom prst="roundRect">
            <a:avLst>
              <a:gd name="adj" fmla="val 16207"/>
            </a:avLst>
          </a:prstGeom>
          <a:solidFill>
            <a:srgbClr val="58A6FF">
              <a:alpha val="8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algn="l" indent="0" marL="0">
              <a:buNone/>
            </a:pPr>
            <a:r>
              <a:rPr lang="en-US" sz="620" b="1" spc="14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</a:t>
            </a:r>
            <a:endParaRPr lang="en-US" sz="620" dirty="0"/>
          </a:p>
        </p:txBody>
      </p:sp>
      <p:sp>
        <p:nvSpPr>
          <p:cNvPr id="30" name="Text 21"/>
          <p:cNvSpPr/>
          <p:nvPr/>
        </p:nvSpPr>
        <p:spPr>
          <a:xfrm>
            <a:off x="7153275" y="1622078"/>
            <a:ext cx="514350" cy="514350"/>
          </a:xfrm>
          <a:prstGeom prst="ellipse">
            <a:avLst/>
          </a:prstGeom>
          <a:noFill/>
          <a:ln w="9525">
            <a:solidFill>
              <a:srgbClr val="58A6FF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2"/>
          <p:cNvSpPr/>
          <p:nvPr/>
        </p:nvSpPr>
        <p:spPr>
          <a:xfrm>
            <a:off x="7217420" y="1686223"/>
            <a:ext cx="386060" cy="386060"/>
          </a:xfrm>
          <a:prstGeom prst="ellipse">
            <a:avLst/>
          </a:prstGeom>
          <a:noFill/>
          <a:ln w="9525">
            <a:solidFill>
              <a:srgbClr val="58A6FF">
                <a:alpha val="4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3"/>
          <p:cNvSpPr/>
          <p:nvPr/>
        </p:nvSpPr>
        <p:spPr>
          <a:xfrm>
            <a:off x="7281565" y="1750368"/>
            <a:ext cx="257770" cy="257770"/>
          </a:xfrm>
          <a:prstGeom prst="ellipse">
            <a:avLst/>
          </a:prstGeom>
          <a:noFill/>
          <a:ln w="9525">
            <a:solidFill>
              <a:srgbClr val="58A6FF">
                <a:alpha val="5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4"/>
          <p:cNvSpPr/>
          <p:nvPr/>
        </p:nvSpPr>
        <p:spPr>
          <a:xfrm>
            <a:off x="6257925" y="2250728"/>
            <a:ext cx="253555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5"/>
              </a:lnSpc>
              <a:spcAft>
                <a:spcPts val="450"/>
              </a:spcAft>
              <a:buNone/>
            </a:pPr>
            <a:r>
              <a:rPr lang="en-US" sz="101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φ-Breath Cycles</a:t>
            </a:r>
            <a:endParaRPr lang="en-US" sz="1010" dirty="0"/>
          </a:p>
        </p:txBody>
      </p:sp>
      <p:sp>
        <p:nvSpPr>
          <p:cNvPr id="34" name="Text 25"/>
          <p:cNvSpPr/>
          <p:nvPr/>
        </p:nvSpPr>
        <p:spPr>
          <a:xfrm>
            <a:off x="6257925" y="2500313"/>
            <a:ext cx="2351151" cy="33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680"/>
              </a:spcAft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cycles </a:t>
            </a:r>
            <a:pPr algn="l" indent="0" marL="0">
              <a:lnSpc>
                <a:spcPts val="1271"/>
              </a:lnSpc>
              <a:spcAft>
                <a:spcPts val="680"/>
              </a:spcAft>
              <a:buNone/>
            </a:pPr>
            <a:r>
              <a:rPr lang="en-US" sz="82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</a:t>
            </a:r>
            <a:pPr algn="l" indent="0" marL="0">
              <a:lnSpc>
                <a:spcPts val="1271"/>
              </a:lnSpc>
              <a:spcAft>
                <a:spcPts val="680"/>
              </a:spcAft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artifact and re-verify structural integrity continuously.</a:t>
            </a:r>
            <a:endParaRPr lang="en-US" sz="820" dirty="0"/>
          </a:p>
        </p:txBody>
      </p:sp>
      <p:sp>
        <p:nvSpPr>
          <p:cNvPr id="35" name="Text 26"/>
          <p:cNvSpPr/>
          <p:nvPr/>
        </p:nvSpPr>
        <p:spPr>
          <a:xfrm>
            <a:off x="6257925" y="2909590"/>
            <a:ext cx="2305050" cy="547256"/>
          </a:xfrm>
          <a:prstGeom prst="rect">
            <a:avLst/>
          </a:prstGeom>
          <a:solidFill>
            <a:srgbClr val="58A6FF">
              <a:alpha val="5000"/>
            </a:srgbClr>
          </a:solidFill>
          <a:ln/>
        </p:spPr>
        <p:txBody>
          <a:bodyPr wrap="square" lIns="86360" tIns="57150" rIns="86360" bIns="57150" rtlCol="0" anchor="t"/>
          <a:lstStyle/>
          <a:p>
            <a:pPr algn="l" indent="0" marL="0"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indent="0" marL="0">
              <a:buNone/>
            </a:pPr>
            <a:r>
              <a:rPr lang="en-US" sz="73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Mirror</a:t>
            </a:r>
            <a:pPr algn="l" indent="0" marL="0"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not static — it breathes, self-checks, and certifies its own integrity. No external dependencies.</a:t>
            </a:r>
            <a:endParaRPr lang="en-US" sz="730" dirty="0"/>
          </a:p>
        </p:txBody>
      </p:sp>
      <p:sp>
        <p:nvSpPr>
          <p:cNvPr id="36" name="Text 27"/>
          <p:cNvSpPr/>
          <p:nvPr/>
        </p:nvSpPr>
        <p:spPr>
          <a:xfrm>
            <a:off x="6257925" y="2909590"/>
            <a:ext cx="9525" cy="531316"/>
          </a:xfrm>
          <a:prstGeom prst="rect">
            <a:avLst/>
          </a:prstGeom>
          <a:solidFill>
            <a:srgbClr val="58A6FF">
              <a:alpha val="3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8"/>
          <p:cNvSpPr/>
          <p:nvPr/>
        </p:nvSpPr>
        <p:spPr>
          <a:xfrm>
            <a:off x="400050" y="4817120"/>
            <a:ext cx="1702594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8B691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17399" y="4754621"/>
            <a:ext cx="132588" cy="13258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2407593" y="4756249"/>
            <a:ext cx="476169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MFCS — GUARDIAN SYSTEM · FORMAL VERIFICATION · SELF-CERTIFYING ARTIFACTS</a:t>
            </a:r>
            <a:endParaRPr lang="en-US" sz="68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94013" y="4754621"/>
            <a:ext cx="132588" cy="13258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041356" y="4817120"/>
            <a:ext cx="1702594" cy="7590"/>
          </a:xfrm>
          <a:prstGeom prst="rect">
            <a:avLst/>
          </a:prstGeom>
          <a:gradFill rotWithShape="1">
            <a:gsLst>
              <a:gs pos="0">
                <a:srgbClr val="8B691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1"/>
          <p:cNvSpPr/>
          <p:nvPr/>
        </p:nvSpPr>
        <p:spPr>
          <a:xfrm>
            <a:off x="409575" y="1013966"/>
            <a:ext cx="2647950" cy="21580"/>
          </a:xfrm>
          <a:custGeom>
            <a:avLst/>
            <a:gdLst/>
            <a:ahLst/>
            <a:cxnLst/>
            <a:rect l="l" t="t" r="r" b="b"/>
            <a:pathLst>
              <a:path w="2647950" h="21580">
                <a:moveTo>
                  <a:pt x="114300" y="0"/>
                </a:moveTo>
                <a:lnTo>
                  <a:pt x="2533650" y="0"/>
                </a:lnTo>
                <a:lnTo>
                  <a:pt x="2558335" y="2698"/>
                </a:lnTo>
                <a:lnTo>
                  <a:pt x="2568351" y="5395"/>
                </a:lnTo>
                <a:lnTo>
                  <a:pt x="2575893" y="8093"/>
                </a:lnTo>
                <a:lnTo>
                  <a:pt x="2582129" y="10790"/>
                </a:lnTo>
                <a:lnTo>
                  <a:pt x="2587514" y="13488"/>
                </a:lnTo>
                <a:lnTo>
                  <a:pt x="2592284" y="16185"/>
                </a:lnTo>
                <a:lnTo>
                  <a:pt x="2596578" y="18883"/>
                </a:lnTo>
                <a:lnTo>
                  <a:pt x="260048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D4A05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2"/>
          <p:cNvSpPr/>
          <p:nvPr/>
        </p:nvSpPr>
        <p:spPr>
          <a:xfrm>
            <a:off x="3248025" y="1013966"/>
            <a:ext cx="2647950" cy="21580"/>
          </a:xfrm>
          <a:custGeom>
            <a:avLst/>
            <a:gdLst/>
            <a:ahLst/>
            <a:cxnLst/>
            <a:rect l="l" t="t" r="r" b="b"/>
            <a:pathLst>
              <a:path w="2647950" h="21580">
                <a:moveTo>
                  <a:pt x="114300" y="0"/>
                </a:moveTo>
                <a:lnTo>
                  <a:pt x="2533650" y="0"/>
                </a:lnTo>
                <a:lnTo>
                  <a:pt x="2558335" y="2698"/>
                </a:lnTo>
                <a:lnTo>
                  <a:pt x="2568351" y="5395"/>
                </a:lnTo>
                <a:lnTo>
                  <a:pt x="2575893" y="8093"/>
                </a:lnTo>
                <a:lnTo>
                  <a:pt x="2582129" y="10790"/>
                </a:lnTo>
                <a:lnTo>
                  <a:pt x="2587514" y="13488"/>
                </a:lnTo>
                <a:lnTo>
                  <a:pt x="2592284" y="16185"/>
                </a:lnTo>
                <a:lnTo>
                  <a:pt x="2596578" y="18883"/>
                </a:lnTo>
                <a:lnTo>
                  <a:pt x="260048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D4A05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3"/>
          <p:cNvSpPr/>
          <p:nvPr/>
        </p:nvSpPr>
        <p:spPr>
          <a:xfrm>
            <a:off x="6086475" y="1013966"/>
            <a:ext cx="2647950" cy="21580"/>
          </a:xfrm>
          <a:custGeom>
            <a:avLst/>
            <a:gdLst/>
            <a:ahLst/>
            <a:cxnLst/>
            <a:rect l="l" t="t" r="r" b="b"/>
            <a:pathLst>
              <a:path w="2647950" h="21580">
                <a:moveTo>
                  <a:pt x="114300" y="0"/>
                </a:moveTo>
                <a:lnTo>
                  <a:pt x="2533650" y="0"/>
                </a:lnTo>
                <a:lnTo>
                  <a:pt x="2558335" y="2698"/>
                </a:lnTo>
                <a:lnTo>
                  <a:pt x="2568351" y="5395"/>
                </a:lnTo>
                <a:lnTo>
                  <a:pt x="2575893" y="8093"/>
                </a:lnTo>
                <a:lnTo>
                  <a:pt x="2582129" y="10790"/>
                </a:lnTo>
                <a:lnTo>
                  <a:pt x="2587514" y="13488"/>
                </a:lnTo>
                <a:lnTo>
                  <a:pt x="2592284" y="16185"/>
                </a:lnTo>
                <a:lnTo>
                  <a:pt x="2596578" y="18883"/>
                </a:lnTo>
                <a:lnTo>
                  <a:pt x="260048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D4A05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4"/>
          <p:cNvSpPr/>
          <p:nvPr/>
        </p:nvSpPr>
        <p:spPr>
          <a:xfrm>
            <a:off x="7365653" y="1771650"/>
            <a:ext cx="98390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φ</a:t>
            </a:r>
            <a:endParaRPr lang="en-US" sz="11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595" y="879425"/>
            <a:ext cx="4123734" cy="21580"/>
          </a:xfrm>
          <a:custGeom>
            <a:avLst/>
            <a:gdLst/>
            <a:ahLst/>
            <a:cxnLst/>
            <a:rect l="l" t="t" r="r" b="b"/>
            <a:pathLst>
              <a:path w="4123734" h="21580">
                <a:moveTo>
                  <a:pt x="71120" y="0"/>
                </a:moveTo>
                <a:lnTo>
                  <a:pt x="4052614" y="0"/>
                </a:lnTo>
                <a:lnTo>
                  <a:pt x="4072016" y="2698"/>
                </a:lnTo>
                <a:lnTo>
                  <a:pt x="4079786" y="5395"/>
                </a:lnTo>
                <a:lnTo>
                  <a:pt x="4085563" y="8093"/>
                </a:lnTo>
                <a:lnTo>
                  <a:pt x="4090275" y="10790"/>
                </a:lnTo>
                <a:lnTo>
                  <a:pt x="4094286" y="13488"/>
                </a:lnTo>
                <a:lnTo>
                  <a:pt x="4097783" y="16185"/>
                </a:lnTo>
                <a:lnTo>
                  <a:pt x="4100877" y="18883"/>
                </a:lnTo>
                <a:lnTo>
                  <a:pt x="4103642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38675" y="879425"/>
            <a:ext cx="4123734" cy="21580"/>
          </a:xfrm>
          <a:custGeom>
            <a:avLst/>
            <a:gdLst/>
            <a:ahLst/>
            <a:cxnLst/>
            <a:rect l="l" t="t" r="r" b="b"/>
            <a:pathLst>
              <a:path w="4123734" h="21580">
                <a:moveTo>
                  <a:pt x="71120" y="0"/>
                </a:moveTo>
                <a:lnTo>
                  <a:pt x="4052614" y="0"/>
                </a:lnTo>
                <a:lnTo>
                  <a:pt x="4072016" y="2698"/>
                </a:lnTo>
                <a:lnTo>
                  <a:pt x="4079786" y="5395"/>
                </a:lnTo>
                <a:lnTo>
                  <a:pt x="4085563" y="8093"/>
                </a:lnTo>
                <a:lnTo>
                  <a:pt x="4090275" y="10790"/>
                </a:lnTo>
                <a:lnTo>
                  <a:pt x="4094286" y="13488"/>
                </a:lnTo>
                <a:lnTo>
                  <a:pt x="4097783" y="16185"/>
                </a:lnTo>
                <a:lnTo>
                  <a:pt x="4100877" y="18883"/>
                </a:lnTo>
                <a:lnTo>
                  <a:pt x="4103642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595" y="2944416"/>
            <a:ext cx="4123734" cy="21580"/>
          </a:xfrm>
          <a:custGeom>
            <a:avLst/>
            <a:gdLst/>
            <a:ahLst/>
            <a:cxnLst/>
            <a:rect l="l" t="t" r="r" b="b"/>
            <a:pathLst>
              <a:path w="4123734" h="21580">
                <a:moveTo>
                  <a:pt x="71120" y="0"/>
                </a:moveTo>
                <a:lnTo>
                  <a:pt x="4052614" y="0"/>
                </a:lnTo>
                <a:lnTo>
                  <a:pt x="4072016" y="2698"/>
                </a:lnTo>
                <a:lnTo>
                  <a:pt x="4079786" y="5395"/>
                </a:lnTo>
                <a:lnTo>
                  <a:pt x="4085563" y="8093"/>
                </a:lnTo>
                <a:lnTo>
                  <a:pt x="4090275" y="10790"/>
                </a:lnTo>
                <a:lnTo>
                  <a:pt x="4094286" y="13488"/>
                </a:lnTo>
                <a:lnTo>
                  <a:pt x="4097783" y="16185"/>
                </a:lnTo>
                <a:lnTo>
                  <a:pt x="4100877" y="18883"/>
                </a:lnTo>
                <a:lnTo>
                  <a:pt x="4103642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38675" y="2944416"/>
            <a:ext cx="4123734" cy="21580"/>
          </a:xfrm>
          <a:custGeom>
            <a:avLst/>
            <a:gdLst/>
            <a:ahLst/>
            <a:cxnLst/>
            <a:rect l="l" t="t" r="r" b="b"/>
            <a:pathLst>
              <a:path w="4123734" h="21580">
                <a:moveTo>
                  <a:pt x="71120" y="0"/>
                </a:moveTo>
                <a:lnTo>
                  <a:pt x="4052614" y="0"/>
                </a:lnTo>
                <a:lnTo>
                  <a:pt x="4072016" y="2698"/>
                </a:lnTo>
                <a:lnTo>
                  <a:pt x="4079786" y="5395"/>
                </a:lnTo>
                <a:lnTo>
                  <a:pt x="4085563" y="8093"/>
                </a:lnTo>
                <a:lnTo>
                  <a:pt x="4090275" y="10790"/>
                </a:lnTo>
                <a:lnTo>
                  <a:pt x="4094286" y="13488"/>
                </a:lnTo>
                <a:lnTo>
                  <a:pt x="4097783" y="16185"/>
                </a:lnTo>
                <a:lnTo>
                  <a:pt x="4100877" y="18883"/>
                </a:lnTo>
                <a:lnTo>
                  <a:pt x="4103642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2071" y="321692"/>
            <a:ext cx="128141" cy="13841"/>
          </a:xfrm>
          <a:prstGeom prst="rect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7361" y="285750"/>
            <a:ext cx="158930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0"/>
              </a:lnSpc>
              <a:buNone/>
            </a:pPr>
            <a:r>
              <a:rPr lang="en-US" sz="620" b="1" spc="17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PROPOSAL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372070" y="428625"/>
            <a:ext cx="8987850" cy="24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What MFCS Brings to Microsoft Copilot — </a:t>
            </a:r>
            <a:pPr algn="l" indent="0" marL="0">
              <a:lnSpc>
                <a:spcPts val="1896"/>
              </a:lnSpc>
              <a:buNone/>
            </a:pPr>
            <a:r>
              <a:rPr lang="en-US" sz="158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Technical Integration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372070" y="869900"/>
            <a:ext cx="4142780" cy="1950690"/>
          </a:xfrm>
          <a:prstGeom prst="roundRect">
            <a:avLst>
              <a:gd name="adj" fmla="val 3646"/>
            </a:avLst>
          </a:prstGeom>
          <a:solidFill>
            <a:srgbClr val="1A2332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61234" y="993725"/>
            <a:ext cx="200620" cy="220682"/>
          </a:xfrm>
          <a:prstGeom prst="ellipse">
            <a:avLst/>
          </a:prstGeom>
          <a:solidFill>
            <a:srgbClr val="58A6FF">
              <a:alpha val="10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1</a:t>
            </a:r>
            <a:endParaRPr lang="en-US" sz="73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886" y="1050875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66886" y="1350466"/>
            <a:ext cx="4128462" cy="102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20" b="1" spc="12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POST-GENERATION VERIFICATION LAYER</a:t>
            </a:r>
            <a:endParaRPr lang="en-US" sz="620" dirty="0"/>
          </a:p>
        </p:txBody>
      </p:sp>
      <p:sp>
        <p:nvSpPr>
          <p:cNvPr id="15" name="Text 12"/>
          <p:cNvSpPr/>
          <p:nvPr/>
        </p:nvSpPr>
        <p:spPr>
          <a:xfrm>
            <a:off x="566886" y="1495871"/>
            <a:ext cx="3828211" cy="885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Copilot output passes through a </a:t>
            </a:r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three-gate pipeline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user delivery: canonical naming check, manifest integrity validation, and accessibility compliance gate. Deployed as a </a:t>
            </a:r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post-processor plugin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Copilot orchestration stack.</a:t>
            </a:r>
            <a:endParaRPr lang="en-US" sz="760" dirty="0"/>
          </a:p>
        </p:txBody>
      </p:sp>
      <p:sp>
        <p:nvSpPr>
          <p:cNvPr id="16" name="Text 13"/>
          <p:cNvSpPr/>
          <p:nvPr/>
        </p:nvSpPr>
        <p:spPr>
          <a:xfrm>
            <a:off x="566886" y="2410420"/>
            <a:ext cx="3828211" cy="257175"/>
          </a:xfrm>
          <a:prstGeom prst="roundRect">
            <a:avLst>
              <a:gd name="adj" fmla="val 16790"/>
            </a:avLst>
          </a:prstGeom>
          <a:solidFill>
            <a:srgbClr val="0F1419">
              <a:alpha val="60000"/>
            </a:srgbClr>
          </a:solidFill>
          <a:ln w="9525">
            <a:solidFill>
              <a:srgbClr val="58A6FF">
                <a:alpha val="10000"/>
              </a:srgbClr>
            </a:solidFill>
          </a:ln>
        </p:spPr>
        <p:txBody>
          <a:bodyPr wrap="none" lIns="86360" tIns="57150" rIns="86360" bIns="57150" rtlCol="0" anchor="t"/>
          <a:lstStyle/>
          <a:p>
            <a:pPr algn="l" indent="0" marL="0">
              <a:buNone/>
            </a:pPr>
            <a:r>
              <a:rPr lang="en-US" sz="650" spc="20" kern="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copilot.output</a:t>
            </a:r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naming_check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manifest_verify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a11y_gate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4629150" y="869900"/>
            <a:ext cx="4142780" cy="1950690"/>
          </a:xfrm>
          <a:prstGeom prst="roundRect">
            <a:avLst>
              <a:gd name="adj" fmla="val 3646"/>
            </a:avLst>
          </a:prstGeom>
          <a:solidFill>
            <a:srgbClr val="1A2332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418314" y="993725"/>
            <a:ext cx="200620" cy="220682"/>
          </a:xfrm>
          <a:prstGeom prst="ellipse">
            <a:avLst/>
          </a:prstGeom>
          <a:solidFill>
            <a:srgbClr val="58A6FF">
              <a:alpha val="10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2</a:t>
            </a:r>
            <a:endParaRPr lang="en-US" sz="73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3966" y="1050875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23966" y="1350466"/>
            <a:ext cx="4128462" cy="102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20" b="1" spc="12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PATH REGRESSION SUITE</a:t>
            </a:r>
            <a:endParaRPr lang="en-US" sz="620" dirty="0"/>
          </a:p>
        </p:txBody>
      </p:sp>
      <p:sp>
        <p:nvSpPr>
          <p:cNvPr id="21" name="Text 17"/>
          <p:cNvSpPr/>
          <p:nvPr/>
        </p:nvSpPr>
        <p:spPr>
          <a:xfrm>
            <a:off x="4823966" y="1495871"/>
            <a:ext cx="3828211" cy="885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96-path map becomes a </a:t>
            </a:r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regression contract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Any Copilot update adding new output categories must pass all existing path invariants. </a:t>
            </a:r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blocks merges that violate naming, structure, or manifest constraints.</a:t>
            </a:r>
            <a:endParaRPr lang="en-US" sz="760" dirty="0"/>
          </a:p>
        </p:txBody>
      </p:sp>
      <p:sp>
        <p:nvSpPr>
          <p:cNvPr id="22" name="Text 18"/>
          <p:cNvSpPr/>
          <p:nvPr/>
        </p:nvSpPr>
        <p:spPr>
          <a:xfrm>
            <a:off x="4823966" y="2410420"/>
            <a:ext cx="3828211" cy="257175"/>
          </a:xfrm>
          <a:prstGeom prst="roundRect">
            <a:avLst>
              <a:gd name="adj" fmla="val 16790"/>
            </a:avLst>
          </a:prstGeom>
          <a:solidFill>
            <a:srgbClr val="0F1419">
              <a:alpha val="60000"/>
            </a:srgbClr>
          </a:solidFill>
          <a:ln w="9525">
            <a:solidFill>
              <a:srgbClr val="58A6FF">
                <a:alpha val="10000"/>
              </a:srgbClr>
            </a:solidFill>
          </a:ln>
        </p:spPr>
        <p:txBody>
          <a:bodyPr wrap="none" lIns="86360" tIns="57150" rIns="86360" bIns="57150" rtlCol="0" anchor="t"/>
          <a:lstStyle/>
          <a:p>
            <a:pPr algn="l" indent="0" marL="0">
              <a:buNone/>
            </a:pPr>
            <a:r>
              <a:rPr lang="en-US" sz="650" spc="2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pull_request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mfcs.pathmap.assert_96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block_merge</a:t>
            </a:r>
            <a:endParaRPr lang="en-US" sz="650" dirty="0"/>
          </a:p>
        </p:txBody>
      </p:sp>
      <p:sp>
        <p:nvSpPr>
          <p:cNvPr id="23" name="Text 19"/>
          <p:cNvSpPr/>
          <p:nvPr/>
        </p:nvSpPr>
        <p:spPr>
          <a:xfrm>
            <a:off x="372070" y="2934891"/>
            <a:ext cx="4142780" cy="1950839"/>
          </a:xfrm>
          <a:prstGeom prst="roundRect">
            <a:avLst>
              <a:gd name="adj" fmla="val 3646"/>
            </a:avLst>
          </a:prstGeom>
          <a:solidFill>
            <a:srgbClr val="1A2332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161234" y="3058716"/>
            <a:ext cx="200620" cy="220682"/>
          </a:xfrm>
          <a:prstGeom prst="ellipse">
            <a:avLst/>
          </a:prstGeom>
          <a:solidFill>
            <a:srgbClr val="58A6FF">
              <a:alpha val="10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3</a:t>
            </a:r>
            <a:endParaRPr lang="en-US" sz="73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6886" y="3115866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66886" y="3415457"/>
            <a:ext cx="4128462" cy="102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20" b="1" spc="12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MIRROR EXPORT</a:t>
            </a:r>
            <a:endParaRPr lang="en-US" sz="620" dirty="0"/>
          </a:p>
        </p:txBody>
      </p:sp>
      <p:sp>
        <p:nvSpPr>
          <p:cNvPr id="27" name="Text 22"/>
          <p:cNvSpPr/>
          <p:nvPr/>
        </p:nvSpPr>
        <p:spPr>
          <a:xfrm>
            <a:off x="566886" y="3560862"/>
            <a:ext cx="3828211" cy="88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Copilot export format producing </a:t>
            </a:r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packages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integrity-verified, accessibility-complete, offline-portable. Ships as </a:t>
            </a:r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.mirror bundles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embedded checksums, WCAG metadata, and full provenance chain.</a:t>
            </a:r>
            <a:endParaRPr lang="en-US" sz="760" dirty="0"/>
          </a:p>
        </p:txBody>
      </p:sp>
      <p:sp>
        <p:nvSpPr>
          <p:cNvPr id="28" name="Text 23"/>
          <p:cNvSpPr/>
          <p:nvPr/>
        </p:nvSpPr>
        <p:spPr>
          <a:xfrm>
            <a:off x="566886" y="4475559"/>
            <a:ext cx="3828211" cy="257175"/>
          </a:xfrm>
          <a:prstGeom prst="roundRect">
            <a:avLst>
              <a:gd name="adj" fmla="val 16790"/>
            </a:avLst>
          </a:prstGeom>
          <a:solidFill>
            <a:srgbClr val="0F1419">
              <a:alpha val="60000"/>
            </a:srgbClr>
          </a:solidFill>
          <a:ln w="9525">
            <a:solidFill>
              <a:srgbClr val="58A6FF">
                <a:alpha val="10000"/>
              </a:srgbClr>
            </a:solidFill>
          </a:ln>
        </p:spPr>
        <p:txBody>
          <a:bodyPr wrap="none" lIns="86360" tIns="57150" rIns="86360" bIns="57150" rtlCol="0" anchor="t"/>
          <a:lstStyle/>
          <a:p>
            <a:pPr algn="l" indent="0" marL="0">
              <a:buNone/>
            </a:pPr>
            <a:r>
              <a:rPr lang="en-US" sz="650" spc="20" kern="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"digital-mirror"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integrity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a11y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wcag-aa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650" dirty="0"/>
          </a:p>
        </p:txBody>
      </p:sp>
      <p:sp>
        <p:nvSpPr>
          <p:cNvPr id="29" name="Text 24"/>
          <p:cNvSpPr/>
          <p:nvPr/>
        </p:nvSpPr>
        <p:spPr>
          <a:xfrm>
            <a:off x="4629150" y="2934891"/>
            <a:ext cx="4142780" cy="1950839"/>
          </a:xfrm>
          <a:prstGeom prst="roundRect">
            <a:avLst>
              <a:gd name="adj" fmla="val 3646"/>
            </a:avLst>
          </a:prstGeom>
          <a:solidFill>
            <a:srgbClr val="1A2332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8418314" y="3058716"/>
            <a:ext cx="200620" cy="220682"/>
          </a:xfrm>
          <a:prstGeom prst="ellipse">
            <a:avLst/>
          </a:prstGeom>
          <a:solidFill>
            <a:srgbClr val="58A6FF">
              <a:alpha val="10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4</a:t>
            </a:r>
            <a:endParaRPr lang="en-US" sz="73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3966" y="3115866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823966" y="3415457"/>
            <a:ext cx="4128462" cy="102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20" b="1" spc="12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EXTENSION FRAMEWORK</a:t>
            </a:r>
            <a:endParaRPr lang="en-US" sz="620" dirty="0"/>
          </a:p>
        </p:txBody>
      </p:sp>
      <p:sp>
        <p:nvSpPr>
          <p:cNvPr id="33" name="Text 27"/>
          <p:cNvSpPr/>
          <p:nvPr/>
        </p:nvSpPr>
        <p:spPr>
          <a:xfrm>
            <a:off x="4823966" y="3560862"/>
            <a:ext cx="3828211" cy="88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system extends via </a:t>
            </a:r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adapters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cover new Copilot output types: code generation, document composition, image synthesis, and multi-modal pipelines. Each adapter implements </a:t>
            </a:r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validate()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remediate()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audit()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60" dirty="0"/>
          </a:p>
        </p:txBody>
      </p:sp>
      <p:sp>
        <p:nvSpPr>
          <p:cNvPr id="34" name="Text 28"/>
          <p:cNvSpPr/>
          <p:nvPr/>
        </p:nvSpPr>
        <p:spPr>
          <a:xfrm>
            <a:off x="4823966" y="4475559"/>
            <a:ext cx="3828211" cy="257175"/>
          </a:xfrm>
          <a:prstGeom prst="roundRect">
            <a:avLst>
              <a:gd name="adj" fmla="val 16790"/>
            </a:avLst>
          </a:prstGeom>
          <a:solidFill>
            <a:srgbClr val="0F1419">
              <a:alpha val="60000"/>
            </a:srgbClr>
          </a:solidFill>
          <a:ln w="9525">
            <a:solidFill>
              <a:srgbClr val="58A6FF">
                <a:alpha val="10000"/>
              </a:srgbClr>
            </a:solidFill>
          </a:ln>
        </p:spPr>
        <p:txBody>
          <a:bodyPr wrap="none" lIns="86360" tIns="57150" rIns="86360" bIns="57150" rtlCol="0" anchor="t"/>
          <a:lstStyle/>
          <a:p>
            <a:pPr algn="l" indent="0" marL="0">
              <a:buNone/>
            </a:pPr>
            <a:r>
              <a:rPr lang="en-US" sz="650" spc="2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CodeGuardian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Guardian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remediate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</a:t>
            </a:r>
            <a:endParaRPr lang="en-US" sz="650" dirty="0"/>
          </a:p>
          <a:p>
            <a:pPr algn="l" indent="0" marL="0">
              <a:buNone/>
            </a:pPr>
            <a:endParaRPr lang="en-US" sz="650" dirty="0"/>
          </a:p>
          <a:p>
            <a:pPr algn="l" indent="0" marL="0">
              <a:buNone/>
            </a:pPr>
            <a:r>
              <a:rPr lang="en-US" sz="650" spc="2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rotWithShape="1">
          <a:gsLst>
            <a:gs pos="0">
              <a:srgbClr val="58A6FF">
                <a:alpha val="3000"/>
              </a:srgbClr>
            </a:gs>
            <a:gs pos="100000">
              <a:srgbClr val="000000">
                <a:alpha val="0"/>
              </a:srgb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5132"/>
            <a:ext cx="1563436" cy="244376"/>
          </a:xfrm>
          <a:prstGeom prst="roundRect">
            <a:avLst>
              <a:gd name="adj" fmla="val 70158"/>
            </a:avLst>
          </a:prstGeom>
          <a:gradFill rotWithShape="1">
            <a:gsLst>
              <a:gs pos="0">
                <a:srgbClr val="58A6FF">
                  <a:alpha val="12000"/>
                </a:srgbClr>
              </a:gs>
              <a:gs pos="100000">
                <a:srgbClr val="3FB950">
                  <a:alpha val="8000"/>
                </a:srgbClr>
              </a:gs>
            </a:gsLst>
            <a:lin ang="2700000" scaled="1"/>
          </a:gradFill>
          <a:ln w="9525">
            <a:solidFill>
              <a:srgbClr val="58A6FF">
                <a:alpha val="30000"/>
              </a:srgbClr>
            </a:solidFill>
          </a:ln>
        </p:spPr>
        <p:txBody>
          <a:bodyPr wrap="none" lIns="260579" tIns="43180" rIns="128270" bIns="43180" rtlCol="0" anchor="ctr"/>
          <a:lstStyle/>
          <a:p>
            <a:pPr algn="l" indent="0" marL="0">
              <a:buNone/>
            </a:pPr>
            <a:r>
              <a:rPr lang="en-US" sz="730" spc="11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PROPERTY</a:t>
            </a:r>
            <a:endParaRPr lang="en-US" sz="73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151" y="400952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2668"/>
            <a:ext cx="8394192" cy="72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14"/>
              </a:lnSpc>
              <a:spcAft>
                <a:spcPts val="230"/>
              </a:spcAft>
              <a:buNone/>
            </a:pPr>
            <a:r>
              <a:rPr lang="en-US" sz="236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Accessibility — Not a Best Practice,</a:t>
            </a:r>
            <a:br/>
            <a:pPr algn="l" indent="0" marL="0">
              <a:lnSpc>
                <a:spcPts val="2714"/>
              </a:lnSpc>
              <a:spcAft>
                <a:spcPts val="230"/>
              </a:spcAft>
              <a:buNone/>
            </a:pPr>
            <a:r>
              <a:rPr lang="en-US" sz="236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 </a:t>
            </a:r>
            <a:pPr algn="l" indent="0" marL="0">
              <a:lnSpc>
                <a:spcPts val="2714"/>
              </a:lnSpc>
              <a:spcAft>
                <a:spcPts val="230"/>
              </a:spcAft>
              <a:buNone/>
            </a:pPr>
            <a:r>
              <a:rPr lang="en-US" sz="2360" b="1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an Invariant</a:t>
            </a:r>
            <a:endParaRPr lang="en-US" sz="2360" dirty="0"/>
          </a:p>
        </p:txBody>
      </p:sp>
      <p:sp>
        <p:nvSpPr>
          <p:cNvPr id="5" name="Text 2"/>
          <p:cNvSpPr/>
          <p:nvPr/>
        </p:nvSpPr>
        <p:spPr>
          <a:xfrm>
            <a:off x="457200" y="1351211"/>
            <a:ext cx="5101245" cy="404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5"/>
              </a:lnSpc>
              <a:spcAft>
                <a:spcPts val="1580"/>
              </a:spcAft>
              <a:buNone/>
            </a:pPr>
            <a:r>
              <a:rPr lang="en-US" sz="101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MFCS, accessibility is a formally verified property enforced across every execution path — not a checklist item.</a:t>
            </a:r>
            <a:endParaRPr lang="en-US" sz="1010" dirty="0"/>
          </a:p>
        </p:txBody>
      </p:sp>
      <p:sp>
        <p:nvSpPr>
          <p:cNvPr id="6" name="Text 3"/>
          <p:cNvSpPr/>
          <p:nvPr/>
        </p:nvSpPr>
        <p:spPr>
          <a:xfrm>
            <a:off x="457200" y="1936700"/>
            <a:ext cx="606581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10"/>
              </a:spcAft>
              <a:buNone/>
            </a:pPr>
            <a:r>
              <a:rPr lang="en-US" sz="840" b="1" spc="14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ACCESSIBILITYCOMPLETENESSINVARIANT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457200" y="2210842"/>
            <a:ext cx="5514380" cy="537567"/>
          </a:xfrm>
          <a:prstGeom prst="roundRect">
            <a:avLst>
              <a:gd name="adj" fmla="val 13230"/>
            </a:avLst>
          </a:prstGeom>
          <a:solidFill>
            <a:srgbClr val="1A233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2210842"/>
            <a:ext cx="19050" cy="537567"/>
          </a:xfrm>
          <a:custGeom>
            <a:avLst/>
            <a:gdLst/>
            <a:ahLst/>
            <a:cxnLst/>
            <a:rect l="l" t="t" r="r" b="b"/>
            <a:pathLst>
              <a:path w="19050" h="537567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14891"/>
                </a:lnTo>
                <a:lnTo>
                  <a:pt x="16669" y="512198"/>
                </a:lnTo>
                <a:lnTo>
                  <a:pt x="14288" y="509204"/>
                </a:lnTo>
                <a:lnTo>
                  <a:pt x="11906" y="505840"/>
                </a:lnTo>
                <a:lnTo>
                  <a:pt x="9525" y="502001"/>
                </a:lnTo>
                <a:lnTo>
                  <a:pt x="7144" y="497513"/>
                </a:lnTo>
                <a:lnTo>
                  <a:pt x="4763" y="492035"/>
                </a:lnTo>
                <a:lnTo>
                  <a:pt x="2381" y="484697"/>
                </a:lnTo>
                <a:lnTo>
                  <a:pt x="0" y="466447"/>
                </a:lnTo>
                <a:close/>
              </a:path>
            </a:pathLst>
          </a:custGeom>
          <a:solidFill>
            <a:srgbClr val="3FB95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04391" y="2318742"/>
            <a:ext cx="157460" cy="157460"/>
          </a:xfrm>
          <a:prstGeom prst="ellipse">
            <a:avLst/>
          </a:prstGeom>
          <a:solidFill>
            <a:srgbClr val="3FB950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753" y="2331104"/>
            <a:ext cx="132588" cy="132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2161" y="2311152"/>
            <a:ext cx="4434111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on all visual elements</a:t>
            </a:r>
            <a:endParaRPr lang="en-US" sz="960" dirty="0"/>
          </a:p>
        </p:txBody>
      </p:sp>
      <p:sp>
        <p:nvSpPr>
          <p:cNvPr id="12" name="Text 8"/>
          <p:cNvSpPr/>
          <p:nvPr/>
        </p:nvSpPr>
        <p:spPr>
          <a:xfrm>
            <a:off x="862161" y="2507754"/>
            <a:ext cx="4434111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6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artifact exits packaging without descriptive captions attached to every visual component</a:t>
            </a:r>
            <a:endParaRPr lang="en-US" sz="790" dirty="0"/>
          </a:p>
        </p:txBody>
      </p:sp>
      <p:sp>
        <p:nvSpPr>
          <p:cNvPr id="13" name="Text 9"/>
          <p:cNvSpPr/>
          <p:nvPr/>
        </p:nvSpPr>
        <p:spPr>
          <a:xfrm>
            <a:off x="457200" y="2848719"/>
            <a:ext cx="5514380" cy="537567"/>
          </a:xfrm>
          <a:prstGeom prst="roundRect">
            <a:avLst>
              <a:gd name="adj" fmla="val 13230"/>
            </a:avLst>
          </a:prstGeom>
          <a:solidFill>
            <a:srgbClr val="1A233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57200" y="2848719"/>
            <a:ext cx="19050" cy="537567"/>
          </a:xfrm>
          <a:custGeom>
            <a:avLst/>
            <a:gdLst/>
            <a:ahLst/>
            <a:cxnLst/>
            <a:rect l="l" t="t" r="r" b="b"/>
            <a:pathLst>
              <a:path w="19050" h="537567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14891"/>
                </a:lnTo>
                <a:lnTo>
                  <a:pt x="16669" y="512198"/>
                </a:lnTo>
                <a:lnTo>
                  <a:pt x="14288" y="509204"/>
                </a:lnTo>
                <a:lnTo>
                  <a:pt x="11906" y="505840"/>
                </a:lnTo>
                <a:lnTo>
                  <a:pt x="9525" y="502001"/>
                </a:lnTo>
                <a:lnTo>
                  <a:pt x="7144" y="497513"/>
                </a:lnTo>
                <a:lnTo>
                  <a:pt x="4763" y="492035"/>
                </a:lnTo>
                <a:lnTo>
                  <a:pt x="2381" y="484697"/>
                </a:lnTo>
                <a:lnTo>
                  <a:pt x="0" y="466447"/>
                </a:lnTo>
                <a:close/>
              </a:path>
            </a:pathLst>
          </a:custGeom>
          <a:solidFill>
            <a:srgbClr val="3FB95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04391" y="2956620"/>
            <a:ext cx="157460" cy="157460"/>
          </a:xfrm>
          <a:prstGeom prst="ellipse">
            <a:avLst/>
          </a:prstGeom>
          <a:solidFill>
            <a:srgbClr val="3FB950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753" y="2968981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2161" y="2949029"/>
            <a:ext cx="4347835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text on all images</a:t>
            </a:r>
            <a:endParaRPr lang="en-US" sz="960" dirty="0"/>
          </a:p>
        </p:txBody>
      </p:sp>
      <p:sp>
        <p:nvSpPr>
          <p:cNvPr id="18" name="Text 13"/>
          <p:cNvSpPr/>
          <p:nvPr/>
        </p:nvSpPr>
        <p:spPr>
          <a:xfrm>
            <a:off x="862161" y="3145631"/>
            <a:ext cx="4347835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6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carries semantically meaningful alternative text verified before terminal state</a:t>
            </a:r>
            <a:endParaRPr lang="en-US" sz="790" dirty="0"/>
          </a:p>
        </p:txBody>
      </p:sp>
      <p:sp>
        <p:nvSpPr>
          <p:cNvPr id="19" name="Text 14"/>
          <p:cNvSpPr/>
          <p:nvPr/>
        </p:nvSpPr>
        <p:spPr>
          <a:xfrm>
            <a:off x="457200" y="3486596"/>
            <a:ext cx="5514380" cy="537567"/>
          </a:xfrm>
          <a:prstGeom prst="roundRect">
            <a:avLst>
              <a:gd name="adj" fmla="val 13230"/>
            </a:avLst>
          </a:prstGeom>
          <a:solidFill>
            <a:srgbClr val="1A233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457200" y="3486596"/>
            <a:ext cx="19050" cy="537567"/>
          </a:xfrm>
          <a:custGeom>
            <a:avLst/>
            <a:gdLst/>
            <a:ahLst/>
            <a:cxnLst/>
            <a:rect l="l" t="t" r="r" b="b"/>
            <a:pathLst>
              <a:path w="19050" h="537567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14891"/>
                </a:lnTo>
                <a:lnTo>
                  <a:pt x="16669" y="512198"/>
                </a:lnTo>
                <a:lnTo>
                  <a:pt x="14288" y="509204"/>
                </a:lnTo>
                <a:lnTo>
                  <a:pt x="11906" y="505840"/>
                </a:lnTo>
                <a:lnTo>
                  <a:pt x="9525" y="502001"/>
                </a:lnTo>
                <a:lnTo>
                  <a:pt x="7144" y="497513"/>
                </a:lnTo>
                <a:lnTo>
                  <a:pt x="4763" y="492035"/>
                </a:lnTo>
                <a:lnTo>
                  <a:pt x="2381" y="484697"/>
                </a:lnTo>
                <a:lnTo>
                  <a:pt x="0" y="466447"/>
                </a:lnTo>
                <a:close/>
              </a:path>
            </a:pathLst>
          </a:custGeom>
          <a:solidFill>
            <a:srgbClr val="3FB95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04391" y="3594497"/>
            <a:ext cx="157460" cy="157460"/>
          </a:xfrm>
          <a:prstGeom prst="ellipse">
            <a:avLst/>
          </a:prstGeom>
          <a:solidFill>
            <a:srgbClr val="3FB950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753" y="3606859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2161" y="3586907"/>
            <a:ext cx="4336212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fonts for rendering independence</a:t>
            </a:r>
            <a:endParaRPr lang="en-US" sz="960" dirty="0"/>
          </a:p>
        </p:txBody>
      </p:sp>
      <p:sp>
        <p:nvSpPr>
          <p:cNvPr id="24" name="Text 18"/>
          <p:cNvSpPr/>
          <p:nvPr/>
        </p:nvSpPr>
        <p:spPr>
          <a:xfrm>
            <a:off x="862161" y="3783509"/>
            <a:ext cx="4336212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6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resources are embedded to guarantee consistent rendering across all environments</a:t>
            </a:r>
            <a:endParaRPr lang="en-US" sz="790" dirty="0"/>
          </a:p>
        </p:txBody>
      </p:sp>
      <p:sp>
        <p:nvSpPr>
          <p:cNvPr id="25" name="Text 19"/>
          <p:cNvSpPr/>
          <p:nvPr/>
        </p:nvSpPr>
        <p:spPr>
          <a:xfrm>
            <a:off x="6257330" y="1936700"/>
            <a:ext cx="2429470" cy="1854547"/>
          </a:xfrm>
          <a:prstGeom prst="roundRect">
            <a:avLst>
              <a:gd name="adj" fmla="val 6163"/>
            </a:avLst>
          </a:prstGeom>
          <a:solidFill>
            <a:srgbClr val="1A2332"/>
          </a:solidFill>
          <a:ln w="9525">
            <a:solidFill>
              <a:srgbClr val="58A6FF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657380" y="2218581"/>
            <a:ext cx="642491" cy="642491"/>
          </a:xfrm>
          <a:prstGeom prst="ellipse">
            <a:avLst/>
          </a:prstGeom>
          <a:noFill/>
          <a:ln w="9525">
            <a:solidFill>
              <a:srgbClr val="58A6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8772" y="2146846"/>
            <a:ext cx="786110" cy="78611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97502" y="2225576"/>
            <a:ext cx="628650" cy="628650"/>
          </a:xfrm>
          <a:prstGeom prst="ellipse">
            <a:avLst/>
          </a:prstGeom>
          <a:solidFill>
            <a:srgbClr val="1A233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7597016" y="2373511"/>
            <a:ext cx="22947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690" b="1" dirty="0">
                <a:solidFill>
                  <a:srgbClr val="3FB950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96</a:t>
            </a:r>
            <a:endParaRPr lang="en-US" sz="1690" dirty="0"/>
          </a:p>
        </p:txBody>
      </p:sp>
      <p:sp>
        <p:nvSpPr>
          <p:cNvPr id="30" name="Text 23"/>
          <p:cNvSpPr/>
          <p:nvPr/>
        </p:nvSpPr>
        <p:spPr>
          <a:xfrm>
            <a:off x="7553191" y="2588121"/>
            <a:ext cx="31727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spc="6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</a:t>
            </a:r>
            <a:endParaRPr lang="en-US" sz="620" dirty="0"/>
          </a:p>
        </p:txBody>
      </p:sp>
      <p:sp>
        <p:nvSpPr>
          <p:cNvPr id="31" name="Text 24"/>
          <p:cNvSpPr/>
          <p:nvPr/>
        </p:nvSpPr>
        <p:spPr>
          <a:xfrm>
            <a:off x="6475922" y="3061097"/>
            <a:ext cx="1992285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across </a:t>
            </a:r>
            <a:pPr algn="ctr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96 execution paths</a:t>
            </a:r>
            <a:br/>
            <a:pPr algn="ct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TLA+ specification</a:t>
            </a:r>
            <a:endParaRPr lang="en-US" sz="84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79812" y="3471946"/>
            <a:ext cx="132588" cy="1325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32129" y="3520529"/>
            <a:ext cx="35421" cy="35421"/>
          </a:xfrm>
          <a:prstGeom prst="ellipse">
            <a:avLst/>
          </a:prstGeom>
          <a:solidFill>
            <a:srgbClr val="3FB950">
              <a:alpha val="9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7089130" y="3520529"/>
            <a:ext cx="35421" cy="35421"/>
          </a:xfrm>
          <a:prstGeom prst="ellipse">
            <a:avLst/>
          </a:prstGeom>
          <a:solidFill>
            <a:srgbClr val="3FB950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7146131" y="3520529"/>
            <a:ext cx="35421" cy="35421"/>
          </a:xfrm>
          <a:prstGeom prst="ellipse">
            <a:avLst/>
          </a:prstGeom>
          <a:solidFill>
            <a:srgbClr val="3FB950">
              <a:alpha val="8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7203132" y="3520529"/>
            <a:ext cx="35421" cy="35421"/>
          </a:xfrm>
          <a:prstGeom prst="ellipse">
            <a:avLst/>
          </a:prstGeom>
          <a:solidFill>
            <a:srgbClr val="3FB950">
              <a:alpha val="7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7260134" y="3520529"/>
            <a:ext cx="35421" cy="35421"/>
          </a:xfrm>
          <a:prstGeom prst="ellipse">
            <a:avLst/>
          </a:prstGeom>
          <a:solidFill>
            <a:srgbClr val="3FB950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7317135" y="3520529"/>
            <a:ext cx="35421" cy="35421"/>
          </a:xfrm>
          <a:prstGeom prst="ellipse">
            <a:avLst/>
          </a:prstGeom>
          <a:solidFill>
            <a:srgbClr val="3FB950">
              <a:alpha val="6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7374136" y="3520529"/>
            <a:ext cx="35421" cy="35421"/>
          </a:xfrm>
          <a:prstGeom prst="ellipse">
            <a:avLst/>
          </a:prstGeom>
          <a:solidFill>
            <a:srgbClr val="3FB950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7431137" y="3520529"/>
            <a:ext cx="35421" cy="35421"/>
          </a:xfrm>
          <a:prstGeom prst="ellipse">
            <a:avLst/>
          </a:prstGeom>
          <a:solidFill>
            <a:srgbClr val="3FB950">
              <a:alpha val="5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7488138" y="3520529"/>
            <a:ext cx="35421" cy="35421"/>
          </a:xfrm>
          <a:prstGeom prst="ellipse">
            <a:avLst/>
          </a:prstGeom>
          <a:solidFill>
            <a:srgbClr val="3FB950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7545139" y="3520529"/>
            <a:ext cx="35421" cy="35421"/>
          </a:xfrm>
          <a:prstGeom prst="ellipse">
            <a:avLst/>
          </a:prstGeom>
          <a:solidFill>
            <a:srgbClr val="3FB950">
              <a:alpha val="4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7602141" y="3520529"/>
            <a:ext cx="35421" cy="35421"/>
          </a:xfrm>
          <a:prstGeom prst="ellipse">
            <a:avLst/>
          </a:prstGeom>
          <a:solidFill>
            <a:srgbClr val="3FB950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7659142" y="3520529"/>
            <a:ext cx="35421" cy="35421"/>
          </a:xfrm>
          <a:prstGeom prst="ellipse">
            <a:avLst/>
          </a:prstGeom>
          <a:solidFill>
            <a:srgbClr val="3FB950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7"/>
          <p:cNvSpPr/>
          <p:nvPr/>
        </p:nvSpPr>
        <p:spPr>
          <a:xfrm>
            <a:off x="7716143" y="3520529"/>
            <a:ext cx="35421" cy="35421"/>
          </a:xfrm>
          <a:prstGeom prst="ellipse">
            <a:avLst/>
          </a:prstGeom>
          <a:solidFill>
            <a:srgbClr val="3FB950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7773144" y="3520529"/>
            <a:ext cx="35421" cy="35421"/>
          </a:xfrm>
          <a:prstGeom prst="ellipse">
            <a:avLst/>
          </a:prstGeom>
          <a:solidFill>
            <a:srgbClr val="3FB950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7830145" y="3520529"/>
            <a:ext cx="35421" cy="35421"/>
          </a:xfrm>
          <a:prstGeom prst="ellipse">
            <a:avLst/>
          </a:prstGeom>
          <a:solidFill>
            <a:srgbClr val="3FB950">
              <a:alpha val="8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7887146" y="3520529"/>
            <a:ext cx="35421" cy="35421"/>
          </a:xfrm>
          <a:prstGeom prst="ellipse">
            <a:avLst/>
          </a:prstGeom>
          <a:solidFill>
            <a:srgbClr val="3FB950">
              <a:alpha val="9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37013" y="3471871"/>
            <a:ext cx="132588" cy="132588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457200" y="4417070"/>
            <a:ext cx="8229600" cy="440680"/>
          </a:xfrm>
          <a:prstGeom prst="roundRect">
            <a:avLst>
              <a:gd name="adj" fmla="val 19597"/>
            </a:avLst>
          </a:prstGeom>
          <a:gradFill rotWithShape="1">
            <a:gsLst>
              <a:gs pos="0">
                <a:srgbClr val="58A6FF">
                  <a:alpha val="8000"/>
                </a:srgbClr>
              </a:gs>
              <a:gs pos="100000">
                <a:srgbClr val="58A6FF">
                  <a:alpha val="3000"/>
                </a:srgbClr>
              </a:gs>
            </a:gsLst>
            <a:lin ang="2700000" scaled="1"/>
          </a:gradFill>
          <a:ln w="9525">
            <a:solidFill>
              <a:srgbClr val="58A6FF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6673" y="4571116"/>
            <a:ext cx="132588" cy="132588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917079" y="4554736"/>
            <a:ext cx="7524646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accessibility commitments</a:t>
            </a:r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algn="l" indent="0" marL="0">
              <a:lnSpc>
                <a:spcPts val="1302"/>
              </a:lnSpc>
              <a:buNone/>
            </a:pPr>
            <a:r>
              <a:rPr lang="en-US" sz="84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MFCS formal guarantees</a:t>
            </a:r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mechanized proof that every Copilot output meets accessibility standards.</a:t>
            </a:r>
            <a:endParaRPr lang="en-US" sz="840" dirty="0"/>
          </a:p>
        </p:txBody>
      </p:sp>
      <p:sp>
        <p:nvSpPr>
          <p:cNvPr id="53" name="Text 43"/>
          <p:cNvSpPr/>
          <p:nvPr/>
        </p:nvSpPr>
        <p:spPr>
          <a:xfrm>
            <a:off x="466725" y="4512955"/>
            <a:ext cx="21580" cy="248989"/>
          </a:xfrm>
          <a:prstGeom prst="roundRect">
            <a:avLst>
              <a:gd name="adj" fmla="val 64736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4"/>
          <p:cNvSpPr/>
          <p:nvPr/>
        </p:nvSpPr>
        <p:spPr>
          <a:xfrm>
            <a:off x="6549926" y="2111127"/>
            <a:ext cx="857250" cy="857250"/>
          </a:xfrm>
          <a:prstGeom prst="ellipse">
            <a:avLst/>
          </a:prstGeom>
          <a:gradFill rotWithShape="1">
            <a:gsLst>
              <a:gs pos="0">
                <a:srgbClr val="58A6FF">
                  <a:alpha val="2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39099" y="2400300"/>
            <a:ext cx="279053" cy="27905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79895" y="647660"/>
            <a:ext cx="439341" cy="439341"/>
          </a:xfrm>
          <a:prstGeom prst="ellipse">
            <a:avLst/>
          </a:prstGeom>
          <a:noFill/>
          <a:ln w="9525">
            <a:solidFill>
              <a:srgbClr val="58A6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6370" y="1813193"/>
            <a:ext cx="35421" cy="35421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6370" y="1962021"/>
            <a:ext cx="35421" cy="35421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6370" y="2230507"/>
            <a:ext cx="35421" cy="35421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42765" y="647660"/>
            <a:ext cx="439341" cy="439341"/>
          </a:xfrm>
          <a:prstGeom prst="ellipse">
            <a:avLst/>
          </a:prstGeom>
          <a:noFill/>
          <a:ln w="9525">
            <a:solidFill>
              <a:srgbClr val="58A6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49241" y="1813193"/>
            <a:ext cx="35421" cy="35421"/>
          </a:xfrm>
          <a:prstGeom prst="ellipse">
            <a:avLst/>
          </a:prstGeom>
          <a:solidFill>
            <a:srgbClr val="1F6FEB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49241" y="1962021"/>
            <a:ext cx="35421" cy="35421"/>
          </a:xfrm>
          <a:prstGeom prst="ellipse">
            <a:avLst/>
          </a:prstGeom>
          <a:solidFill>
            <a:srgbClr val="1F6FEB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49241" y="2110849"/>
            <a:ext cx="35421" cy="35421"/>
          </a:xfrm>
          <a:prstGeom prst="ellipse">
            <a:avLst/>
          </a:prstGeom>
          <a:solidFill>
            <a:srgbClr val="1F6FEB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14400" y="877531"/>
            <a:ext cx="73152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58A6FF"/>
              </a:gs>
              <a:gs pos="50000">
                <a:srgbClr val="3D8BFD"/>
              </a:gs>
              <a:gs pos="100000">
                <a:srgbClr val="1F6FEB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05635" y="647660"/>
            <a:ext cx="439341" cy="439341"/>
          </a:xfrm>
          <a:prstGeom prst="ellipse">
            <a:avLst/>
          </a:prstGeom>
          <a:noFill/>
          <a:ln w="9525">
            <a:solidFill>
              <a:srgbClr val="58A6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863" y="257770"/>
            <a:ext cx="905027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690" spc="-2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A Path Forward — </a:t>
            </a:r>
            <a:pPr algn="ctr" indent="0" marL="0">
              <a:lnSpc>
                <a:spcPts val="1690"/>
              </a:lnSpc>
              <a:buNone/>
            </a:pPr>
            <a:r>
              <a:rPr lang="en-US" sz="1690" b="1" spc="-20" kern="0" dirty="0">
                <a:solidFill>
                  <a:srgbClr val="58A6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Three-Phase Collaboration</a:t>
            </a:r>
            <a:endParaRPr lang="en-US" sz="1690" dirty="0"/>
          </a:p>
        </p:txBody>
      </p:sp>
      <p:sp>
        <p:nvSpPr>
          <p:cNvPr id="15" name="Text 13"/>
          <p:cNvSpPr/>
          <p:nvPr/>
        </p:nvSpPr>
        <p:spPr>
          <a:xfrm>
            <a:off x="1409105" y="676870"/>
            <a:ext cx="400050" cy="440055"/>
          </a:xfrm>
          <a:prstGeom prst="ellipse">
            <a:avLst/>
          </a:prstGeom>
          <a:gradFill rotWithShape="1">
            <a:gsLst>
              <a:gs pos="0">
                <a:srgbClr val="58A6FF"/>
              </a:gs>
              <a:gs pos="100000">
                <a:srgbClr val="3D8BFD"/>
              </a:gs>
            </a:gsLst>
            <a:lin ang="2700000" scaled="1"/>
          </a:gradFill>
          <a:ln/>
          <a:effectLst>
            <a:outerShdw sx="100000" sy="100000" kx="0" ky="0" algn="bl" rotWithShape="0" blurRad="143510" dist="50800" dir="16200000">
              <a:srgbClr val="58a6ff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1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42900" y="1177230"/>
            <a:ext cx="2532459" cy="1715244"/>
          </a:xfrm>
          <a:prstGeom prst="roundRect">
            <a:avLst>
              <a:gd name="adj" fmla="val 5035"/>
            </a:avLst>
          </a:prstGeom>
          <a:solidFill>
            <a:srgbClr val="1A233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2900" y="1177230"/>
            <a:ext cx="2532459" cy="19050"/>
          </a:xfrm>
          <a:custGeom>
            <a:avLst/>
            <a:gdLst/>
            <a:ahLst/>
            <a:cxnLst/>
            <a:rect l="l" t="t" r="r" b="b"/>
            <a:pathLst>
              <a:path w="2532459" h="19050">
                <a:moveTo>
                  <a:pt x="86360" y="0"/>
                </a:moveTo>
                <a:lnTo>
                  <a:pt x="66220" y="2381"/>
                </a:lnTo>
                <a:lnTo>
                  <a:pt x="58078" y="4763"/>
                </a:lnTo>
                <a:lnTo>
                  <a:pt x="51968" y="7144"/>
                </a:lnTo>
                <a:lnTo>
                  <a:pt x="46934" y="9525"/>
                </a:lnTo>
                <a:lnTo>
                  <a:pt x="42603" y="11906"/>
                </a:lnTo>
                <a:lnTo>
                  <a:pt x="38783" y="14288"/>
                </a:lnTo>
                <a:lnTo>
                  <a:pt x="35358" y="16669"/>
                </a:lnTo>
                <a:lnTo>
                  <a:pt x="32254" y="19050"/>
                </a:lnTo>
                <a:lnTo>
                  <a:pt x="2500205" y="19050"/>
                </a:lnTo>
                <a:lnTo>
                  <a:pt x="2497101" y="16669"/>
                </a:lnTo>
                <a:lnTo>
                  <a:pt x="2493677" y="14288"/>
                </a:lnTo>
                <a:lnTo>
                  <a:pt x="2489857" y="11906"/>
                </a:lnTo>
                <a:lnTo>
                  <a:pt x="2485526" y="9525"/>
                </a:lnTo>
                <a:lnTo>
                  <a:pt x="2480492" y="7144"/>
                </a:lnTo>
                <a:lnTo>
                  <a:pt x="2474382" y="4763"/>
                </a:lnTo>
                <a:lnTo>
                  <a:pt x="2466239" y="2381"/>
                </a:lnTo>
                <a:lnTo>
                  <a:pt x="2446099" y="0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6370" y="1324421"/>
            <a:ext cx="247007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0"/>
              </a:lnSpc>
              <a:buNone/>
            </a:pPr>
            <a:r>
              <a:rPr lang="en-US" sz="620" b="1" spc="8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486370" y="1423988"/>
            <a:ext cx="247007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0"/>
              </a:lnSpc>
              <a:buNone/>
            </a:pPr>
            <a:r>
              <a:rPr lang="en-US" sz="62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486370" y="1552873"/>
            <a:ext cx="2470071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Technical Deep Dive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586700" y="1770013"/>
            <a:ext cx="23597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engineers review TLA+ specs and 96 path map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86700" y="1918841"/>
            <a:ext cx="2188093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mapping of MFCS invariants to Copilot generation pipeline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86700" y="2187327"/>
            <a:ext cx="23597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highest-impact output categories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86370" y="2393305"/>
            <a:ext cx="2245519" cy="320129"/>
          </a:xfrm>
          <a:prstGeom prst="roundRect">
            <a:avLst>
              <a:gd name="adj" fmla="val 17852"/>
            </a:avLst>
          </a:prstGeom>
          <a:solidFill>
            <a:srgbClr val="58A6FF">
              <a:alpha val="6000"/>
            </a:srgbClr>
          </a:solidFill>
          <a:ln w="9525">
            <a:solidFill>
              <a:srgbClr val="58A6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077" y="2484471"/>
            <a:ext cx="132588" cy="13258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9676" y="2459980"/>
            <a:ext cx="2070780" cy="66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"/>
              </a:lnSpc>
              <a:buNone/>
            </a:pPr>
            <a:r>
              <a:rPr lang="en-US" sz="510" b="1" spc="6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510" dirty="0"/>
          </a:p>
        </p:txBody>
      </p:sp>
      <p:sp>
        <p:nvSpPr>
          <p:cNvPr id="27" name="Text 24"/>
          <p:cNvSpPr/>
          <p:nvPr/>
        </p:nvSpPr>
        <p:spPr>
          <a:xfrm>
            <a:off x="739676" y="2540496"/>
            <a:ext cx="2070780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7"/>
              </a:lnSpc>
              <a:buNone/>
            </a:pPr>
            <a:r>
              <a:rPr lang="en-US" sz="6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 report with integration architecture</a:t>
            </a:r>
            <a:endParaRPr lang="en-US" sz="620" dirty="0"/>
          </a:p>
        </p:txBody>
      </p:sp>
      <p:sp>
        <p:nvSpPr>
          <p:cNvPr id="28" name="Text 25"/>
          <p:cNvSpPr/>
          <p:nvPr/>
        </p:nvSpPr>
        <p:spPr>
          <a:xfrm>
            <a:off x="486370" y="2756595"/>
            <a:ext cx="734020" cy="21580"/>
          </a:xfrm>
          <a:prstGeom prst="roundRect">
            <a:avLst>
              <a:gd name="adj" fmla="val 64736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1241971" y="2756595"/>
            <a:ext cx="734169" cy="21580"/>
          </a:xfrm>
          <a:prstGeom prst="roundRect">
            <a:avLst>
              <a:gd name="adj" fmla="val 64736"/>
            </a:avLst>
          </a:prstGeom>
          <a:solidFill>
            <a:srgbClr val="58A6FF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997720" y="2756595"/>
            <a:ext cx="734169" cy="21580"/>
          </a:xfrm>
          <a:prstGeom prst="roundRect">
            <a:avLst>
              <a:gd name="adj" fmla="val 64736"/>
            </a:avLst>
          </a:prstGeom>
          <a:solidFill>
            <a:srgbClr val="58A6FF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>
            <a:alphaModFix amt="4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4196" y="875267"/>
            <a:ext cx="132588" cy="13258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371975" y="676870"/>
            <a:ext cx="400050" cy="440055"/>
          </a:xfrm>
          <a:prstGeom prst="ellipse">
            <a:avLst/>
          </a:prstGeom>
          <a:gradFill rotWithShape="1">
            <a:gsLst>
              <a:gs pos="0">
                <a:srgbClr val="1F6FEB"/>
              </a:gs>
              <a:gs pos="100000">
                <a:srgbClr val="0D4A9E"/>
              </a:gs>
            </a:gsLst>
            <a:lin ang="2700000" scaled="1"/>
          </a:gradFill>
          <a:ln/>
          <a:effectLst>
            <a:outerShdw sx="100000" sy="100000" kx="0" ky="0" algn="bl" rotWithShape="0" blurRad="143510" dist="50800" dir="16200000">
              <a:srgbClr val="1f6feb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2</a:t>
            </a:r>
            <a:endParaRPr lang="en-US" sz="1130" dirty="0"/>
          </a:p>
        </p:txBody>
      </p:sp>
      <p:sp>
        <p:nvSpPr>
          <p:cNvPr id="33" name="Text 29"/>
          <p:cNvSpPr/>
          <p:nvPr/>
        </p:nvSpPr>
        <p:spPr>
          <a:xfrm>
            <a:off x="3305770" y="1177230"/>
            <a:ext cx="2532459" cy="1595586"/>
          </a:xfrm>
          <a:prstGeom prst="roundRect">
            <a:avLst>
              <a:gd name="adj" fmla="val 5412"/>
            </a:avLst>
          </a:prstGeom>
          <a:solidFill>
            <a:srgbClr val="1A233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3305770" y="1177230"/>
            <a:ext cx="2532459" cy="19050"/>
          </a:xfrm>
          <a:custGeom>
            <a:avLst/>
            <a:gdLst/>
            <a:ahLst/>
            <a:cxnLst/>
            <a:rect l="l" t="t" r="r" b="b"/>
            <a:pathLst>
              <a:path w="2532459" h="19050">
                <a:moveTo>
                  <a:pt x="86360" y="0"/>
                </a:moveTo>
                <a:lnTo>
                  <a:pt x="66220" y="2381"/>
                </a:lnTo>
                <a:lnTo>
                  <a:pt x="58078" y="4763"/>
                </a:lnTo>
                <a:lnTo>
                  <a:pt x="51968" y="7144"/>
                </a:lnTo>
                <a:lnTo>
                  <a:pt x="46934" y="9525"/>
                </a:lnTo>
                <a:lnTo>
                  <a:pt x="42603" y="11906"/>
                </a:lnTo>
                <a:lnTo>
                  <a:pt x="38783" y="14288"/>
                </a:lnTo>
                <a:lnTo>
                  <a:pt x="35358" y="16669"/>
                </a:lnTo>
                <a:lnTo>
                  <a:pt x="32254" y="19050"/>
                </a:lnTo>
                <a:lnTo>
                  <a:pt x="2500205" y="19050"/>
                </a:lnTo>
                <a:lnTo>
                  <a:pt x="2497101" y="16669"/>
                </a:lnTo>
                <a:lnTo>
                  <a:pt x="2493677" y="14288"/>
                </a:lnTo>
                <a:lnTo>
                  <a:pt x="2489857" y="11906"/>
                </a:lnTo>
                <a:lnTo>
                  <a:pt x="2485526" y="9525"/>
                </a:lnTo>
                <a:lnTo>
                  <a:pt x="2480492" y="7144"/>
                </a:lnTo>
                <a:lnTo>
                  <a:pt x="2474382" y="4763"/>
                </a:lnTo>
                <a:lnTo>
                  <a:pt x="2466239" y="2381"/>
                </a:lnTo>
                <a:lnTo>
                  <a:pt x="2446099" y="0"/>
                </a:lnTo>
                <a:close/>
              </a:path>
            </a:pathLst>
          </a:custGeom>
          <a:solidFill>
            <a:srgbClr val="1F6FEB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3449241" y="1324421"/>
            <a:ext cx="247007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0"/>
              </a:lnSpc>
              <a:buNone/>
            </a:pPr>
            <a:r>
              <a:rPr lang="en-US" sz="620" b="1" spc="8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620" dirty="0"/>
          </a:p>
        </p:txBody>
      </p:sp>
      <p:sp>
        <p:nvSpPr>
          <p:cNvPr id="36" name="Text 32"/>
          <p:cNvSpPr/>
          <p:nvPr/>
        </p:nvSpPr>
        <p:spPr>
          <a:xfrm>
            <a:off x="3449241" y="1423988"/>
            <a:ext cx="247007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0"/>
              </a:lnSpc>
              <a:buNone/>
            </a:pPr>
            <a:r>
              <a:rPr lang="en-US" sz="62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4–8</a:t>
            </a:r>
            <a:endParaRPr lang="en-US" sz="620" dirty="0"/>
          </a:p>
        </p:txBody>
      </p:sp>
      <p:sp>
        <p:nvSpPr>
          <p:cNvPr id="37" name="Text 33"/>
          <p:cNvSpPr/>
          <p:nvPr/>
        </p:nvSpPr>
        <p:spPr>
          <a:xfrm>
            <a:off x="3449241" y="1552873"/>
            <a:ext cx="2470071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Integration Pilot</a:t>
            </a:r>
            <a:endParaRPr lang="en-US" sz="960" dirty="0"/>
          </a:p>
        </p:txBody>
      </p:sp>
      <p:sp>
        <p:nvSpPr>
          <p:cNvPr id="38" name="Text 34"/>
          <p:cNvSpPr/>
          <p:nvPr/>
        </p:nvSpPr>
        <p:spPr>
          <a:xfrm>
            <a:off x="3549570" y="1770013"/>
            <a:ext cx="23597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MFCS verification layer as Copilot plugin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3549570" y="1918841"/>
            <a:ext cx="23597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96 path map as regression suite</a:t>
            </a:r>
            <a:endParaRPr lang="en-US" sz="650" dirty="0"/>
          </a:p>
        </p:txBody>
      </p:sp>
      <p:sp>
        <p:nvSpPr>
          <p:cNvPr id="40" name="Text 36"/>
          <p:cNvSpPr/>
          <p:nvPr/>
        </p:nvSpPr>
        <p:spPr>
          <a:xfrm>
            <a:off x="3549570" y="2067669"/>
            <a:ext cx="23597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dashboard for verification pass/fail rates</a:t>
            </a:r>
            <a:endParaRPr lang="en-US" sz="650" dirty="0"/>
          </a:p>
        </p:txBody>
      </p:sp>
      <p:sp>
        <p:nvSpPr>
          <p:cNvPr id="41" name="Text 37"/>
          <p:cNvSpPr/>
          <p:nvPr/>
        </p:nvSpPr>
        <p:spPr>
          <a:xfrm>
            <a:off x="3449241" y="2273647"/>
            <a:ext cx="2245519" cy="320129"/>
          </a:xfrm>
          <a:prstGeom prst="roundRect">
            <a:avLst>
              <a:gd name="adj" fmla="val 17852"/>
            </a:avLst>
          </a:prstGeom>
          <a:solidFill>
            <a:srgbClr val="58A6FF">
              <a:alpha val="6000"/>
            </a:srgbClr>
          </a:solidFill>
          <a:ln w="9525">
            <a:solidFill>
              <a:srgbClr val="58A6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28947" y="2364813"/>
            <a:ext cx="132588" cy="13258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3702546" y="2340322"/>
            <a:ext cx="1180192" cy="66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"/>
              </a:lnSpc>
              <a:buNone/>
            </a:pPr>
            <a:r>
              <a:rPr lang="en-US" sz="510" b="1" spc="6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510" dirty="0"/>
          </a:p>
        </p:txBody>
      </p:sp>
      <p:sp>
        <p:nvSpPr>
          <p:cNvPr id="44" name="Text 39"/>
          <p:cNvSpPr/>
          <p:nvPr/>
        </p:nvSpPr>
        <p:spPr>
          <a:xfrm>
            <a:off x="3702546" y="2420838"/>
            <a:ext cx="1180192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7"/>
              </a:lnSpc>
              <a:buNone/>
            </a:pPr>
            <a:r>
              <a:rPr lang="en-US" sz="6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with metrics</a:t>
            </a:r>
            <a:endParaRPr lang="en-US" sz="620" dirty="0"/>
          </a:p>
        </p:txBody>
      </p:sp>
      <p:sp>
        <p:nvSpPr>
          <p:cNvPr id="45" name="Text 40"/>
          <p:cNvSpPr/>
          <p:nvPr/>
        </p:nvSpPr>
        <p:spPr>
          <a:xfrm>
            <a:off x="3449241" y="2636937"/>
            <a:ext cx="734020" cy="21580"/>
          </a:xfrm>
          <a:prstGeom prst="roundRect">
            <a:avLst>
              <a:gd name="adj" fmla="val 64736"/>
            </a:avLst>
          </a:prstGeom>
          <a:solidFill>
            <a:srgbClr val="1F6FEB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4204841" y="2636937"/>
            <a:ext cx="734169" cy="21580"/>
          </a:xfrm>
          <a:prstGeom prst="roundRect">
            <a:avLst>
              <a:gd name="adj" fmla="val 64736"/>
            </a:avLst>
          </a:prstGeom>
          <a:solidFill>
            <a:srgbClr val="1F6FEB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4960590" y="2636937"/>
            <a:ext cx="734169" cy="21580"/>
          </a:xfrm>
          <a:prstGeom prst="roundRect">
            <a:avLst>
              <a:gd name="adj" fmla="val 64736"/>
            </a:avLst>
          </a:prstGeom>
          <a:solidFill>
            <a:srgbClr val="1F6FEB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7">
            <a:alphaModFix amt="4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87067" y="875267"/>
            <a:ext cx="132588" cy="132588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7499003" y="795933"/>
            <a:ext cx="7890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3</a:t>
            </a:r>
            <a:endParaRPr lang="en-US" sz="1130" dirty="0"/>
          </a:p>
        </p:txBody>
      </p:sp>
      <p:sp>
        <p:nvSpPr>
          <p:cNvPr id="50" name="Text 44"/>
          <p:cNvSpPr/>
          <p:nvPr/>
        </p:nvSpPr>
        <p:spPr>
          <a:xfrm>
            <a:off x="6268641" y="1177230"/>
            <a:ext cx="2532459" cy="1744414"/>
          </a:xfrm>
          <a:prstGeom prst="roundRect">
            <a:avLst>
              <a:gd name="adj" fmla="val 4951"/>
            </a:avLst>
          </a:prstGeom>
          <a:solidFill>
            <a:srgbClr val="1A233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6268641" y="1177230"/>
            <a:ext cx="2532459" cy="19050"/>
          </a:xfrm>
          <a:custGeom>
            <a:avLst/>
            <a:gdLst/>
            <a:ahLst/>
            <a:cxnLst/>
            <a:rect l="l" t="t" r="r" b="b"/>
            <a:pathLst>
              <a:path w="2532459" h="19050">
                <a:moveTo>
                  <a:pt x="86360" y="0"/>
                </a:moveTo>
                <a:lnTo>
                  <a:pt x="66220" y="2381"/>
                </a:lnTo>
                <a:lnTo>
                  <a:pt x="58078" y="4763"/>
                </a:lnTo>
                <a:lnTo>
                  <a:pt x="51968" y="7144"/>
                </a:lnTo>
                <a:lnTo>
                  <a:pt x="46934" y="9525"/>
                </a:lnTo>
                <a:lnTo>
                  <a:pt x="42603" y="11906"/>
                </a:lnTo>
                <a:lnTo>
                  <a:pt x="38783" y="14288"/>
                </a:lnTo>
                <a:lnTo>
                  <a:pt x="35358" y="16669"/>
                </a:lnTo>
                <a:lnTo>
                  <a:pt x="32254" y="19050"/>
                </a:lnTo>
                <a:lnTo>
                  <a:pt x="2500205" y="19050"/>
                </a:lnTo>
                <a:lnTo>
                  <a:pt x="2497101" y="16669"/>
                </a:lnTo>
                <a:lnTo>
                  <a:pt x="2493677" y="14288"/>
                </a:lnTo>
                <a:lnTo>
                  <a:pt x="2489857" y="11906"/>
                </a:lnTo>
                <a:lnTo>
                  <a:pt x="2485526" y="9525"/>
                </a:lnTo>
                <a:lnTo>
                  <a:pt x="2480492" y="7144"/>
                </a:lnTo>
                <a:lnTo>
                  <a:pt x="2474382" y="4763"/>
                </a:lnTo>
                <a:lnTo>
                  <a:pt x="2466239" y="2381"/>
                </a:lnTo>
                <a:lnTo>
                  <a:pt x="2446099" y="0"/>
                </a:lnTo>
                <a:close/>
              </a:path>
            </a:pathLst>
          </a:custGeom>
          <a:solidFill>
            <a:srgbClr val="E6EDF3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6412111" y="1324421"/>
            <a:ext cx="247007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0"/>
              </a:lnSpc>
              <a:buNone/>
            </a:pPr>
            <a:r>
              <a:rPr lang="en-US" sz="620" b="1" spc="8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620" dirty="0"/>
          </a:p>
        </p:txBody>
      </p:sp>
      <p:sp>
        <p:nvSpPr>
          <p:cNvPr id="53" name="Text 47"/>
          <p:cNvSpPr/>
          <p:nvPr/>
        </p:nvSpPr>
        <p:spPr>
          <a:xfrm>
            <a:off x="6412111" y="1423988"/>
            <a:ext cx="247007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0"/>
              </a:lnSpc>
              <a:buNone/>
            </a:pPr>
            <a:r>
              <a:rPr lang="en-US" sz="62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9–18</a:t>
            </a:r>
            <a:endParaRPr lang="en-US" sz="620" dirty="0"/>
          </a:p>
        </p:txBody>
      </p:sp>
      <p:sp>
        <p:nvSpPr>
          <p:cNvPr id="54" name="Text 48"/>
          <p:cNvSpPr/>
          <p:nvPr/>
        </p:nvSpPr>
        <p:spPr>
          <a:xfrm>
            <a:off x="6412111" y="1552873"/>
            <a:ext cx="2470071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Platform Adoption</a:t>
            </a:r>
            <a:endParaRPr lang="en-US" sz="960" dirty="0"/>
          </a:p>
        </p:txBody>
      </p:sp>
      <p:sp>
        <p:nvSpPr>
          <p:cNvPr id="55" name="Text 49"/>
          <p:cNvSpPr/>
          <p:nvPr/>
        </p:nvSpPr>
        <p:spPr>
          <a:xfrm>
            <a:off x="6512441" y="1770013"/>
            <a:ext cx="23597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MFCS in Copilot SDK</a:t>
            </a:r>
            <a:endParaRPr lang="en-US" sz="650" dirty="0"/>
          </a:p>
        </p:txBody>
      </p:sp>
      <p:sp>
        <p:nvSpPr>
          <p:cNvPr id="56" name="Text 50"/>
          <p:cNvSpPr/>
          <p:nvPr/>
        </p:nvSpPr>
        <p:spPr>
          <a:xfrm>
            <a:off x="6512441" y="1918841"/>
            <a:ext cx="23597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open TLA+ specifications</a:t>
            </a:r>
            <a:endParaRPr lang="en-US" sz="650" dirty="0"/>
          </a:p>
        </p:txBody>
      </p:sp>
      <p:sp>
        <p:nvSpPr>
          <p:cNvPr id="57" name="Text 51"/>
          <p:cNvSpPr/>
          <p:nvPr/>
        </p:nvSpPr>
        <p:spPr>
          <a:xfrm>
            <a:off x="6512441" y="2067669"/>
            <a:ext cx="23597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Mirror as first-class export format</a:t>
            </a:r>
            <a:endParaRPr lang="en-US" sz="650" dirty="0"/>
          </a:p>
        </p:txBody>
      </p:sp>
      <p:sp>
        <p:nvSpPr>
          <p:cNvPr id="58" name="Text 52"/>
          <p:cNvSpPr/>
          <p:nvPr/>
        </p:nvSpPr>
        <p:spPr>
          <a:xfrm>
            <a:off x="6512441" y="2216497"/>
            <a:ext cx="23597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guardians to new modalities</a:t>
            </a:r>
            <a:endParaRPr lang="en-US" sz="650" dirty="0"/>
          </a:p>
        </p:txBody>
      </p:sp>
      <p:sp>
        <p:nvSpPr>
          <p:cNvPr id="59" name="Text 53"/>
          <p:cNvSpPr/>
          <p:nvPr/>
        </p:nvSpPr>
        <p:spPr>
          <a:xfrm>
            <a:off x="6412111" y="2422475"/>
            <a:ext cx="2245519" cy="320129"/>
          </a:xfrm>
          <a:prstGeom prst="roundRect">
            <a:avLst>
              <a:gd name="adj" fmla="val 17852"/>
            </a:avLst>
          </a:prstGeom>
          <a:solidFill>
            <a:srgbClr val="58A6FF">
              <a:alpha val="6000"/>
            </a:srgbClr>
          </a:solidFill>
          <a:ln w="9525">
            <a:solidFill>
              <a:srgbClr val="58A6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91817" y="2513642"/>
            <a:ext cx="132588" cy="132588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6665416" y="2489150"/>
            <a:ext cx="1549688" cy="66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"/>
              </a:lnSpc>
              <a:buNone/>
            </a:pPr>
            <a:r>
              <a:rPr lang="en-US" sz="510" b="1" spc="6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510" dirty="0"/>
          </a:p>
        </p:txBody>
      </p:sp>
      <p:sp>
        <p:nvSpPr>
          <p:cNvPr id="62" name="Text 55"/>
          <p:cNvSpPr/>
          <p:nvPr/>
        </p:nvSpPr>
        <p:spPr>
          <a:xfrm>
            <a:off x="6665416" y="2569666"/>
            <a:ext cx="1549688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7"/>
              </a:lnSpc>
              <a:buNone/>
            </a:pPr>
            <a:r>
              <a:rPr lang="en-US" sz="6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SDK + Responsible AI case study</a:t>
            </a:r>
            <a:endParaRPr lang="en-US" sz="620" dirty="0"/>
          </a:p>
        </p:txBody>
      </p:sp>
      <p:sp>
        <p:nvSpPr>
          <p:cNvPr id="63" name="Text 56"/>
          <p:cNvSpPr/>
          <p:nvPr/>
        </p:nvSpPr>
        <p:spPr>
          <a:xfrm>
            <a:off x="342900" y="4555629"/>
            <a:ext cx="8458200" cy="387251"/>
          </a:xfrm>
          <a:prstGeom prst="roundRect">
            <a:avLst>
              <a:gd name="adj" fmla="val 18365"/>
            </a:avLst>
          </a:prstGeom>
          <a:gradFill rotWithShape="1">
            <a:gsLst>
              <a:gs pos="0">
                <a:srgbClr val="58A6FF">
                  <a:alpha val="8000"/>
                </a:srgbClr>
              </a:gs>
              <a:gs pos="100000">
                <a:srgbClr val="1F6FEB">
                  <a:alpha val="8000"/>
                </a:srgbClr>
              </a:gs>
            </a:gsLst>
            <a:lin ang="2700000" scaled="1"/>
          </a:gra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875" y="4651474"/>
            <a:ext cx="157460" cy="157460"/>
          </a:xfrm>
          <a:prstGeom prst="rect">
            <a:avLst/>
          </a:prstGeom>
        </p:spPr>
      </p:pic>
      <p:sp>
        <p:nvSpPr>
          <p:cNvPr id="65" name="Text 57"/>
          <p:cNvSpPr/>
          <p:nvPr/>
        </p:nvSpPr>
        <p:spPr>
          <a:xfrm>
            <a:off x="3000504" y="4680347"/>
            <a:ext cx="700275" cy="137815"/>
          </a:xfrm>
          <a:prstGeom prst="roundRect">
            <a:avLst>
              <a:gd name="adj" fmla="val 21195"/>
            </a:avLst>
          </a:prstGeom>
          <a:solidFill>
            <a:srgbClr val="58A6FF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Everest</a:t>
            </a:r>
            <a:endParaRPr lang="en-US" sz="620" dirty="0"/>
          </a:p>
        </p:txBody>
      </p:sp>
      <p:sp>
        <p:nvSpPr>
          <p:cNvPr id="66" name="Text 58"/>
          <p:cNvSpPr/>
          <p:nvPr/>
        </p:nvSpPr>
        <p:spPr>
          <a:xfrm>
            <a:off x="3724549" y="4680347"/>
            <a:ext cx="806994" cy="137815"/>
          </a:xfrm>
          <a:prstGeom prst="roundRect">
            <a:avLst>
              <a:gd name="adj" fmla="val 21195"/>
            </a:avLst>
          </a:prstGeom>
          <a:solidFill>
            <a:srgbClr val="58A6FF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Framework</a:t>
            </a:r>
            <a:endParaRPr lang="en-US" sz="620" dirty="0"/>
          </a:p>
        </p:txBody>
      </p:sp>
      <p:sp>
        <p:nvSpPr>
          <p:cNvPr id="67" name="Text 59"/>
          <p:cNvSpPr/>
          <p:nvPr/>
        </p:nvSpPr>
        <p:spPr>
          <a:xfrm>
            <a:off x="4557715" y="4680347"/>
            <a:ext cx="455110" cy="137815"/>
          </a:xfrm>
          <a:prstGeom prst="roundRect">
            <a:avLst>
              <a:gd name="adj" fmla="val 21195"/>
            </a:avLst>
          </a:prstGeom>
          <a:solidFill>
            <a:srgbClr val="58A6FF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IronFleet</a:t>
            </a:r>
            <a:endParaRPr lang="en-US" sz="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0" y="0"/>
            <a:ext cx="1143000" cy="13841"/>
          </a:xfrm>
          <a:prstGeom prst="rect">
            <a:avLst/>
          </a:prstGeom>
          <a:solidFill>
            <a:srgbClr val="58A6FF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0" y="5129659"/>
            <a:ext cx="1143000" cy="13841"/>
          </a:xfrm>
          <a:prstGeom prst="rect">
            <a:avLst/>
          </a:prstGeom>
          <a:solidFill>
            <a:srgbClr val="58A6FF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38171" y="1530826"/>
            <a:ext cx="448270" cy="448270"/>
          </a:xfrm>
          <a:prstGeom prst="ellipse">
            <a:avLst/>
          </a:prstGeom>
          <a:noFill/>
          <a:ln w="9525">
            <a:solidFill>
              <a:srgbClr val="58A6FF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8600" y="4714280"/>
            <a:ext cx="9525" cy="200620"/>
          </a:xfrm>
          <a:prstGeom prst="rect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05875" y="4714280"/>
            <a:ext cx="9525" cy="200620"/>
          </a:xfrm>
          <a:prstGeom prst="rect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71826" y="1564481"/>
            <a:ext cx="400050" cy="400050"/>
          </a:xfrm>
          <a:prstGeom prst="ellipse">
            <a:avLst/>
          </a:prstGeom>
          <a:noFill/>
          <a:ln w="9525">
            <a:solidFill>
              <a:srgbClr val="58A6FF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3121" y="1685776"/>
            <a:ext cx="157460" cy="1574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96850" y="2222302"/>
            <a:ext cx="4750152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60"/>
              </a:lnSpc>
              <a:buNone/>
            </a:pPr>
            <a:r>
              <a:rPr lang="en-US" sz="2360" spc="140" kern="0" dirty="0">
                <a:solidFill>
                  <a:srgbClr val="E6EDF3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MOHAMMAD SAAD YOUNUS</a:t>
            </a:r>
            <a:endParaRPr lang="en-US" sz="2360" dirty="0"/>
          </a:p>
        </p:txBody>
      </p:sp>
      <p:sp>
        <p:nvSpPr>
          <p:cNvPr id="12" name="Text 9"/>
          <p:cNvSpPr/>
          <p:nvPr/>
        </p:nvSpPr>
        <p:spPr>
          <a:xfrm>
            <a:off x="4400401" y="2665512"/>
            <a:ext cx="342900" cy="7590"/>
          </a:xfrm>
          <a:prstGeom prst="rect">
            <a:avLst/>
          </a:prstGeom>
          <a:solidFill>
            <a:srgbClr val="58A6FF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949959" y="2830562"/>
            <a:ext cx="3243932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SYSTEMS ARCHITECT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3151331" y="3070473"/>
            <a:ext cx="2841040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5"/>
              </a:lnSpc>
              <a:buNone/>
            </a:pPr>
            <a:r>
              <a:rPr lang="en-US" sz="870" i="1" spc="60" kern="0" dirty="0">
                <a:solidFill>
                  <a:srgbClr val="58A6FF">
                    <a:alpha val="70000"/>
                  </a:srgbClr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Author of MFCS and the Digital Mirror Paradigm</a:t>
            </a:r>
            <a:endParaRPr lang="en-US" sz="870" dirty="0"/>
          </a:p>
        </p:txBody>
      </p:sp>
      <p:sp>
        <p:nvSpPr>
          <p:cNvPr id="15" name="Text 12"/>
          <p:cNvSpPr/>
          <p:nvPr/>
        </p:nvSpPr>
        <p:spPr>
          <a:xfrm>
            <a:off x="3695990" y="3464719"/>
            <a:ext cx="175187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820" spc="110" kern="0" dirty="0">
                <a:solidFill>
                  <a:srgbClr val="8B949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mosaadyounus@gmail.com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2636691" y="4747320"/>
            <a:ext cx="3870618" cy="96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760" i="1" spc="70" kern="0" dirty="0">
                <a:solidFill>
                  <a:srgbClr val="8B949E">
                    <a:alpha val="60000"/>
                  </a:srgbClr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Every claim is checkable.  Every path is verified.  Every artifact breathes.</a:t>
            </a:r>
            <a:endParaRPr lang="en-US" sz="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docgen</cp:lastModifiedBy>
  <cp:revision>1</cp:revision>
  <dcterms:created xsi:type="dcterms:W3CDTF">2026-04-18T22:54:07Z</dcterms:created>
  <dcterms:modified xsi:type="dcterms:W3CDTF">2026-04-18T22:54:07Z</dcterms:modified>
</cp:coreProperties>
</file>